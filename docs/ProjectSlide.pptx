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Noto Sans Bold" charset="1" panose="020B0802040504020204"/>
      <p:regular r:id="rId24"/>
    </p:embeddedFont>
    <p:embeddedFont>
      <p:font typeface="Faustina" charset="1" panose="00000500000000000000"/>
      <p:regular r:id="rId25"/>
    </p:embeddedFont>
    <p:embeddedFont>
      <p:font typeface="Noto Sans" charset="1" panose="020B0502040504020204"/>
      <p:regular r:id="rId26"/>
    </p:embeddedFont>
    <p:embeddedFont>
      <p:font typeface="Faustina Bold" charset="1" panose="00000800000000000000"/>
      <p:regular r:id="rId27"/>
    </p:embeddedFont>
    <p:embeddedFont>
      <p:font typeface="Dancing Script" charset="1" panose="03080600040507000D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8761193">
            <a:off x="14415098" y="-3066592"/>
            <a:ext cx="5404915" cy="54049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6" id="6"/>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224378" y="3367476"/>
            <a:ext cx="16375299" cy="4685748"/>
          </a:xfrm>
          <a:prstGeom prst="rect">
            <a:avLst/>
          </a:prstGeom>
        </p:spPr>
        <p:txBody>
          <a:bodyPr anchor="t" rtlCol="false" tIns="0" lIns="0" bIns="0" rIns="0">
            <a:spAutoFit/>
          </a:bodyPr>
          <a:lstStyle/>
          <a:p>
            <a:pPr algn="ctr">
              <a:lnSpc>
                <a:spcPts val="12066"/>
              </a:lnSpc>
            </a:pPr>
            <a:r>
              <a:rPr lang="en-US" b="true" sz="12568" spc="-641">
                <a:solidFill>
                  <a:srgbClr val="FFFFFF"/>
                </a:solidFill>
                <a:latin typeface="Noto Sans Bold"/>
                <a:ea typeface="Noto Sans Bold"/>
                <a:cs typeface="Noto Sans Bold"/>
                <a:sym typeface="Noto Sans Bold"/>
              </a:rPr>
              <a:t>Logistic Regression from Scratch</a:t>
            </a:r>
          </a:p>
          <a:p>
            <a:pPr algn="ctr">
              <a:lnSpc>
                <a:spcPts val="12066"/>
              </a:lnSpc>
            </a:pPr>
          </a:p>
        </p:txBody>
      </p:sp>
      <p:sp>
        <p:nvSpPr>
          <p:cNvPr name="Freeform 8" id="8"/>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8761193">
            <a:off x="-1594386" y="6969063"/>
            <a:ext cx="5404915" cy="540491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3191326" y="4206128"/>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3110499" y="562220"/>
            <a:ext cx="10702939" cy="2233904"/>
          </a:xfrm>
          <a:prstGeom prst="rect">
            <a:avLst/>
          </a:prstGeom>
        </p:spPr>
        <p:txBody>
          <a:bodyPr anchor="t" rtlCol="false" tIns="0" lIns="0" bIns="0" rIns="0">
            <a:spAutoFit/>
          </a:bodyPr>
          <a:lstStyle/>
          <a:p>
            <a:pPr algn="l" marL="0" indent="0" lvl="0">
              <a:lnSpc>
                <a:spcPts val="8590"/>
              </a:lnSpc>
              <a:spcBef>
                <a:spcPct val="0"/>
              </a:spcBef>
            </a:pPr>
            <a:r>
              <a:rPr lang="en-US" b="true" sz="8948" spc="-456">
                <a:solidFill>
                  <a:srgbClr val="FFFFFF"/>
                </a:solidFill>
                <a:latin typeface="Noto Sans Bold"/>
                <a:ea typeface="Noto Sans Bold"/>
                <a:cs typeface="Noto Sans Bold"/>
                <a:sym typeface="Noto Sans Bold"/>
              </a:rPr>
              <a:t>Members</a:t>
            </a:r>
          </a:p>
          <a:p>
            <a:pPr algn="l" marL="0" indent="0" lvl="0">
              <a:lnSpc>
                <a:spcPts val="8590"/>
              </a:lnSpc>
              <a:spcBef>
                <a:spcPct val="0"/>
              </a:spcBef>
            </a:pPr>
          </a:p>
        </p:txBody>
      </p:sp>
      <p:grpSp>
        <p:nvGrpSpPr>
          <p:cNvPr name="Group 12" id="12"/>
          <p:cNvGrpSpPr/>
          <p:nvPr/>
        </p:nvGrpSpPr>
        <p:grpSpPr>
          <a:xfrm rot="0">
            <a:off x="1028700" y="1921730"/>
            <a:ext cx="10706906" cy="1481894"/>
            <a:chOff x="0" y="0"/>
            <a:chExt cx="2819926" cy="390293"/>
          </a:xfrm>
        </p:grpSpPr>
        <p:sp>
          <p:nvSpPr>
            <p:cNvPr name="Freeform 13" id="13"/>
            <p:cNvSpPr/>
            <p:nvPr/>
          </p:nvSpPr>
          <p:spPr>
            <a:xfrm flipH="false" flipV="false" rot="0">
              <a:off x="0" y="0"/>
              <a:ext cx="2819926" cy="390293"/>
            </a:xfrm>
            <a:custGeom>
              <a:avLst/>
              <a:gdLst/>
              <a:ahLst/>
              <a:cxnLst/>
              <a:rect r="r" b="b" t="t" l="l"/>
              <a:pathLst>
                <a:path h="390293" w="2819926">
                  <a:moveTo>
                    <a:pt x="36877" y="0"/>
                  </a:moveTo>
                  <a:lnTo>
                    <a:pt x="2783049" y="0"/>
                  </a:lnTo>
                  <a:cubicBezTo>
                    <a:pt x="2803416" y="0"/>
                    <a:pt x="2819926" y="16510"/>
                    <a:pt x="2819926" y="36877"/>
                  </a:cubicBezTo>
                  <a:lnTo>
                    <a:pt x="2819926" y="353416"/>
                  </a:lnTo>
                  <a:cubicBezTo>
                    <a:pt x="2819926" y="363197"/>
                    <a:pt x="2816041" y="372576"/>
                    <a:pt x="2809125" y="379492"/>
                  </a:cubicBezTo>
                  <a:cubicBezTo>
                    <a:pt x="2802209" y="386408"/>
                    <a:pt x="2792829" y="390293"/>
                    <a:pt x="2783049" y="390293"/>
                  </a:cubicBezTo>
                  <a:lnTo>
                    <a:pt x="36877" y="390293"/>
                  </a:lnTo>
                  <a:cubicBezTo>
                    <a:pt x="16510" y="390293"/>
                    <a:pt x="0" y="373783"/>
                    <a:pt x="0" y="353416"/>
                  </a:cubicBezTo>
                  <a:lnTo>
                    <a:pt x="0" y="36877"/>
                  </a:lnTo>
                  <a:cubicBezTo>
                    <a:pt x="0" y="27097"/>
                    <a:pt x="3885" y="17717"/>
                    <a:pt x="10801" y="10801"/>
                  </a:cubicBezTo>
                  <a:cubicBezTo>
                    <a:pt x="17717" y="3885"/>
                    <a:pt x="27097" y="0"/>
                    <a:pt x="36877" y="0"/>
                  </a:cubicBezTo>
                  <a:close/>
                </a:path>
              </a:pathLst>
            </a:custGeom>
            <a:solidFill>
              <a:srgbClr val="FFFFFF"/>
            </a:solidFill>
          </p:spPr>
        </p:sp>
        <p:sp>
          <p:nvSpPr>
            <p:cNvPr name="TextBox 14" id="14"/>
            <p:cNvSpPr txBox="true"/>
            <p:nvPr/>
          </p:nvSpPr>
          <p:spPr>
            <a:xfrm>
              <a:off x="0" y="-38100"/>
              <a:ext cx="2819926" cy="428393"/>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975615" y="3527449"/>
            <a:ext cx="10706906" cy="1414400"/>
            <a:chOff x="0" y="0"/>
            <a:chExt cx="2819926" cy="372517"/>
          </a:xfrm>
        </p:grpSpPr>
        <p:sp>
          <p:nvSpPr>
            <p:cNvPr name="Freeform 16" id="16"/>
            <p:cNvSpPr/>
            <p:nvPr/>
          </p:nvSpPr>
          <p:spPr>
            <a:xfrm flipH="false" flipV="false" rot="0">
              <a:off x="0" y="0"/>
              <a:ext cx="2819926" cy="372517"/>
            </a:xfrm>
            <a:custGeom>
              <a:avLst/>
              <a:gdLst/>
              <a:ahLst/>
              <a:cxnLst/>
              <a:rect r="r" b="b" t="t" l="l"/>
              <a:pathLst>
                <a:path h="372517" w="2819926">
                  <a:moveTo>
                    <a:pt x="36877" y="0"/>
                  </a:moveTo>
                  <a:lnTo>
                    <a:pt x="2783049" y="0"/>
                  </a:lnTo>
                  <a:cubicBezTo>
                    <a:pt x="2803416" y="0"/>
                    <a:pt x="2819926" y="16510"/>
                    <a:pt x="2819926" y="36877"/>
                  </a:cubicBezTo>
                  <a:lnTo>
                    <a:pt x="2819926" y="335640"/>
                  </a:lnTo>
                  <a:cubicBezTo>
                    <a:pt x="2819926" y="345420"/>
                    <a:pt x="2816041" y="354800"/>
                    <a:pt x="2809125" y="361716"/>
                  </a:cubicBezTo>
                  <a:cubicBezTo>
                    <a:pt x="2802209" y="368632"/>
                    <a:pt x="2792829" y="372517"/>
                    <a:pt x="2783049" y="372517"/>
                  </a:cubicBezTo>
                  <a:lnTo>
                    <a:pt x="36877" y="372517"/>
                  </a:lnTo>
                  <a:cubicBezTo>
                    <a:pt x="27097" y="372517"/>
                    <a:pt x="17717" y="368632"/>
                    <a:pt x="10801" y="361716"/>
                  </a:cubicBezTo>
                  <a:cubicBezTo>
                    <a:pt x="3885" y="354800"/>
                    <a:pt x="0" y="345420"/>
                    <a:pt x="0" y="335640"/>
                  </a:cubicBezTo>
                  <a:lnTo>
                    <a:pt x="0" y="36877"/>
                  </a:lnTo>
                  <a:cubicBezTo>
                    <a:pt x="0" y="27097"/>
                    <a:pt x="3885" y="17717"/>
                    <a:pt x="10801" y="10801"/>
                  </a:cubicBezTo>
                  <a:cubicBezTo>
                    <a:pt x="17717" y="3885"/>
                    <a:pt x="27097" y="0"/>
                    <a:pt x="36877" y="0"/>
                  </a:cubicBezTo>
                  <a:close/>
                </a:path>
              </a:pathLst>
            </a:custGeom>
            <a:solidFill>
              <a:srgbClr val="FFFFFF"/>
            </a:solidFill>
          </p:spPr>
        </p:sp>
        <p:sp>
          <p:nvSpPr>
            <p:cNvPr name="TextBox 17" id="17"/>
            <p:cNvSpPr txBox="true"/>
            <p:nvPr/>
          </p:nvSpPr>
          <p:spPr>
            <a:xfrm>
              <a:off x="0" y="-38100"/>
              <a:ext cx="2819926" cy="410617"/>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3106532" y="5065674"/>
            <a:ext cx="10706906" cy="1414400"/>
            <a:chOff x="0" y="0"/>
            <a:chExt cx="2819926" cy="372517"/>
          </a:xfrm>
        </p:grpSpPr>
        <p:sp>
          <p:nvSpPr>
            <p:cNvPr name="Freeform 19" id="19"/>
            <p:cNvSpPr/>
            <p:nvPr/>
          </p:nvSpPr>
          <p:spPr>
            <a:xfrm flipH="false" flipV="false" rot="0">
              <a:off x="0" y="0"/>
              <a:ext cx="2819926" cy="372517"/>
            </a:xfrm>
            <a:custGeom>
              <a:avLst/>
              <a:gdLst/>
              <a:ahLst/>
              <a:cxnLst/>
              <a:rect r="r" b="b" t="t" l="l"/>
              <a:pathLst>
                <a:path h="372517" w="2819926">
                  <a:moveTo>
                    <a:pt x="36877" y="0"/>
                  </a:moveTo>
                  <a:lnTo>
                    <a:pt x="2783049" y="0"/>
                  </a:lnTo>
                  <a:cubicBezTo>
                    <a:pt x="2803416" y="0"/>
                    <a:pt x="2819926" y="16510"/>
                    <a:pt x="2819926" y="36877"/>
                  </a:cubicBezTo>
                  <a:lnTo>
                    <a:pt x="2819926" y="335640"/>
                  </a:lnTo>
                  <a:cubicBezTo>
                    <a:pt x="2819926" y="345420"/>
                    <a:pt x="2816041" y="354800"/>
                    <a:pt x="2809125" y="361716"/>
                  </a:cubicBezTo>
                  <a:cubicBezTo>
                    <a:pt x="2802209" y="368632"/>
                    <a:pt x="2792829" y="372517"/>
                    <a:pt x="2783049" y="372517"/>
                  </a:cubicBezTo>
                  <a:lnTo>
                    <a:pt x="36877" y="372517"/>
                  </a:lnTo>
                  <a:cubicBezTo>
                    <a:pt x="27097" y="372517"/>
                    <a:pt x="17717" y="368632"/>
                    <a:pt x="10801" y="361716"/>
                  </a:cubicBezTo>
                  <a:cubicBezTo>
                    <a:pt x="3885" y="354800"/>
                    <a:pt x="0" y="345420"/>
                    <a:pt x="0" y="335640"/>
                  </a:cubicBezTo>
                  <a:lnTo>
                    <a:pt x="0" y="36877"/>
                  </a:lnTo>
                  <a:cubicBezTo>
                    <a:pt x="0" y="27097"/>
                    <a:pt x="3885" y="17717"/>
                    <a:pt x="10801" y="10801"/>
                  </a:cubicBezTo>
                  <a:cubicBezTo>
                    <a:pt x="17717" y="3885"/>
                    <a:pt x="27097" y="0"/>
                    <a:pt x="36877" y="0"/>
                  </a:cubicBezTo>
                  <a:close/>
                </a:path>
              </a:pathLst>
            </a:custGeom>
            <a:solidFill>
              <a:srgbClr val="FFFFFF"/>
            </a:solidFill>
          </p:spPr>
        </p:sp>
        <p:sp>
          <p:nvSpPr>
            <p:cNvPr name="TextBox 20" id="20"/>
            <p:cNvSpPr txBox="true"/>
            <p:nvPr/>
          </p:nvSpPr>
          <p:spPr>
            <a:xfrm>
              <a:off x="0" y="-38100"/>
              <a:ext cx="2819926" cy="410617"/>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4247978" y="6634076"/>
            <a:ext cx="11129084" cy="1414400"/>
            <a:chOff x="0" y="0"/>
            <a:chExt cx="2931117" cy="372517"/>
          </a:xfrm>
        </p:grpSpPr>
        <p:sp>
          <p:nvSpPr>
            <p:cNvPr name="Freeform 22" id="22"/>
            <p:cNvSpPr/>
            <p:nvPr/>
          </p:nvSpPr>
          <p:spPr>
            <a:xfrm flipH="false" flipV="false" rot="0">
              <a:off x="0" y="0"/>
              <a:ext cx="2931117" cy="372517"/>
            </a:xfrm>
            <a:custGeom>
              <a:avLst/>
              <a:gdLst/>
              <a:ahLst/>
              <a:cxnLst/>
              <a:rect r="r" b="b" t="t" l="l"/>
              <a:pathLst>
                <a:path h="372517" w="2931117">
                  <a:moveTo>
                    <a:pt x="35478" y="0"/>
                  </a:moveTo>
                  <a:lnTo>
                    <a:pt x="2895639" y="0"/>
                  </a:lnTo>
                  <a:cubicBezTo>
                    <a:pt x="2915233" y="0"/>
                    <a:pt x="2931117" y="15884"/>
                    <a:pt x="2931117" y="35478"/>
                  </a:cubicBezTo>
                  <a:lnTo>
                    <a:pt x="2931117" y="337039"/>
                  </a:lnTo>
                  <a:cubicBezTo>
                    <a:pt x="2931117" y="346448"/>
                    <a:pt x="2927379" y="355472"/>
                    <a:pt x="2920726" y="362126"/>
                  </a:cubicBezTo>
                  <a:cubicBezTo>
                    <a:pt x="2914072" y="368779"/>
                    <a:pt x="2905048" y="372517"/>
                    <a:pt x="2895639" y="372517"/>
                  </a:cubicBezTo>
                  <a:lnTo>
                    <a:pt x="35478" y="372517"/>
                  </a:lnTo>
                  <a:cubicBezTo>
                    <a:pt x="26069" y="372517"/>
                    <a:pt x="17045" y="368779"/>
                    <a:pt x="10391" y="362126"/>
                  </a:cubicBezTo>
                  <a:cubicBezTo>
                    <a:pt x="3738" y="355472"/>
                    <a:pt x="0" y="346448"/>
                    <a:pt x="0" y="337039"/>
                  </a:cubicBezTo>
                  <a:lnTo>
                    <a:pt x="0" y="35478"/>
                  </a:lnTo>
                  <a:cubicBezTo>
                    <a:pt x="0" y="26069"/>
                    <a:pt x="3738" y="17045"/>
                    <a:pt x="10391" y="10391"/>
                  </a:cubicBezTo>
                  <a:cubicBezTo>
                    <a:pt x="17045" y="3738"/>
                    <a:pt x="26069" y="0"/>
                    <a:pt x="35478" y="0"/>
                  </a:cubicBezTo>
                  <a:close/>
                </a:path>
              </a:pathLst>
            </a:custGeom>
            <a:solidFill>
              <a:srgbClr val="FFFFFF"/>
            </a:solidFill>
          </p:spPr>
        </p:sp>
        <p:sp>
          <p:nvSpPr>
            <p:cNvPr name="TextBox 23" id="23"/>
            <p:cNvSpPr txBox="true"/>
            <p:nvPr/>
          </p:nvSpPr>
          <p:spPr>
            <a:xfrm>
              <a:off x="0" y="-38100"/>
              <a:ext cx="2931117" cy="410617"/>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0">
            <a:off x="6414616" y="8161175"/>
            <a:ext cx="10706906" cy="1414400"/>
            <a:chOff x="0" y="0"/>
            <a:chExt cx="2819926" cy="372517"/>
          </a:xfrm>
        </p:grpSpPr>
        <p:sp>
          <p:nvSpPr>
            <p:cNvPr name="Freeform 25" id="25"/>
            <p:cNvSpPr/>
            <p:nvPr/>
          </p:nvSpPr>
          <p:spPr>
            <a:xfrm flipH="false" flipV="false" rot="0">
              <a:off x="0" y="0"/>
              <a:ext cx="2819926" cy="372517"/>
            </a:xfrm>
            <a:custGeom>
              <a:avLst/>
              <a:gdLst/>
              <a:ahLst/>
              <a:cxnLst/>
              <a:rect r="r" b="b" t="t" l="l"/>
              <a:pathLst>
                <a:path h="372517" w="2819926">
                  <a:moveTo>
                    <a:pt x="36877" y="0"/>
                  </a:moveTo>
                  <a:lnTo>
                    <a:pt x="2783049" y="0"/>
                  </a:lnTo>
                  <a:cubicBezTo>
                    <a:pt x="2803416" y="0"/>
                    <a:pt x="2819926" y="16510"/>
                    <a:pt x="2819926" y="36877"/>
                  </a:cubicBezTo>
                  <a:lnTo>
                    <a:pt x="2819926" y="335640"/>
                  </a:lnTo>
                  <a:cubicBezTo>
                    <a:pt x="2819926" y="345420"/>
                    <a:pt x="2816041" y="354800"/>
                    <a:pt x="2809125" y="361716"/>
                  </a:cubicBezTo>
                  <a:cubicBezTo>
                    <a:pt x="2802209" y="368632"/>
                    <a:pt x="2792829" y="372517"/>
                    <a:pt x="2783049" y="372517"/>
                  </a:cubicBezTo>
                  <a:lnTo>
                    <a:pt x="36877" y="372517"/>
                  </a:lnTo>
                  <a:cubicBezTo>
                    <a:pt x="27097" y="372517"/>
                    <a:pt x="17717" y="368632"/>
                    <a:pt x="10801" y="361716"/>
                  </a:cubicBezTo>
                  <a:cubicBezTo>
                    <a:pt x="3885" y="354800"/>
                    <a:pt x="0" y="345420"/>
                    <a:pt x="0" y="335640"/>
                  </a:cubicBezTo>
                  <a:lnTo>
                    <a:pt x="0" y="36877"/>
                  </a:lnTo>
                  <a:cubicBezTo>
                    <a:pt x="0" y="27097"/>
                    <a:pt x="3885" y="17717"/>
                    <a:pt x="10801" y="10801"/>
                  </a:cubicBezTo>
                  <a:cubicBezTo>
                    <a:pt x="17717" y="3885"/>
                    <a:pt x="27097" y="0"/>
                    <a:pt x="36877" y="0"/>
                  </a:cubicBezTo>
                  <a:close/>
                </a:path>
              </a:pathLst>
            </a:custGeom>
            <a:solidFill>
              <a:srgbClr val="FFFFFF"/>
            </a:solidFill>
          </p:spPr>
        </p:sp>
        <p:sp>
          <p:nvSpPr>
            <p:cNvPr name="TextBox 26" id="26"/>
            <p:cNvSpPr txBox="true"/>
            <p:nvPr/>
          </p:nvSpPr>
          <p:spPr>
            <a:xfrm>
              <a:off x="0" y="-38100"/>
              <a:ext cx="2819926" cy="410617"/>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0" y="2153900"/>
            <a:ext cx="11644682" cy="912779"/>
          </a:xfrm>
          <a:prstGeom prst="rect">
            <a:avLst/>
          </a:prstGeom>
        </p:spPr>
        <p:txBody>
          <a:bodyPr anchor="t" rtlCol="false" tIns="0" lIns="0" bIns="0" rIns="0">
            <a:spAutoFit/>
          </a:bodyPr>
          <a:lstStyle/>
          <a:p>
            <a:pPr algn="ctr">
              <a:lnSpc>
                <a:spcPts val="7439"/>
              </a:lnSpc>
            </a:pPr>
            <a:r>
              <a:rPr lang="en-US" sz="5313" spc="664">
                <a:solidFill>
                  <a:srgbClr val="000000"/>
                </a:solidFill>
                <a:latin typeface="Faustina"/>
                <a:ea typeface="Faustina"/>
                <a:cs typeface="Faustina"/>
                <a:sym typeface="Faustina"/>
              </a:rPr>
              <a:t>1.VŨ MINH HIẾU</a:t>
            </a:r>
          </a:p>
        </p:txBody>
      </p:sp>
      <p:sp>
        <p:nvSpPr>
          <p:cNvPr name="TextBox 28" id="28"/>
          <p:cNvSpPr txBox="true"/>
          <p:nvPr/>
        </p:nvSpPr>
        <p:spPr>
          <a:xfrm rot="0">
            <a:off x="1037839" y="3695695"/>
            <a:ext cx="11644682" cy="912779"/>
          </a:xfrm>
          <a:prstGeom prst="rect">
            <a:avLst/>
          </a:prstGeom>
        </p:spPr>
        <p:txBody>
          <a:bodyPr anchor="t" rtlCol="false" tIns="0" lIns="0" bIns="0" rIns="0">
            <a:spAutoFit/>
          </a:bodyPr>
          <a:lstStyle/>
          <a:p>
            <a:pPr algn="ctr">
              <a:lnSpc>
                <a:spcPts val="7439"/>
              </a:lnSpc>
            </a:pPr>
            <a:r>
              <a:rPr lang="en-US" sz="5313" spc="664">
                <a:solidFill>
                  <a:srgbClr val="000000"/>
                </a:solidFill>
                <a:latin typeface="Faustina"/>
                <a:ea typeface="Faustina"/>
                <a:cs typeface="Faustina"/>
                <a:sym typeface="Faustina"/>
              </a:rPr>
              <a:t>2.ĐỖ TRUNG HIẾU</a:t>
            </a:r>
          </a:p>
        </p:txBody>
      </p:sp>
      <p:sp>
        <p:nvSpPr>
          <p:cNvPr name="TextBox 29" id="29"/>
          <p:cNvSpPr txBox="true"/>
          <p:nvPr/>
        </p:nvSpPr>
        <p:spPr>
          <a:xfrm rot="0">
            <a:off x="1975615" y="5264097"/>
            <a:ext cx="11644682" cy="912779"/>
          </a:xfrm>
          <a:prstGeom prst="rect">
            <a:avLst/>
          </a:prstGeom>
        </p:spPr>
        <p:txBody>
          <a:bodyPr anchor="t" rtlCol="false" tIns="0" lIns="0" bIns="0" rIns="0">
            <a:spAutoFit/>
          </a:bodyPr>
          <a:lstStyle/>
          <a:p>
            <a:pPr algn="ctr">
              <a:lnSpc>
                <a:spcPts val="7439"/>
              </a:lnSpc>
            </a:pPr>
            <a:r>
              <a:rPr lang="en-US" sz="5313" spc="664">
                <a:solidFill>
                  <a:srgbClr val="000000"/>
                </a:solidFill>
                <a:latin typeface="Faustina"/>
                <a:ea typeface="Faustina"/>
                <a:cs typeface="Faustina"/>
                <a:sym typeface="Faustina"/>
              </a:rPr>
              <a:t>3.ĐỖ CẨM NHUNG</a:t>
            </a:r>
          </a:p>
        </p:txBody>
      </p:sp>
      <p:sp>
        <p:nvSpPr>
          <p:cNvPr name="TextBox 30" id="30"/>
          <p:cNvSpPr txBox="true"/>
          <p:nvPr/>
        </p:nvSpPr>
        <p:spPr>
          <a:xfrm rot="0">
            <a:off x="3990179" y="6832499"/>
            <a:ext cx="11644682" cy="912779"/>
          </a:xfrm>
          <a:prstGeom prst="rect">
            <a:avLst/>
          </a:prstGeom>
        </p:spPr>
        <p:txBody>
          <a:bodyPr anchor="t" rtlCol="false" tIns="0" lIns="0" bIns="0" rIns="0">
            <a:spAutoFit/>
          </a:bodyPr>
          <a:lstStyle/>
          <a:p>
            <a:pPr algn="ctr">
              <a:lnSpc>
                <a:spcPts val="7439"/>
              </a:lnSpc>
            </a:pPr>
            <a:r>
              <a:rPr lang="en-US" sz="5313" spc="664">
                <a:solidFill>
                  <a:srgbClr val="000000"/>
                </a:solidFill>
                <a:latin typeface="Faustina"/>
                <a:ea typeface="Faustina"/>
                <a:cs typeface="Faustina"/>
                <a:sym typeface="Faustina"/>
              </a:rPr>
              <a:t>4.NGUYỄN AN PHƯƠNG LINH</a:t>
            </a:r>
          </a:p>
        </p:txBody>
      </p:sp>
      <p:sp>
        <p:nvSpPr>
          <p:cNvPr name="TextBox 31" id="31"/>
          <p:cNvSpPr txBox="true"/>
          <p:nvPr/>
        </p:nvSpPr>
        <p:spPr>
          <a:xfrm rot="0">
            <a:off x="5822341" y="8345521"/>
            <a:ext cx="11644682" cy="912779"/>
          </a:xfrm>
          <a:prstGeom prst="rect">
            <a:avLst/>
          </a:prstGeom>
        </p:spPr>
        <p:txBody>
          <a:bodyPr anchor="t" rtlCol="false" tIns="0" lIns="0" bIns="0" rIns="0">
            <a:spAutoFit/>
          </a:bodyPr>
          <a:lstStyle/>
          <a:p>
            <a:pPr algn="ctr">
              <a:lnSpc>
                <a:spcPts val="7439"/>
              </a:lnSpc>
            </a:pPr>
            <a:r>
              <a:rPr lang="en-US" sz="5313" spc="664">
                <a:solidFill>
                  <a:srgbClr val="000000"/>
                </a:solidFill>
                <a:latin typeface="Faustina"/>
                <a:ea typeface="Faustina"/>
                <a:cs typeface="Faustina"/>
                <a:sym typeface="Faustina"/>
              </a:rPr>
              <a:t>5.NGUYỄN HOÀI NAM</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8223037" y="5272128"/>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9565886" y="3097059"/>
            <a:ext cx="3902279" cy="6280865"/>
            <a:chOff x="0" y="0"/>
            <a:chExt cx="604565" cy="973070"/>
          </a:xfrm>
        </p:grpSpPr>
        <p:sp>
          <p:nvSpPr>
            <p:cNvPr name="Freeform 12" id="12"/>
            <p:cNvSpPr/>
            <p:nvPr/>
          </p:nvSpPr>
          <p:spPr>
            <a:xfrm flipH="false" flipV="false" rot="0">
              <a:off x="0" y="0"/>
              <a:ext cx="604565" cy="973070"/>
            </a:xfrm>
            <a:custGeom>
              <a:avLst/>
              <a:gdLst/>
              <a:ahLst/>
              <a:cxnLst/>
              <a:rect r="r" b="b" t="t" l="l"/>
              <a:pathLst>
                <a:path h="973070" w="604565">
                  <a:moveTo>
                    <a:pt x="45631" y="0"/>
                  </a:moveTo>
                  <a:lnTo>
                    <a:pt x="558934" y="0"/>
                  </a:lnTo>
                  <a:cubicBezTo>
                    <a:pt x="584136" y="0"/>
                    <a:pt x="604565" y="20430"/>
                    <a:pt x="604565" y="45631"/>
                  </a:cubicBezTo>
                  <a:lnTo>
                    <a:pt x="604565" y="927440"/>
                  </a:lnTo>
                  <a:cubicBezTo>
                    <a:pt x="604565" y="939542"/>
                    <a:pt x="599758" y="951148"/>
                    <a:pt x="591200" y="959705"/>
                  </a:cubicBezTo>
                  <a:cubicBezTo>
                    <a:pt x="582643" y="968263"/>
                    <a:pt x="571036" y="973070"/>
                    <a:pt x="558934" y="973070"/>
                  </a:cubicBezTo>
                  <a:lnTo>
                    <a:pt x="45631" y="973070"/>
                  </a:lnTo>
                  <a:cubicBezTo>
                    <a:pt x="20430" y="973070"/>
                    <a:pt x="0" y="952641"/>
                    <a:pt x="0" y="927440"/>
                  </a:cubicBezTo>
                  <a:lnTo>
                    <a:pt x="0" y="45631"/>
                  </a:lnTo>
                  <a:cubicBezTo>
                    <a:pt x="0" y="33529"/>
                    <a:pt x="4808" y="21922"/>
                    <a:pt x="13365" y="13365"/>
                  </a:cubicBezTo>
                  <a:cubicBezTo>
                    <a:pt x="21922" y="4808"/>
                    <a:pt x="33529" y="0"/>
                    <a:pt x="45631" y="0"/>
                  </a:cubicBezTo>
                  <a:close/>
                </a:path>
              </a:pathLst>
            </a:custGeom>
            <a:blipFill>
              <a:blip r:embed="rId5"/>
              <a:stretch>
                <a:fillRect l="-66196" t="0" r="-66196" b="0"/>
              </a:stretch>
            </a:blipFill>
            <a:ln w="85725" cap="rnd">
              <a:solidFill>
                <a:srgbClr val="6BC4E0"/>
              </a:solidFill>
              <a:prstDash val="solid"/>
              <a:round/>
            </a:ln>
          </p:spPr>
        </p:sp>
      </p:grpSp>
      <p:grpSp>
        <p:nvGrpSpPr>
          <p:cNvPr name="Group 13" id="13"/>
          <p:cNvGrpSpPr/>
          <p:nvPr/>
        </p:nvGrpSpPr>
        <p:grpSpPr>
          <a:xfrm rot="0">
            <a:off x="13890050" y="622238"/>
            <a:ext cx="3902279" cy="6280865"/>
            <a:chOff x="0" y="0"/>
            <a:chExt cx="604565" cy="973070"/>
          </a:xfrm>
        </p:grpSpPr>
        <p:sp>
          <p:nvSpPr>
            <p:cNvPr name="Freeform 14" id="14"/>
            <p:cNvSpPr/>
            <p:nvPr/>
          </p:nvSpPr>
          <p:spPr>
            <a:xfrm flipH="false" flipV="false" rot="0">
              <a:off x="0" y="0"/>
              <a:ext cx="604565" cy="973070"/>
            </a:xfrm>
            <a:custGeom>
              <a:avLst/>
              <a:gdLst/>
              <a:ahLst/>
              <a:cxnLst/>
              <a:rect r="r" b="b" t="t" l="l"/>
              <a:pathLst>
                <a:path h="973070" w="604565">
                  <a:moveTo>
                    <a:pt x="45631" y="0"/>
                  </a:moveTo>
                  <a:lnTo>
                    <a:pt x="558934" y="0"/>
                  </a:lnTo>
                  <a:cubicBezTo>
                    <a:pt x="584136" y="0"/>
                    <a:pt x="604565" y="20430"/>
                    <a:pt x="604565" y="45631"/>
                  </a:cubicBezTo>
                  <a:lnTo>
                    <a:pt x="604565" y="927440"/>
                  </a:lnTo>
                  <a:cubicBezTo>
                    <a:pt x="604565" y="939542"/>
                    <a:pt x="599758" y="951148"/>
                    <a:pt x="591200" y="959705"/>
                  </a:cubicBezTo>
                  <a:cubicBezTo>
                    <a:pt x="582643" y="968263"/>
                    <a:pt x="571036" y="973070"/>
                    <a:pt x="558934" y="973070"/>
                  </a:cubicBezTo>
                  <a:lnTo>
                    <a:pt x="45631" y="973070"/>
                  </a:lnTo>
                  <a:cubicBezTo>
                    <a:pt x="20430" y="973070"/>
                    <a:pt x="0" y="952641"/>
                    <a:pt x="0" y="927440"/>
                  </a:cubicBezTo>
                  <a:lnTo>
                    <a:pt x="0" y="45631"/>
                  </a:lnTo>
                  <a:cubicBezTo>
                    <a:pt x="0" y="33529"/>
                    <a:pt x="4808" y="21922"/>
                    <a:pt x="13365" y="13365"/>
                  </a:cubicBezTo>
                  <a:cubicBezTo>
                    <a:pt x="21922" y="4808"/>
                    <a:pt x="33529" y="0"/>
                    <a:pt x="45631" y="0"/>
                  </a:cubicBezTo>
                  <a:close/>
                </a:path>
              </a:pathLst>
            </a:custGeom>
            <a:blipFill>
              <a:blip r:embed="rId6"/>
              <a:stretch>
                <a:fillRect l="-93229" t="0" r="-93229" b="0"/>
              </a:stretch>
            </a:blipFill>
            <a:ln w="85725" cap="rnd">
              <a:solidFill>
                <a:srgbClr val="FFFFFF"/>
              </a:solidFill>
              <a:prstDash val="solid"/>
              <a:round/>
            </a:ln>
          </p:spPr>
        </p:sp>
      </p:grpSp>
      <p:sp>
        <p:nvSpPr>
          <p:cNvPr name="TextBox 15" id="15"/>
          <p:cNvSpPr txBox="true"/>
          <p:nvPr/>
        </p:nvSpPr>
        <p:spPr>
          <a:xfrm rot="0">
            <a:off x="2281771" y="1044481"/>
            <a:ext cx="6875970" cy="2060142"/>
          </a:xfrm>
          <a:prstGeom prst="rect">
            <a:avLst/>
          </a:prstGeom>
        </p:spPr>
        <p:txBody>
          <a:bodyPr anchor="t" rtlCol="false" tIns="0" lIns="0" bIns="0" rIns="0">
            <a:spAutoFit/>
          </a:bodyPr>
          <a:lstStyle/>
          <a:p>
            <a:pPr algn="l" marL="0" indent="0" lvl="0">
              <a:lnSpc>
                <a:spcPts val="7886"/>
              </a:lnSpc>
              <a:spcBef>
                <a:spcPct val="0"/>
              </a:spcBef>
            </a:pPr>
            <a:r>
              <a:rPr lang="en-US" b="true" sz="8214" spc="-418">
                <a:solidFill>
                  <a:srgbClr val="FFFFFF"/>
                </a:solidFill>
                <a:latin typeface="Noto Sans Bold"/>
                <a:ea typeface="Noto Sans Bold"/>
                <a:cs typeface="Noto Sans Bold"/>
                <a:sym typeface="Noto Sans Bold"/>
              </a:rPr>
              <a:t>G</a:t>
            </a:r>
            <a:r>
              <a:rPr lang="en-US" b="true" sz="8214" spc="-418" strike="noStrike" u="none">
                <a:solidFill>
                  <a:srgbClr val="FFFFFF"/>
                </a:solidFill>
                <a:latin typeface="Noto Sans Bold"/>
                <a:ea typeface="Noto Sans Bold"/>
                <a:cs typeface="Noto Sans Bold"/>
                <a:sym typeface="Noto Sans Bold"/>
              </a:rPr>
              <a:t>i</a:t>
            </a:r>
            <a:r>
              <a:rPr lang="en-US" b="true" sz="8214" spc="-418" strike="noStrike" u="none">
                <a:solidFill>
                  <a:srgbClr val="FFFFFF"/>
                </a:solidFill>
                <a:latin typeface="Noto Sans Bold"/>
                <a:ea typeface="Noto Sans Bold"/>
                <a:cs typeface="Noto Sans Bold"/>
                <a:sym typeface="Noto Sans Bold"/>
              </a:rPr>
              <a:t>ới</a:t>
            </a:r>
            <a:r>
              <a:rPr lang="en-US" b="true" sz="8214" spc="-418" strike="noStrike" u="none">
                <a:solidFill>
                  <a:srgbClr val="FFFFFF"/>
                </a:solidFill>
                <a:latin typeface="Noto Sans Bold"/>
                <a:ea typeface="Noto Sans Bold"/>
                <a:cs typeface="Noto Sans Bold"/>
                <a:sym typeface="Noto Sans Bold"/>
              </a:rPr>
              <a:t> </a:t>
            </a:r>
            <a:r>
              <a:rPr lang="en-US" b="true" sz="8214" spc="-418" strike="noStrike" u="none">
                <a:solidFill>
                  <a:srgbClr val="FFFFFF"/>
                </a:solidFill>
                <a:latin typeface="Noto Sans Bold"/>
                <a:ea typeface="Noto Sans Bold"/>
                <a:cs typeface="Noto Sans Bold"/>
                <a:sym typeface="Noto Sans Bold"/>
              </a:rPr>
              <a:t>t</a:t>
            </a:r>
            <a:r>
              <a:rPr lang="en-US" b="true" sz="8214" spc="-418" strike="noStrike" u="none">
                <a:solidFill>
                  <a:srgbClr val="FFFFFF"/>
                </a:solidFill>
                <a:latin typeface="Noto Sans Bold"/>
                <a:ea typeface="Noto Sans Bold"/>
                <a:cs typeface="Noto Sans Bold"/>
                <a:sym typeface="Noto Sans Bold"/>
              </a:rPr>
              <a:t>h</a:t>
            </a:r>
            <a:r>
              <a:rPr lang="en-US" b="true" sz="8214" spc="-418" strike="noStrike" u="none">
                <a:solidFill>
                  <a:srgbClr val="FFFFFF"/>
                </a:solidFill>
                <a:latin typeface="Noto Sans Bold"/>
                <a:ea typeface="Noto Sans Bold"/>
                <a:cs typeface="Noto Sans Bold"/>
                <a:sym typeface="Noto Sans Bold"/>
              </a:rPr>
              <a:t>iệu</a:t>
            </a:r>
          </a:p>
          <a:p>
            <a:pPr algn="l" marL="0" indent="0" lvl="0">
              <a:lnSpc>
                <a:spcPts val="7886"/>
              </a:lnSpc>
              <a:spcBef>
                <a:spcPct val="0"/>
              </a:spcBef>
            </a:pPr>
          </a:p>
        </p:txBody>
      </p:sp>
      <p:grpSp>
        <p:nvGrpSpPr>
          <p:cNvPr name="Group 16" id="16"/>
          <p:cNvGrpSpPr/>
          <p:nvPr/>
        </p:nvGrpSpPr>
        <p:grpSpPr>
          <a:xfrm rot="0">
            <a:off x="492921" y="2449650"/>
            <a:ext cx="8651079" cy="6462117"/>
            <a:chOff x="0" y="0"/>
            <a:chExt cx="2278474" cy="1701957"/>
          </a:xfrm>
        </p:grpSpPr>
        <p:sp>
          <p:nvSpPr>
            <p:cNvPr name="Freeform 17" id="17"/>
            <p:cNvSpPr/>
            <p:nvPr/>
          </p:nvSpPr>
          <p:spPr>
            <a:xfrm flipH="false" flipV="false" rot="0">
              <a:off x="0" y="0"/>
              <a:ext cx="2278474" cy="1701957"/>
            </a:xfrm>
            <a:custGeom>
              <a:avLst/>
              <a:gdLst/>
              <a:ahLst/>
              <a:cxnLst/>
              <a:rect r="r" b="b" t="t" l="l"/>
              <a:pathLst>
                <a:path h="1701957" w="2278474">
                  <a:moveTo>
                    <a:pt x="45640" y="0"/>
                  </a:moveTo>
                  <a:lnTo>
                    <a:pt x="2232833" y="0"/>
                  </a:lnTo>
                  <a:cubicBezTo>
                    <a:pt x="2258040" y="0"/>
                    <a:pt x="2278474" y="20434"/>
                    <a:pt x="2278474" y="45640"/>
                  </a:cubicBezTo>
                  <a:lnTo>
                    <a:pt x="2278474" y="1656316"/>
                  </a:lnTo>
                  <a:cubicBezTo>
                    <a:pt x="2278474" y="1681523"/>
                    <a:pt x="2258040" y="1701957"/>
                    <a:pt x="2232833" y="1701957"/>
                  </a:cubicBezTo>
                  <a:lnTo>
                    <a:pt x="45640" y="1701957"/>
                  </a:lnTo>
                  <a:cubicBezTo>
                    <a:pt x="20434" y="1701957"/>
                    <a:pt x="0" y="1681523"/>
                    <a:pt x="0" y="1656316"/>
                  </a:cubicBezTo>
                  <a:lnTo>
                    <a:pt x="0" y="45640"/>
                  </a:lnTo>
                  <a:cubicBezTo>
                    <a:pt x="0" y="20434"/>
                    <a:pt x="20434" y="0"/>
                    <a:pt x="45640" y="0"/>
                  </a:cubicBezTo>
                  <a:close/>
                </a:path>
              </a:pathLst>
            </a:custGeom>
            <a:solidFill>
              <a:srgbClr val="FFFFFF"/>
            </a:solidFill>
          </p:spPr>
        </p:sp>
        <p:sp>
          <p:nvSpPr>
            <p:cNvPr name="TextBox 18" id="18"/>
            <p:cNvSpPr txBox="true"/>
            <p:nvPr/>
          </p:nvSpPr>
          <p:spPr>
            <a:xfrm>
              <a:off x="0" y="-38100"/>
              <a:ext cx="2278474" cy="1740057"/>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827624" y="2635738"/>
            <a:ext cx="8112397" cy="6276029"/>
          </a:xfrm>
          <a:prstGeom prst="rect">
            <a:avLst/>
          </a:prstGeom>
        </p:spPr>
        <p:txBody>
          <a:bodyPr anchor="t" rtlCol="false" tIns="0" lIns="0" bIns="0" rIns="0">
            <a:spAutoFit/>
          </a:bodyPr>
          <a:lstStyle/>
          <a:p>
            <a:pPr algn="l" marL="0" indent="0" lvl="0">
              <a:lnSpc>
                <a:spcPts val="3850"/>
              </a:lnSpc>
              <a:spcBef>
                <a:spcPct val="0"/>
              </a:spcBef>
            </a:pPr>
            <a:r>
              <a:rPr lang="en-US" sz="2264">
                <a:solidFill>
                  <a:srgbClr val="000000">
                    <a:alpha val="80000"/>
                  </a:srgbClr>
                </a:solidFill>
                <a:latin typeface="Noto Sans"/>
                <a:ea typeface="Noto Sans"/>
                <a:cs typeface="Noto Sans"/>
                <a:sym typeface="Noto Sans"/>
              </a:rPr>
              <a:t>Trong các khóa học Machine </a:t>
            </a:r>
            <a:r>
              <a:rPr lang="en-US" sz="2264" strike="noStrike" u="none">
                <a:solidFill>
                  <a:srgbClr val="000000">
                    <a:alpha val="80000"/>
                  </a:srgbClr>
                </a:solidFill>
                <a:latin typeface="Noto Sans"/>
                <a:ea typeface="Noto Sans"/>
                <a:cs typeface="Noto Sans"/>
                <a:sym typeface="Noto Sans"/>
              </a:rPr>
              <a:t>L</a:t>
            </a:r>
            <a:r>
              <a:rPr lang="en-US" sz="2264" strike="noStrike" u="none">
                <a:solidFill>
                  <a:srgbClr val="000000">
                    <a:alpha val="80000"/>
                  </a:srgbClr>
                </a:solidFill>
                <a:latin typeface="Noto Sans"/>
                <a:ea typeface="Noto Sans"/>
                <a:cs typeface="Noto Sans"/>
                <a:sym typeface="Noto Sans"/>
              </a:rPr>
              <a:t>ea</a:t>
            </a:r>
            <a:r>
              <a:rPr lang="en-US" sz="2264" strike="noStrike" u="none">
                <a:solidFill>
                  <a:srgbClr val="000000">
                    <a:alpha val="80000"/>
                  </a:srgbClr>
                </a:solidFill>
                <a:latin typeface="Noto Sans"/>
                <a:ea typeface="Noto Sans"/>
                <a:cs typeface="Noto Sans"/>
                <a:sym typeface="Noto Sans"/>
              </a:rPr>
              <a:t>r</a:t>
            </a:r>
            <a:r>
              <a:rPr lang="en-US" sz="2264" strike="noStrike" u="none">
                <a:solidFill>
                  <a:srgbClr val="000000">
                    <a:alpha val="80000"/>
                  </a:srgbClr>
                </a:solidFill>
                <a:latin typeface="Noto Sans"/>
                <a:ea typeface="Noto Sans"/>
                <a:cs typeface="Noto Sans"/>
                <a:sym typeface="Noto Sans"/>
              </a:rPr>
              <a:t>ning hiện</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đạ</a:t>
            </a:r>
            <a:r>
              <a:rPr lang="en-US" sz="2264" strike="noStrike" u="none">
                <a:solidFill>
                  <a:srgbClr val="000000">
                    <a:alpha val="80000"/>
                  </a:srgbClr>
                </a:solidFill>
                <a:latin typeface="Noto Sans"/>
                <a:ea typeface="Noto Sans"/>
                <a:cs typeface="Noto Sans"/>
                <a:sym typeface="Noto Sans"/>
              </a:rPr>
              <a:t>i</a:t>
            </a:r>
            <a:r>
              <a:rPr lang="en-US" sz="2264" strike="noStrike" u="none">
                <a:solidFill>
                  <a:srgbClr val="000000">
                    <a:alpha val="80000"/>
                  </a:srgbClr>
                </a:solidFill>
                <a:latin typeface="Noto Sans"/>
                <a:ea typeface="Noto Sans"/>
                <a:cs typeface="Noto Sans"/>
                <a:sym typeface="Noto Sans"/>
              </a:rPr>
              <a:t>,</a:t>
            </a:r>
            <a:r>
              <a:rPr lang="en-US" sz="2264" strike="noStrike" u="none">
                <a:solidFill>
                  <a:srgbClr val="000000">
                    <a:alpha val="80000"/>
                  </a:srgbClr>
                </a:solidFill>
                <a:latin typeface="Noto Sans"/>
                <a:ea typeface="Noto Sans"/>
                <a:cs typeface="Noto Sans"/>
                <a:sym typeface="Noto Sans"/>
              </a:rPr>
              <a:t> lo</a:t>
            </a:r>
            <a:r>
              <a:rPr lang="en-US" sz="2264" strike="noStrike" u="none">
                <a:solidFill>
                  <a:srgbClr val="000000">
                    <a:alpha val="80000"/>
                  </a:srgbClr>
                </a:solidFill>
                <a:latin typeface="Noto Sans"/>
                <a:ea typeface="Noto Sans"/>
                <a:cs typeface="Noto Sans"/>
                <a:sym typeface="Noto Sans"/>
              </a:rPr>
              <a:t>gistic</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regres</a:t>
            </a:r>
            <a:r>
              <a:rPr lang="en-US" sz="2264" strike="noStrike" u="none">
                <a:solidFill>
                  <a:srgbClr val="000000">
                    <a:alpha val="80000"/>
                  </a:srgbClr>
                </a:solidFill>
                <a:latin typeface="Noto Sans"/>
                <a:ea typeface="Noto Sans"/>
                <a:cs typeface="Noto Sans"/>
                <a:sym typeface="Noto Sans"/>
              </a:rPr>
              <a:t>si</a:t>
            </a:r>
            <a:r>
              <a:rPr lang="en-US" sz="2264" strike="noStrike" u="none">
                <a:solidFill>
                  <a:srgbClr val="000000">
                    <a:alpha val="80000"/>
                  </a:srgbClr>
                </a:solidFill>
                <a:latin typeface="Noto Sans"/>
                <a:ea typeface="Noto Sans"/>
                <a:cs typeface="Noto Sans"/>
                <a:sym typeface="Noto Sans"/>
              </a:rPr>
              <a:t>on </a:t>
            </a:r>
            <a:r>
              <a:rPr lang="en-US" sz="2264" strike="noStrike" u="none">
                <a:solidFill>
                  <a:srgbClr val="000000">
                    <a:alpha val="80000"/>
                  </a:srgbClr>
                </a:solidFill>
                <a:latin typeface="Noto Sans"/>
                <a:ea typeface="Noto Sans"/>
                <a:cs typeface="Noto Sans"/>
                <a:sym typeface="Noto Sans"/>
              </a:rPr>
              <a:t>t</a:t>
            </a:r>
            <a:r>
              <a:rPr lang="en-US" sz="2264" strike="noStrike" u="none">
                <a:solidFill>
                  <a:srgbClr val="000000">
                    <a:alpha val="80000"/>
                  </a:srgbClr>
                </a:solidFill>
                <a:latin typeface="Noto Sans"/>
                <a:ea typeface="Noto Sans"/>
                <a:cs typeface="Noto Sans"/>
                <a:sym typeface="Noto Sans"/>
              </a:rPr>
              <a:t>hường</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được xe</a:t>
            </a:r>
            <a:r>
              <a:rPr lang="en-US" sz="2264" strike="noStrike" u="none">
                <a:solidFill>
                  <a:srgbClr val="000000">
                    <a:alpha val="80000"/>
                  </a:srgbClr>
                </a:solidFill>
                <a:latin typeface="Noto Sans"/>
                <a:ea typeface="Noto Sans"/>
                <a:cs typeface="Noto Sans"/>
                <a:sym typeface="Noto Sans"/>
              </a:rPr>
              <a:t>m</a:t>
            </a:r>
            <a:r>
              <a:rPr lang="en-US" sz="2264" strike="noStrike" u="none">
                <a:solidFill>
                  <a:srgbClr val="000000">
                    <a:alpha val="80000"/>
                  </a:srgbClr>
                </a:solidFill>
                <a:latin typeface="Noto Sans"/>
                <a:ea typeface="Noto Sans"/>
                <a:cs typeface="Noto Sans"/>
                <a:sym typeface="Noto Sans"/>
              </a:rPr>
              <a:t> là mộ</a:t>
            </a:r>
            <a:r>
              <a:rPr lang="en-US" sz="2264" strike="noStrike" u="none">
                <a:solidFill>
                  <a:srgbClr val="000000">
                    <a:alpha val="80000"/>
                  </a:srgbClr>
                </a:solidFill>
                <a:latin typeface="Noto Sans"/>
                <a:ea typeface="Noto Sans"/>
                <a:cs typeface="Noto Sans"/>
                <a:sym typeface="Noto Sans"/>
              </a:rPr>
              <a:t>t</a:t>
            </a:r>
            <a:r>
              <a:rPr lang="en-US" sz="2264" strike="noStrike" u="none">
                <a:solidFill>
                  <a:srgbClr val="000000">
                    <a:alpha val="80000"/>
                  </a:srgbClr>
                </a:solidFill>
                <a:latin typeface="Noto Sans"/>
                <a:ea typeface="Noto Sans"/>
                <a:cs typeface="Noto Sans"/>
                <a:sym typeface="Noto Sans"/>
              </a:rPr>
              <a:t> mô</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hình “</a:t>
            </a:r>
            <a:r>
              <a:rPr lang="en-US" sz="2264" strike="noStrike" u="none">
                <a:solidFill>
                  <a:srgbClr val="000000">
                    <a:alpha val="80000"/>
                  </a:srgbClr>
                </a:solidFill>
                <a:latin typeface="Noto Sans"/>
                <a:ea typeface="Noto Sans"/>
                <a:cs typeface="Noto Sans"/>
                <a:sym typeface="Noto Sans"/>
              </a:rPr>
              <a:t>c</a:t>
            </a:r>
            <a:r>
              <a:rPr lang="en-US" sz="2264" strike="noStrike" u="none">
                <a:solidFill>
                  <a:srgbClr val="000000">
                    <a:alpha val="80000"/>
                  </a:srgbClr>
                </a:solidFill>
                <a:latin typeface="Noto Sans"/>
                <a:ea typeface="Noto Sans"/>
                <a:cs typeface="Noto Sans"/>
                <a:sym typeface="Noto Sans"/>
              </a:rPr>
              <a:t>ơ bản”. Tuy nhiên, phần</a:t>
            </a:r>
            <a:r>
              <a:rPr lang="en-US" b="true" sz="2264" strike="noStrike" u="none">
                <a:solidFill>
                  <a:srgbClr val="000000">
                    <a:alpha val="80000"/>
                  </a:srgbClr>
                </a:solidFill>
                <a:latin typeface="Noto Sans Bold"/>
                <a:ea typeface="Noto Sans Bold"/>
                <a:cs typeface="Noto Sans Bold"/>
                <a:sym typeface="Noto Sans Bold"/>
              </a:rPr>
              <a:t> t</a:t>
            </a:r>
            <a:r>
              <a:rPr lang="en-US" b="true" sz="2264" strike="noStrike" u="none">
                <a:solidFill>
                  <a:srgbClr val="000000">
                    <a:alpha val="80000"/>
                  </a:srgbClr>
                </a:solidFill>
                <a:latin typeface="Noto Sans Bold"/>
                <a:ea typeface="Noto Sans Bold"/>
                <a:cs typeface="Noto Sans Bold"/>
                <a:sym typeface="Noto Sans Bold"/>
              </a:rPr>
              <a:t>o</a:t>
            </a:r>
            <a:r>
              <a:rPr lang="en-US" b="true" sz="2264" strike="noStrike" u="none">
                <a:solidFill>
                  <a:srgbClr val="000000">
                    <a:alpha val="80000"/>
                  </a:srgbClr>
                </a:solidFill>
                <a:latin typeface="Noto Sans Bold"/>
                <a:ea typeface="Noto Sans Bold"/>
                <a:cs typeface="Noto Sans Bold"/>
                <a:sym typeface="Noto Sans Bold"/>
              </a:rPr>
              <a:t>á</a:t>
            </a:r>
            <a:r>
              <a:rPr lang="en-US" b="true" sz="2264" strike="noStrike" u="none">
                <a:solidFill>
                  <a:srgbClr val="000000">
                    <a:alpha val="80000"/>
                  </a:srgbClr>
                </a:solidFill>
                <a:latin typeface="Noto Sans Bold"/>
                <a:ea typeface="Noto Sans Bold"/>
                <a:cs typeface="Noto Sans Bold"/>
                <a:sym typeface="Noto Sans Bold"/>
              </a:rPr>
              <a:t>n</a:t>
            </a:r>
            <a:r>
              <a:rPr lang="en-US" b="true" sz="2264" strike="noStrike" u="none">
                <a:solidFill>
                  <a:srgbClr val="000000">
                    <a:alpha val="80000"/>
                  </a:srgbClr>
                </a:solidFill>
                <a:latin typeface="Noto Sans Bold"/>
                <a:ea typeface="Noto Sans Bold"/>
                <a:cs typeface="Noto Sans Bold"/>
                <a:sym typeface="Noto Sans Bold"/>
              </a:rPr>
              <a:t> họ</a:t>
            </a:r>
            <a:r>
              <a:rPr lang="en-US" b="true" sz="2264" strike="noStrike" u="none">
                <a:solidFill>
                  <a:srgbClr val="000000">
                    <a:alpha val="80000"/>
                  </a:srgbClr>
                </a:solidFill>
                <a:latin typeface="Noto Sans Bold"/>
                <a:ea typeface="Noto Sans Bold"/>
                <a:cs typeface="Noto Sans Bold"/>
                <a:sym typeface="Noto Sans Bold"/>
              </a:rPr>
              <a:t>c</a:t>
            </a:r>
            <a:r>
              <a:rPr lang="en-US" b="true" sz="2264" strike="noStrike" u="none">
                <a:solidFill>
                  <a:srgbClr val="000000">
                    <a:alpha val="80000"/>
                  </a:srgbClr>
                </a:solidFill>
                <a:latin typeface="Noto Sans Bold"/>
                <a:ea typeface="Noto Sans Bold"/>
                <a:cs typeface="Noto Sans Bold"/>
                <a:sym typeface="Noto Sans Bold"/>
              </a:rPr>
              <a:t> phía sa</a:t>
            </a:r>
            <a:r>
              <a:rPr lang="en-US" b="true" sz="2264" strike="noStrike" u="none">
                <a:solidFill>
                  <a:srgbClr val="000000">
                    <a:alpha val="80000"/>
                  </a:srgbClr>
                </a:solidFill>
                <a:latin typeface="Noto Sans Bold"/>
                <a:ea typeface="Noto Sans Bold"/>
                <a:cs typeface="Noto Sans Bold"/>
                <a:sym typeface="Noto Sans Bold"/>
              </a:rPr>
              <a:t>u</a:t>
            </a:r>
            <a:r>
              <a:rPr lang="en-US" b="true" sz="2264" strike="noStrike" u="none">
                <a:solidFill>
                  <a:srgbClr val="000000">
                    <a:alpha val="80000"/>
                  </a:srgbClr>
                </a:solidFill>
                <a:latin typeface="Noto Sans Bold"/>
                <a:ea typeface="Noto Sans Bold"/>
                <a:cs typeface="Noto Sans Bold"/>
                <a:sym typeface="Noto Sans Bold"/>
              </a:rPr>
              <a:t> g</a:t>
            </a:r>
            <a:r>
              <a:rPr lang="en-US" b="true" sz="2264" strike="noStrike" u="none">
                <a:solidFill>
                  <a:srgbClr val="000000">
                    <a:alpha val="80000"/>
                  </a:srgbClr>
                </a:solidFill>
                <a:latin typeface="Noto Sans Bold"/>
                <a:ea typeface="Noto Sans Bold"/>
                <a:cs typeface="Noto Sans Bold"/>
                <a:sym typeface="Noto Sans Bold"/>
              </a:rPr>
              <a:t>radi</a:t>
            </a:r>
            <a:r>
              <a:rPr lang="en-US" b="true" sz="2264" strike="noStrike" u="none">
                <a:solidFill>
                  <a:srgbClr val="000000">
                    <a:alpha val="80000"/>
                  </a:srgbClr>
                </a:solidFill>
                <a:latin typeface="Noto Sans Bold"/>
                <a:ea typeface="Noto Sans Bold"/>
                <a:cs typeface="Noto Sans Bold"/>
                <a:sym typeface="Noto Sans Bold"/>
              </a:rPr>
              <a:t>ent</a:t>
            </a:r>
            <a:r>
              <a:rPr lang="en-US" sz="2264" strike="noStrike" u="none">
                <a:solidFill>
                  <a:srgbClr val="000000">
                    <a:alpha val="80000"/>
                  </a:srgbClr>
                </a:solidFill>
                <a:latin typeface="Noto Sans"/>
                <a:ea typeface="Noto Sans"/>
                <a:cs typeface="Noto Sans"/>
                <a:sym typeface="Noto Sans"/>
              </a:rPr>
              <a:t> của log</a:t>
            </a:r>
            <a:r>
              <a:rPr lang="en-US" sz="2264" strike="noStrike" u="none">
                <a:solidFill>
                  <a:srgbClr val="000000">
                    <a:alpha val="80000"/>
                  </a:srgbClr>
                </a:solidFill>
                <a:latin typeface="Noto Sans"/>
                <a:ea typeface="Noto Sans"/>
                <a:cs typeface="Noto Sans"/>
                <a:sym typeface="Noto Sans"/>
              </a:rPr>
              <a:t>is</a:t>
            </a:r>
            <a:r>
              <a:rPr lang="en-US" sz="2264" strike="noStrike" u="none">
                <a:solidFill>
                  <a:srgbClr val="000000">
                    <a:alpha val="80000"/>
                  </a:srgbClr>
                </a:solidFill>
                <a:latin typeface="Noto Sans"/>
                <a:ea typeface="Noto Sans"/>
                <a:cs typeface="Noto Sans"/>
                <a:sym typeface="Noto Sans"/>
              </a:rPr>
              <a:t>ti</a:t>
            </a:r>
            <a:r>
              <a:rPr lang="en-US" sz="2264" strike="noStrike" u="none">
                <a:solidFill>
                  <a:srgbClr val="000000">
                    <a:alpha val="80000"/>
                  </a:srgbClr>
                </a:solidFill>
                <a:latin typeface="Noto Sans"/>
                <a:ea typeface="Noto Sans"/>
                <a:cs typeface="Noto Sans"/>
                <a:sym typeface="Noto Sans"/>
              </a:rPr>
              <a:t>c</a:t>
            </a:r>
            <a:r>
              <a:rPr lang="en-US" sz="2264" strike="noStrike" u="none">
                <a:solidFill>
                  <a:srgbClr val="000000">
                    <a:alpha val="80000"/>
                  </a:srgbClr>
                </a:solidFill>
                <a:latin typeface="Noto Sans"/>
                <a:ea typeface="Noto Sans"/>
                <a:cs typeface="Noto Sans"/>
                <a:sym typeface="Noto Sans"/>
              </a:rPr>
              <a:t> regress</a:t>
            </a:r>
            <a:r>
              <a:rPr lang="en-US" sz="2264" strike="noStrike" u="none">
                <a:solidFill>
                  <a:srgbClr val="000000">
                    <a:alpha val="80000"/>
                  </a:srgbClr>
                </a:solidFill>
                <a:latin typeface="Noto Sans"/>
                <a:ea typeface="Noto Sans"/>
                <a:cs typeface="Noto Sans"/>
                <a:sym typeface="Noto Sans"/>
              </a:rPr>
              <a:t>i</a:t>
            </a:r>
            <a:r>
              <a:rPr lang="en-US" sz="2264" strike="noStrike" u="none">
                <a:solidFill>
                  <a:srgbClr val="000000">
                    <a:alpha val="80000"/>
                  </a:srgbClr>
                </a:solidFill>
                <a:latin typeface="Noto Sans"/>
                <a:ea typeface="Noto Sans"/>
                <a:cs typeface="Noto Sans"/>
                <a:sym typeface="Noto Sans"/>
              </a:rPr>
              <a:t>o</a:t>
            </a:r>
            <a:r>
              <a:rPr lang="en-US" sz="2264" strike="noStrike" u="none">
                <a:solidFill>
                  <a:srgbClr val="000000">
                    <a:alpha val="80000"/>
                  </a:srgbClr>
                </a:solidFill>
                <a:latin typeface="Noto Sans"/>
                <a:ea typeface="Noto Sans"/>
                <a:cs typeface="Noto Sans"/>
                <a:sym typeface="Noto Sans"/>
              </a:rPr>
              <a:t>n l</a:t>
            </a:r>
            <a:r>
              <a:rPr lang="en-US" sz="2264" strike="noStrike" u="none">
                <a:solidFill>
                  <a:srgbClr val="000000">
                    <a:alpha val="80000"/>
                  </a:srgbClr>
                </a:solidFill>
                <a:latin typeface="Noto Sans"/>
                <a:ea typeface="Noto Sans"/>
                <a:cs typeface="Noto Sans"/>
                <a:sym typeface="Noto Sans"/>
              </a:rPr>
              <a:t>ạ</a:t>
            </a:r>
            <a:r>
              <a:rPr lang="en-US" sz="2264" strike="noStrike" u="none">
                <a:solidFill>
                  <a:srgbClr val="000000">
                    <a:alpha val="80000"/>
                  </a:srgbClr>
                </a:solidFill>
                <a:latin typeface="Noto Sans"/>
                <a:ea typeface="Noto Sans"/>
                <a:cs typeface="Noto Sans"/>
                <a:sym typeface="Noto Sans"/>
              </a:rPr>
              <a:t>i</a:t>
            </a:r>
            <a:r>
              <a:rPr lang="en-US" sz="2264" strike="noStrike" u="none">
                <a:solidFill>
                  <a:srgbClr val="000000">
                    <a:alpha val="80000"/>
                  </a:srgbClr>
                </a:solidFill>
                <a:latin typeface="Noto Sans"/>
                <a:ea typeface="Noto Sans"/>
                <a:cs typeface="Noto Sans"/>
                <a:sym typeface="Noto Sans"/>
              </a:rPr>
              <a:t> chính là nền </a:t>
            </a:r>
            <a:r>
              <a:rPr lang="en-US" sz="2264" strike="noStrike" u="none">
                <a:solidFill>
                  <a:srgbClr val="000000">
                    <a:alpha val="80000"/>
                  </a:srgbClr>
                </a:solidFill>
                <a:latin typeface="Noto Sans"/>
                <a:ea typeface="Noto Sans"/>
                <a:cs typeface="Noto Sans"/>
                <a:sym typeface="Noto Sans"/>
              </a:rPr>
              <a:t>t</a:t>
            </a:r>
            <a:r>
              <a:rPr lang="en-US" sz="2264" strike="noStrike" u="none">
                <a:solidFill>
                  <a:srgbClr val="000000">
                    <a:alpha val="80000"/>
                  </a:srgbClr>
                </a:solidFill>
                <a:latin typeface="Noto Sans"/>
                <a:ea typeface="Noto Sans"/>
                <a:cs typeface="Noto Sans"/>
                <a:sym typeface="Noto Sans"/>
              </a:rPr>
              <a:t>ảng</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cho hầu</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hế</a:t>
            </a:r>
            <a:r>
              <a:rPr lang="en-US" sz="2264" strike="noStrike" u="none">
                <a:solidFill>
                  <a:srgbClr val="000000">
                    <a:alpha val="80000"/>
                  </a:srgbClr>
                </a:solidFill>
                <a:latin typeface="Noto Sans"/>
                <a:ea typeface="Noto Sans"/>
                <a:cs typeface="Noto Sans"/>
                <a:sym typeface="Noto Sans"/>
              </a:rPr>
              <a:t>t </a:t>
            </a:r>
            <a:r>
              <a:rPr lang="en-US" sz="2264" strike="noStrike" u="none">
                <a:solidFill>
                  <a:srgbClr val="000000">
                    <a:alpha val="80000"/>
                  </a:srgbClr>
                </a:solidFill>
                <a:latin typeface="Noto Sans"/>
                <a:ea typeface="Noto Sans"/>
                <a:cs typeface="Noto Sans"/>
                <a:sym typeface="Noto Sans"/>
              </a:rPr>
              <a:t>các mô hình học </a:t>
            </a:r>
            <a:r>
              <a:rPr lang="en-US" sz="2264" strike="noStrike" u="none">
                <a:solidFill>
                  <a:srgbClr val="000000">
                    <a:alpha val="80000"/>
                  </a:srgbClr>
                </a:solidFill>
                <a:latin typeface="Noto Sans"/>
                <a:ea typeface="Noto Sans"/>
                <a:cs typeface="Noto Sans"/>
                <a:sym typeface="Noto Sans"/>
              </a:rPr>
              <a:t>s</a:t>
            </a:r>
            <a:r>
              <a:rPr lang="en-US" sz="2264" strike="noStrike" u="none">
                <a:solidFill>
                  <a:srgbClr val="000000">
                    <a:alpha val="80000"/>
                  </a:srgbClr>
                </a:solidFill>
                <a:latin typeface="Noto Sans"/>
                <a:ea typeface="Noto Sans"/>
                <a:cs typeface="Noto Sans"/>
                <a:sym typeface="Noto Sans"/>
              </a:rPr>
              <a:t>â</a:t>
            </a:r>
            <a:r>
              <a:rPr lang="en-US" sz="2264" strike="noStrike" u="none">
                <a:solidFill>
                  <a:srgbClr val="000000">
                    <a:alpha val="80000"/>
                  </a:srgbClr>
                </a:solidFill>
                <a:latin typeface="Noto Sans"/>
                <a:ea typeface="Noto Sans"/>
                <a:cs typeface="Noto Sans"/>
                <a:sym typeface="Noto Sans"/>
              </a:rPr>
              <a:t>u</a:t>
            </a:r>
            <a:r>
              <a:rPr lang="en-US" sz="2264" strike="noStrike" u="none">
                <a:solidFill>
                  <a:srgbClr val="000000">
                    <a:alpha val="80000"/>
                  </a:srgbClr>
                </a:solidFill>
                <a:latin typeface="Noto Sans"/>
                <a:ea typeface="Noto Sans"/>
                <a:cs typeface="Noto Sans"/>
                <a:sym typeface="Noto Sans"/>
              </a:rPr>
              <a:t> ngày</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n</a:t>
            </a:r>
            <a:r>
              <a:rPr lang="en-US" sz="2264" strike="noStrike" u="none">
                <a:solidFill>
                  <a:srgbClr val="000000">
                    <a:alpha val="80000"/>
                  </a:srgbClr>
                </a:solidFill>
                <a:latin typeface="Noto Sans"/>
                <a:ea typeface="Noto Sans"/>
                <a:cs typeface="Noto Sans"/>
                <a:sym typeface="Noto Sans"/>
              </a:rPr>
              <a:t>a</a:t>
            </a:r>
            <a:r>
              <a:rPr lang="en-US" sz="2264" strike="noStrike" u="none">
                <a:solidFill>
                  <a:srgbClr val="000000">
                    <a:alpha val="80000"/>
                  </a:srgbClr>
                </a:solidFill>
                <a:latin typeface="Noto Sans"/>
                <a:ea typeface="Noto Sans"/>
                <a:cs typeface="Noto Sans"/>
                <a:sym typeface="Noto Sans"/>
              </a:rPr>
              <a:t>y.</a:t>
            </a:r>
          </a:p>
          <a:p>
            <a:pPr algn="l" marL="0" indent="0" lvl="0">
              <a:lnSpc>
                <a:spcPts val="3850"/>
              </a:lnSpc>
              <a:spcBef>
                <a:spcPct val="0"/>
              </a:spcBef>
            </a:pPr>
            <a:r>
              <a:rPr lang="en-US" sz="2264" strike="noStrike" u="none">
                <a:solidFill>
                  <a:srgbClr val="000000">
                    <a:alpha val="80000"/>
                  </a:srgbClr>
                </a:solidFill>
                <a:latin typeface="Noto Sans"/>
                <a:ea typeface="Noto Sans"/>
                <a:cs typeface="Noto Sans"/>
                <a:sym typeface="Noto Sans"/>
              </a:rPr>
              <a:t>Trong proj</a:t>
            </a:r>
            <a:r>
              <a:rPr lang="en-US" sz="2264" strike="noStrike" u="none">
                <a:solidFill>
                  <a:srgbClr val="000000">
                    <a:alpha val="80000"/>
                  </a:srgbClr>
                </a:solidFill>
                <a:latin typeface="Noto Sans"/>
                <a:ea typeface="Noto Sans"/>
                <a:cs typeface="Noto Sans"/>
                <a:sym typeface="Noto Sans"/>
              </a:rPr>
              <a:t>e</a:t>
            </a:r>
            <a:r>
              <a:rPr lang="en-US" sz="2264" strike="noStrike" u="none">
                <a:solidFill>
                  <a:srgbClr val="000000">
                    <a:alpha val="80000"/>
                  </a:srgbClr>
                </a:solidFill>
                <a:latin typeface="Noto Sans"/>
                <a:ea typeface="Noto Sans"/>
                <a:cs typeface="Noto Sans"/>
                <a:sym typeface="Noto Sans"/>
              </a:rPr>
              <a:t>ct này, tôi xây dựng</a:t>
            </a:r>
            <a:r>
              <a:rPr lang="en-US" sz="2264" strike="noStrike" u="none">
                <a:solidFill>
                  <a:srgbClr val="000000">
                    <a:alpha val="80000"/>
                  </a:srgbClr>
                </a:solidFill>
                <a:latin typeface="Noto Sans"/>
                <a:ea typeface="Noto Sans"/>
                <a:cs typeface="Noto Sans"/>
                <a:sym typeface="Noto Sans"/>
              </a:rPr>
              <a:t> </a:t>
            </a:r>
            <a:r>
              <a:rPr lang="en-US" b="true" sz="2264" strike="noStrike" u="none">
                <a:solidFill>
                  <a:srgbClr val="000000">
                    <a:alpha val="80000"/>
                  </a:srgbClr>
                </a:solidFill>
                <a:latin typeface="Noto Sans Bold"/>
                <a:ea typeface="Noto Sans Bold"/>
                <a:cs typeface="Noto Sans Bold"/>
                <a:sym typeface="Noto Sans Bold"/>
              </a:rPr>
              <a:t>l</a:t>
            </a:r>
            <a:r>
              <a:rPr lang="en-US" b="true" sz="2264" strike="noStrike" u="none">
                <a:solidFill>
                  <a:srgbClr val="000000">
                    <a:alpha val="80000"/>
                  </a:srgbClr>
                </a:solidFill>
                <a:latin typeface="Noto Sans Bold"/>
                <a:ea typeface="Noto Sans Bold"/>
                <a:cs typeface="Noto Sans Bold"/>
                <a:sym typeface="Noto Sans Bold"/>
              </a:rPr>
              <a:t>ogisti</a:t>
            </a:r>
            <a:r>
              <a:rPr lang="en-US" b="true" sz="2264" strike="noStrike" u="none">
                <a:solidFill>
                  <a:srgbClr val="000000">
                    <a:alpha val="80000"/>
                  </a:srgbClr>
                </a:solidFill>
                <a:latin typeface="Noto Sans Bold"/>
                <a:ea typeface="Noto Sans Bold"/>
                <a:cs typeface="Noto Sans Bold"/>
                <a:sym typeface="Noto Sans Bold"/>
              </a:rPr>
              <a:t>c</a:t>
            </a:r>
            <a:r>
              <a:rPr lang="en-US" b="true" sz="2264" strike="noStrike" u="none">
                <a:solidFill>
                  <a:srgbClr val="000000">
                    <a:alpha val="80000"/>
                  </a:srgbClr>
                </a:solidFill>
                <a:latin typeface="Noto Sans Bold"/>
                <a:ea typeface="Noto Sans Bold"/>
                <a:cs typeface="Noto Sans Bold"/>
                <a:sym typeface="Noto Sans Bold"/>
              </a:rPr>
              <a:t> regre</a:t>
            </a:r>
            <a:r>
              <a:rPr lang="en-US" b="true" sz="2264" strike="noStrike" u="none">
                <a:solidFill>
                  <a:srgbClr val="000000">
                    <a:alpha val="80000"/>
                  </a:srgbClr>
                </a:solidFill>
                <a:latin typeface="Noto Sans Bold"/>
                <a:ea typeface="Noto Sans Bold"/>
                <a:cs typeface="Noto Sans Bold"/>
                <a:sym typeface="Noto Sans Bold"/>
              </a:rPr>
              <a:t>s</a:t>
            </a:r>
            <a:r>
              <a:rPr lang="en-US" b="true" sz="2264" strike="noStrike" u="none">
                <a:solidFill>
                  <a:srgbClr val="000000">
                    <a:alpha val="80000"/>
                  </a:srgbClr>
                </a:solidFill>
                <a:latin typeface="Noto Sans Bold"/>
                <a:ea typeface="Noto Sans Bold"/>
                <a:cs typeface="Noto Sans Bold"/>
                <a:sym typeface="Noto Sans Bold"/>
              </a:rPr>
              <a:t>sion</a:t>
            </a:r>
            <a:r>
              <a:rPr lang="en-US" b="true" sz="2264" strike="noStrike" u="none">
                <a:solidFill>
                  <a:srgbClr val="000000">
                    <a:alpha val="80000"/>
                  </a:srgbClr>
                </a:solidFill>
                <a:latin typeface="Noto Sans Bold"/>
                <a:ea typeface="Noto Sans Bold"/>
                <a:cs typeface="Noto Sans Bold"/>
                <a:sym typeface="Noto Sans Bold"/>
              </a:rPr>
              <a:t> </a:t>
            </a:r>
            <a:r>
              <a:rPr lang="en-US" b="true" sz="2264" strike="noStrike" u="none">
                <a:solidFill>
                  <a:srgbClr val="000000">
                    <a:alpha val="80000"/>
                  </a:srgbClr>
                </a:solidFill>
                <a:latin typeface="Noto Sans Bold"/>
                <a:ea typeface="Noto Sans Bold"/>
                <a:cs typeface="Noto Sans Bold"/>
                <a:sym typeface="Noto Sans Bold"/>
              </a:rPr>
              <a:t>h</a:t>
            </a:r>
            <a:r>
              <a:rPr lang="en-US" b="true" sz="2264" strike="noStrike" u="none">
                <a:solidFill>
                  <a:srgbClr val="000000">
                    <a:alpha val="80000"/>
                  </a:srgbClr>
                </a:solidFill>
                <a:latin typeface="Noto Sans Bold"/>
                <a:ea typeface="Noto Sans Bold"/>
                <a:cs typeface="Noto Sans Bold"/>
                <a:sym typeface="Noto Sans Bold"/>
              </a:rPr>
              <a:t>o</a:t>
            </a:r>
            <a:r>
              <a:rPr lang="en-US" b="true" sz="2264" strike="noStrike" u="none">
                <a:solidFill>
                  <a:srgbClr val="000000">
                    <a:alpha val="80000"/>
                  </a:srgbClr>
                </a:solidFill>
                <a:latin typeface="Noto Sans Bold"/>
                <a:ea typeface="Noto Sans Bold"/>
                <a:cs typeface="Noto Sans Bold"/>
                <a:sym typeface="Noto Sans Bold"/>
              </a:rPr>
              <a:t>àn t</a:t>
            </a:r>
            <a:r>
              <a:rPr lang="en-US" b="true" sz="2264" strike="noStrike" u="none">
                <a:solidFill>
                  <a:srgbClr val="000000">
                    <a:alpha val="80000"/>
                  </a:srgbClr>
                </a:solidFill>
                <a:latin typeface="Noto Sans Bold"/>
                <a:ea typeface="Noto Sans Bold"/>
                <a:cs typeface="Noto Sans Bold"/>
                <a:sym typeface="Noto Sans Bold"/>
              </a:rPr>
              <a:t>o</a:t>
            </a:r>
            <a:r>
              <a:rPr lang="en-US" b="true" sz="2264" strike="noStrike" u="none">
                <a:solidFill>
                  <a:srgbClr val="000000">
                    <a:alpha val="80000"/>
                  </a:srgbClr>
                </a:solidFill>
                <a:latin typeface="Noto Sans Bold"/>
                <a:ea typeface="Noto Sans Bold"/>
                <a:cs typeface="Noto Sans Bold"/>
                <a:sym typeface="Noto Sans Bold"/>
              </a:rPr>
              <a:t>àn </a:t>
            </a:r>
            <a:r>
              <a:rPr lang="en-US" b="true" sz="2264" strike="noStrike" u="none">
                <a:solidFill>
                  <a:srgbClr val="000000">
                    <a:alpha val="80000"/>
                  </a:srgbClr>
                </a:solidFill>
                <a:latin typeface="Noto Sans Bold"/>
                <a:ea typeface="Noto Sans Bold"/>
                <a:cs typeface="Noto Sans Bold"/>
                <a:sym typeface="Noto Sans Bold"/>
              </a:rPr>
              <a:t>t</a:t>
            </a:r>
            <a:r>
              <a:rPr lang="en-US" b="true" sz="2264" strike="noStrike" u="none">
                <a:solidFill>
                  <a:srgbClr val="000000">
                    <a:alpha val="80000"/>
                  </a:srgbClr>
                </a:solidFill>
                <a:latin typeface="Noto Sans Bold"/>
                <a:ea typeface="Noto Sans Bold"/>
                <a:cs typeface="Noto Sans Bold"/>
                <a:sym typeface="Noto Sans Bold"/>
              </a:rPr>
              <a:t>ừ</a:t>
            </a:r>
            <a:r>
              <a:rPr lang="en-US" b="true" sz="2264" strike="noStrike" u="none">
                <a:solidFill>
                  <a:srgbClr val="000000">
                    <a:alpha val="80000"/>
                  </a:srgbClr>
                </a:solidFill>
                <a:latin typeface="Noto Sans Bold"/>
                <a:ea typeface="Noto Sans Bold"/>
                <a:cs typeface="Noto Sans Bold"/>
                <a:sym typeface="Noto Sans Bold"/>
              </a:rPr>
              <a:t> </a:t>
            </a:r>
            <a:r>
              <a:rPr lang="en-US" b="true" sz="2264" strike="noStrike" u="none">
                <a:solidFill>
                  <a:srgbClr val="000000">
                    <a:alpha val="80000"/>
                  </a:srgbClr>
                </a:solidFill>
                <a:latin typeface="Noto Sans Bold"/>
                <a:ea typeface="Noto Sans Bold"/>
                <a:cs typeface="Noto Sans Bold"/>
                <a:sym typeface="Noto Sans Bold"/>
              </a:rPr>
              <a:t>đầu</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c</a:t>
            </a:r>
            <a:r>
              <a:rPr lang="en-US" sz="2264" strike="noStrike" u="none">
                <a:solidFill>
                  <a:srgbClr val="000000">
                    <a:alpha val="80000"/>
                  </a:srgbClr>
                </a:solidFill>
                <a:latin typeface="Noto Sans"/>
                <a:ea typeface="Noto Sans"/>
                <a:cs typeface="Noto Sans"/>
                <a:sym typeface="Noto Sans"/>
              </a:rPr>
              <a:t>hỉ sử dụ</a:t>
            </a:r>
            <a:r>
              <a:rPr lang="en-US" sz="2264" strike="noStrike" u="none">
                <a:solidFill>
                  <a:srgbClr val="000000">
                    <a:alpha val="80000"/>
                  </a:srgbClr>
                </a:solidFill>
                <a:latin typeface="Noto Sans"/>
                <a:ea typeface="Noto Sans"/>
                <a:cs typeface="Noto Sans"/>
                <a:sym typeface="Noto Sans"/>
              </a:rPr>
              <a:t>n</a:t>
            </a:r>
            <a:r>
              <a:rPr lang="en-US" sz="2264" strike="noStrike" u="none">
                <a:solidFill>
                  <a:srgbClr val="000000">
                    <a:alpha val="80000"/>
                  </a:srgbClr>
                </a:solidFill>
                <a:latin typeface="Noto Sans"/>
                <a:ea typeface="Noto Sans"/>
                <a:cs typeface="Noto Sans"/>
                <a:sym typeface="Noto Sans"/>
              </a:rPr>
              <a:t>g NumPy, vớ</a:t>
            </a:r>
            <a:r>
              <a:rPr lang="en-US" sz="2264" strike="noStrike" u="none">
                <a:solidFill>
                  <a:srgbClr val="000000">
                    <a:alpha val="80000"/>
                  </a:srgbClr>
                </a:solidFill>
                <a:latin typeface="Noto Sans"/>
                <a:ea typeface="Noto Sans"/>
                <a:cs typeface="Noto Sans"/>
                <a:sym typeface="Noto Sans"/>
              </a:rPr>
              <a:t>i </a:t>
            </a:r>
            <a:r>
              <a:rPr lang="en-US" sz="2264" strike="noStrike" u="none">
                <a:solidFill>
                  <a:srgbClr val="000000">
                    <a:alpha val="80000"/>
                  </a:srgbClr>
                </a:solidFill>
                <a:latin typeface="Noto Sans"/>
                <a:ea typeface="Noto Sans"/>
                <a:cs typeface="Noto Sans"/>
                <a:sym typeface="Noto Sans"/>
              </a:rPr>
              <a:t>mụ</a:t>
            </a:r>
            <a:r>
              <a:rPr lang="en-US" sz="2264" strike="noStrike" u="none">
                <a:solidFill>
                  <a:srgbClr val="000000">
                    <a:alpha val="80000"/>
                  </a:srgbClr>
                </a:solidFill>
                <a:latin typeface="Noto Sans"/>
                <a:ea typeface="Noto Sans"/>
                <a:cs typeface="Noto Sans"/>
                <a:sym typeface="Noto Sans"/>
              </a:rPr>
              <a:t>c ti</a:t>
            </a:r>
            <a:r>
              <a:rPr lang="en-US" sz="2264" strike="noStrike" u="none">
                <a:solidFill>
                  <a:srgbClr val="000000">
                    <a:alpha val="80000"/>
                  </a:srgbClr>
                </a:solidFill>
                <a:latin typeface="Noto Sans"/>
                <a:ea typeface="Noto Sans"/>
                <a:cs typeface="Noto Sans"/>
                <a:sym typeface="Noto Sans"/>
              </a:rPr>
              <a:t>êu:</a:t>
            </a:r>
          </a:p>
          <a:p>
            <a:pPr algn="l" marL="488991" indent="-244495" lvl="1">
              <a:lnSpc>
                <a:spcPts val="3850"/>
              </a:lnSpc>
              <a:spcBef>
                <a:spcPct val="0"/>
              </a:spcBef>
              <a:buFont typeface="Arial"/>
              <a:buChar char="•"/>
            </a:pPr>
            <a:r>
              <a:rPr lang="en-US" sz="2264" strike="noStrike" u="none">
                <a:solidFill>
                  <a:srgbClr val="000000">
                    <a:alpha val="80000"/>
                  </a:srgbClr>
                </a:solidFill>
                <a:latin typeface="Noto Sans"/>
                <a:ea typeface="Noto Sans"/>
                <a:cs typeface="Noto Sans"/>
                <a:sym typeface="Noto Sans"/>
              </a:rPr>
              <a:t>H</a:t>
            </a:r>
            <a:r>
              <a:rPr lang="en-US" sz="2264" strike="noStrike" u="none">
                <a:solidFill>
                  <a:srgbClr val="000000">
                    <a:alpha val="80000"/>
                  </a:srgbClr>
                </a:solidFill>
                <a:latin typeface="Noto Sans"/>
                <a:ea typeface="Noto Sans"/>
                <a:cs typeface="Noto Sans"/>
                <a:sym typeface="Noto Sans"/>
              </a:rPr>
              <a:t>i</a:t>
            </a:r>
            <a:r>
              <a:rPr lang="en-US" sz="2264" strike="noStrike" u="none">
                <a:solidFill>
                  <a:srgbClr val="000000">
                    <a:alpha val="80000"/>
                  </a:srgbClr>
                </a:solidFill>
                <a:latin typeface="Noto Sans"/>
                <a:ea typeface="Noto Sans"/>
                <a:cs typeface="Noto Sans"/>
                <a:sym typeface="Noto Sans"/>
              </a:rPr>
              <a:t>ể</a:t>
            </a:r>
            <a:r>
              <a:rPr lang="en-US" sz="2264" strike="noStrike" u="none">
                <a:solidFill>
                  <a:srgbClr val="000000">
                    <a:alpha val="80000"/>
                  </a:srgbClr>
                </a:solidFill>
                <a:latin typeface="Noto Sans"/>
                <a:ea typeface="Noto Sans"/>
                <a:cs typeface="Noto Sans"/>
                <a:sym typeface="Noto Sans"/>
              </a:rPr>
              <a:t>u r</a:t>
            </a:r>
            <a:r>
              <a:rPr lang="en-US" sz="2264" strike="noStrike" u="none">
                <a:solidFill>
                  <a:srgbClr val="000000">
                    <a:alpha val="80000"/>
                  </a:srgbClr>
                </a:solidFill>
                <a:latin typeface="Noto Sans"/>
                <a:ea typeface="Noto Sans"/>
                <a:cs typeface="Noto Sans"/>
                <a:sym typeface="Noto Sans"/>
              </a:rPr>
              <a:t>õ</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vì </a:t>
            </a:r>
            <a:r>
              <a:rPr lang="en-US" sz="2264" strike="noStrike" u="none">
                <a:solidFill>
                  <a:srgbClr val="000000">
                    <a:alpha val="80000"/>
                  </a:srgbClr>
                </a:solidFill>
                <a:latin typeface="Noto Sans"/>
                <a:ea typeface="Noto Sans"/>
                <a:cs typeface="Noto Sans"/>
                <a:sym typeface="Noto Sans"/>
              </a:rPr>
              <a:t>sa</a:t>
            </a:r>
            <a:r>
              <a:rPr lang="en-US" sz="2264" strike="noStrike" u="none">
                <a:solidFill>
                  <a:srgbClr val="000000">
                    <a:alpha val="80000"/>
                  </a:srgbClr>
                </a:solidFill>
                <a:latin typeface="Noto Sans"/>
                <a:ea typeface="Noto Sans"/>
                <a:cs typeface="Noto Sans"/>
                <a:sym typeface="Noto Sans"/>
              </a:rPr>
              <a:t>o gradient có dạng</a:t>
            </a:r>
            <a:r>
              <a:rPr lang="en-US" b="true" sz="2264" strike="noStrike" u="none">
                <a:solidFill>
                  <a:srgbClr val="000000">
                    <a:alpha val="80000"/>
                  </a:srgbClr>
                </a:solidFill>
                <a:latin typeface="Noto Sans Bold"/>
                <a:ea typeface="Noto Sans Bold"/>
                <a:cs typeface="Noto Sans Bold"/>
                <a:sym typeface="Noto Sans Bold"/>
              </a:rPr>
              <a:t> Xᵀ(p − y)</a:t>
            </a:r>
          </a:p>
          <a:p>
            <a:pPr algn="l" marL="488991" indent="-244495" lvl="1">
              <a:lnSpc>
                <a:spcPts val="3850"/>
              </a:lnSpc>
              <a:spcBef>
                <a:spcPct val="0"/>
              </a:spcBef>
              <a:buFont typeface="Arial"/>
              <a:buChar char="•"/>
            </a:pPr>
            <a:r>
              <a:rPr lang="en-US" sz="2264" strike="noStrike" u="none">
                <a:solidFill>
                  <a:srgbClr val="000000">
                    <a:alpha val="80000"/>
                  </a:srgbClr>
                </a:solidFill>
                <a:latin typeface="Noto Sans"/>
                <a:ea typeface="Noto Sans"/>
                <a:cs typeface="Noto Sans"/>
                <a:sym typeface="Noto Sans"/>
              </a:rPr>
              <a:t>Qu</a:t>
            </a:r>
            <a:r>
              <a:rPr lang="en-US" sz="2264" strike="noStrike" u="none">
                <a:solidFill>
                  <a:srgbClr val="000000">
                    <a:alpha val="80000"/>
                  </a:srgbClr>
                </a:solidFill>
                <a:latin typeface="Noto Sans"/>
                <a:ea typeface="Noto Sans"/>
                <a:cs typeface="Noto Sans"/>
                <a:sym typeface="Noto Sans"/>
              </a:rPr>
              <a:t>a</a:t>
            </a:r>
            <a:r>
              <a:rPr lang="en-US" sz="2264" strike="noStrike" u="none">
                <a:solidFill>
                  <a:srgbClr val="000000">
                    <a:alpha val="80000"/>
                  </a:srgbClr>
                </a:solidFill>
                <a:latin typeface="Noto Sans"/>
                <a:ea typeface="Noto Sans"/>
                <a:cs typeface="Noto Sans"/>
                <a:sym typeface="Noto Sans"/>
              </a:rPr>
              <a:t>n sá</a:t>
            </a:r>
            <a:r>
              <a:rPr lang="en-US" sz="2264" strike="noStrike" u="none">
                <a:solidFill>
                  <a:srgbClr val="000000">
                    <a:alpha val="80000"/>
                  </a:srgbClr>
                </a:solidFill>
                <a:latin typeface="Noto Sans"/>
                <a:ea typeface="Noto Sans"/>
                <a:cs typeface="Noto Sans"/>
                <a:sym typeface="Noto Sans"/>
              </a:rPr>
              <a:t>t </a:t>
            </a:r>
            <a:r>
              <a:rPr lang="en-US" sz="2264" strike="noStrike" u="none">
                <a:solidFill>
                  <a:srgbClr val="000000">
                    <a:alpha val="80000"/>
                  </a:srgbClr>
                </a:solidFill>
                <a:latin typeface="Noto Sans"/>
                <a:ea typeface="Noto Sans"/>
                <a:cs typeface="Noto Sans"/>
                <a:sym typeface="Noto Sans"/>
              </a:rPr>
              <a:t>trực tiế</a:t>
            </a:r>
            <a:r>
              <a:rPr lang="en-US" sz="2264" strike="noStrike" u="none">
                <a:solidFill>
                  <a:srgbClr val="000000">
                    <a:alpha val="80000"/>
                  </a:srgbClr>
                </a:solidFill>
                <a:latin typeface="Noto Sans"/>
                <a:ea typeface="Noto Sans"/>
                <a:cs typeface="Noto Sans"/>
                <a:sym typeface="Noto Sans"/>
              </a:rPr>
              <a:t>p</a:t>
            </a:r>
            <a:r>
              <a:rPr lang="en-US" sz="2264" strike="noStrike" u="none">
                <a:solidFill>
                  <a:srgbClr val="000000">
                    <a:alpha val="80000"/>
                  </a:srgbClr>
                </a:solidFill>
                <a:latin typeface="Noto Sans"/>
                <a:ea typeface="Noto Sans"/>
                <a:cs typeface="Noto Sans"/>
                <a:sym typeface="Noto Sans"/>
              </a:rPr>
              <a:t> </a:t>
            </a:r>
            <a:r>
              <a:rPr lang="en-US" b="true" sz="2264" strike="noStrike" u="none">
                <a:solidFill>
                  <a:srgbClr val="000000">
                    <a:alpha val="80000"/>
                  </a:srgbClr>
                </a:solidFill>
                <a:latin typeface="Noto Sans Bold"/>
                <a:ea typeface="Noto Sans Bold"/>
                <a:cs typeface="Noto Sans Bold"/>
                <a:sym typeface="Noto Sans Bold"/>
              </a:rPr>
              <a:t>c</a:t>
            </a:r>
            <a:r>
              <a:rPr lang="en-US" b="true" sz="2264" strike="noStrike" u="none">
                <a:solidFill>
                  <a:srgbClr val="000000">
                    <a:alpha val="80000"/>
                  </a:srgbClr>
                </a:solidFill>
                <a:latin typeface="Noto Sans Bold"/>
                <a:ea typeface="Noto Sans Bold"/>
                <a:cs typeface="Noto Sans Bold"/>
                <a:sym typeface="Noto Sans Bold"/>
              </a:rPr>
              <a:t>ha</a:t>
            </a:r>
            <a:r>
              <a:rPr lang="en-US" b="true" sz="2264" strike="noStrike" u="none">
                <a:solidFill>
                  <a:srgbClr val="000000">
                    <a:alpha val="80000"/>
                  </a:srgbClr>
                </a:solidFill>
                <a:latin typeface="Noto Sans Bold"/>
                <a:ea typeface="Noto Sans Bold"/>
                <a:cs typeface="Noto Sans Bold"/>
                <a:sym typeface="Noto Sans Bold"/>
              </a:rPr>
              <a:t>in </a:t>
            </a:r>
            <a:r>
              <a:rPr lang="en-US" b="true" sz="2264" strike="noStrike" u="none">
                <a:solidFill>
                  <a:srgbClr val="000000">
                    <a:alpha val="80000"/>
                  </a:srgbClr>
                </a:solidFill>
                <a:latin typeface="Noto Sans Bold"/>
                <a:ea typeface="Noto Sans Bold"/>
                <a:cs typeface="Noto Sans Bold"/>
                <a:sym typeface="Noto Sans Bold"/>
              </a:rPr>
              <a:t>r</a:t>
            </a:r>
            <a:r>
              <a:rPr lang="en-US" b="true" sz="2264" strike="noStrike" u="none">
                <a:solidFill>
                  <a:srgbClr val="000000">
                    <a:alpha val="80000"/>
                  </a:srgbClr>
                </a:solidFill>
                <a:latin typeface="Noto Sans Bold"/>
                <a:ea typeface="Noto Sans Bold"/>
                <a:cs typeface="Noto Sans Bold"/>
                <a:sym typeface="Noto Sans Bold"/>
              </a:rPr>
              <a:t>ul</a:t>
            </a:r>
            <a:r>
              <a:rPr lang="en-US" b="true" sz="2264" strike="noStrike" u="none">
                <a:solidFill>
                  <a:srgbClr val="000000">
                    <a:alpha val="80000"/>
                  </a:srgbClr>
                </a:solidFill>
                <a:latin typeface="Noto Sans Bold"/>
                <a:ea typeface="Noto Sans Bold"/>
                <a:cs typeface="Noto Sans Bold"/>
                <a:sym typeface="Noto Sans Bold"/>
              </a:rPr>
              <a:t>e</a:t>
            </a:r>
            <a:r>
              <a:rPr lang="en-US" sz="2264" strike="noStrike" u="none">
                <a:solidFill>
                  <a:srgbClr val="000000">
                    <a:alpha val="80000"/>
                  </a:srgbClr>
                </a:solidFill>
                <a:latin typeface="Noto Sans"/>
                <a:ea typeface="Noto Sans"/>
                <a:cs typeface="Noto Sans"/>
                <a:sym typeface="Noto Sans"/>
              </a:rPr>
              <a:t> dưới dạng m</a:t>
            </a:r>
            <a:r>
              <a:rPr lang="en-US" sz="2264" strike="noStrike" u="none">
                <a:solidFill>
                  <a:srgbClr val="000000">
                    <a:alpha val="80000"/>
                  </a:srgbClr>
                </a:solidFill>
                <a:latin typeface="Noto Sans"/>
                <a:ea typeface="Noto Sans"/>
                <a:cs typeface="Noto Sans"/>
                <a:sym typeface="Noto Sans"/>
              </a:rPr>
              <a:t>a tr</a:t>
            </a:r>
            <a:r>
              <a:rPr lang="en-US" sz="2264" strike="noStrike" u="none">
                <a:solidFill>
                  <a:srgbClr val="000000">
                    <a:alpha val="80000"/>
                  </a:srgbClr>
                </a:solidFill>
                <a:latin typeface="Noto Sans"/>
                <a:ea typeface="Noto Sans"/>
                <a:cs typeface="Noto Sans"/>
                <a:sym typeface="Noto Sans"/>
              </a:rPr>
              <a:t>ận</a:t>
            </a:r>
          </a:p>
          <a:p>
            <a:pPr algn="l" marL="488991" indent="-244495" lvl="1">
              <a:lnSpc>
                <a:spcPts val="3850"/>
              </a:lnSpc>
              <a:spcBef>
                <a:spcPct val="0"/>
              </a:spcBef>
              <a:buFont typeface="Arial"/>
              <a:buChar char="•"/>
            </a:pPr>
            <a:r>
              <a:rPr lang="en-US" sz="2264" strike="noStrike" u="none">
                <a:solidFill>
                  <a:srgbClr val="000000">
                    <a:alpha val="80000"/>
                  </a:srgbClr>
                </a:solidFill>
                <a:latin typeface="Noto Sans"/>
                <a:ea typeface="Noto Sans"/>
                <a:cs typeface="Noto Sans"/>
                <a:sym typeface="Noto Sans"/>
              </a:rPr>
              <a:t>Tránh hoàn </a:t>
            </a:r>
            <a:r>
              <a:rPr lang="en-US" sz="2264" strike="noStrike" u="none">
                <a:solidFill>
                  <a:srgbClr val="000000">
                    <a:alpha val="80000"/>
                  </a:srgbClr>
                </a:solidFill>
                <a:latin typeface="Noto Sans"/>
                <a:ea typeface="Noto Sans"/>
                <a:cs typeface="Noto Sans"/>
                <a:sym typeface="Noto Sans"/>
              </a:rPr>
              <a:t>to</a:t>
            </a:r>
            <a:r>
              <a:rPr lang="en-US" sz="2264" strike="noStrike" u="none">
                <a:solidFill>
                  <a:srgbClr val="000000">
                    <a:alpha val="80000"/>
                  </a:srgbClr>
                </a:solidFill>
                <a:latin typeface="Noto Sans"/>
                <a:ea typeface="Noto Sans"/>
                <a:cs typeface="Noto Sans"/>
                <a:sym typeface="Noto Sans"/>
              </a:rPr>
              <a:t>àn</a:t>
            </a:r>
            <a:r>
              <a:rPr lang="en-US" sz="2264" strike="noStrike" u="none">
                <a:solidFill>
                  <a:srgbClr val="000000">
                    <a:alpha val="80000"/>
                  </a:srgbClr>
                </a:solidFill>
                <a:latin typeface="Noto Sans"/>
                <a:ea typeface="Noto Sans"/>
                <a:cs typeface="Noto Sans"/>
                <a:sym typeface="Noto Sans"/>
              </a:rPr>
              <a:t> a</a:t>
            </a:r>
            <a:r>
              <a:rPr lang="en-US" sz="2264" strike="noStrike" u="none">
                <a:solidFill>
                  <a:srgbClr val="000000">
                    <a:alpha val="80000"/>
                  </a:srgbClr>
                </a:solidFill>
                <a:latin typeface="Noto Sans"/>
                <a:ea typeface="Noto Sans"/>
                <a:cs typeface="Noto Sans"/>
                <a:sym typeface="Noto Sans"/>
              </a:rPr>
              <a:t>u</a:t>
            </a:r>
            <a:r>
              <a:rPr lang="en-US" sz="2264" strike="noStrike" u="none">
                <a:solidFill>
                  <a:srgbClr val="000000">
                    <a:alpha val="80000"/>
                  </a:srgbClr>
                </a:solidFill>
                <a:latin typeface="Noto Sans"/>
                <a:ea typeface="Noto Sans"/>
                <a:cs typeface="Noto Sans"/>
                <a:sym typeface="Noto Sans"/>
              </a:rPr>
              <a:t>t</a:t>
            </a:r>
            <a:r>
              <a:rPr lang="en-US" sz="2264" strike="noStrike" u="none">
                <a:solidFill>
                  <a:srgbClr val="000000">
                    <a:alpha val="80000"/>
                  </a:srgbClr>
                </a:solidFill>
                <a:latin typeface="Noto Sans"/>
                <a:ea typeface="Noto Sans"/>
                <a:cs typeface="Noto Sans"/>
                <a:sym typeface="Noto Sans"/>
              </a:rPr>
              <a:t>odiff</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để khô</a:t>
            </a:r>
            <a:r>
              <a:rPr lang="en-US" sz="2264" strike="noStrike" u="none">
                <a:solidFill>
                  <a:srgbClr val="000000">
                    <a:alpha val="80000"/>
                  </a:srgbClr>
                </a:solidFill>
                <a:latin typeface="Noto Sans"/>
                <a:ea typeface="Noto Sans"/>
                <a:cs typeface="Noto Sans"/>
                <a:sym typeface="Noto Sans"/>
              </a:rPr>
              <a:t>n</a:t>
            </a:r>
            <a:r>
              <a:rPr lang="en-US" sz="2264" strike="noStrike" u="none">
                <a:solidFill>
                  <a:srgbClr val="000000">
                    <a:alpha val="80000"/>
                  </a:srgbClr>
                </a:solidFill>
                <a:latin typeface="Noto Sans"/>
                <a:ea typeface="Noto Sans"/>
                <a:cs typeface="Noto Sans"/>
                <a:sym typeface="Noto Sans"/>
              </a:rPr>
              <a:t>g có bước nà</a:t>
            </a:r>
            <a:r>
              <a:rPr lang="en-US" sz="2264" strike="noStrike" u="none">
                <a:solidFill>
                  <a:srgbClr val="000000">
                    <a:alpha val="80000"/>
                  </a:srgbClr>
                </a:solidFill>
                <a:latin typeface="Noto Sans"/>
                <a:ea typeface="Noto Sans"/>
                <a:cs typeface="Noto Sans"/>
                <a:sym typeface="Noto Sans"/>
              </a:rPr>
              <a:t>o</a:t>
            </a:r>
            <a:r>
              <a:rPr lang="en-US" sz="2264" strike="noStrike" u="none">
                <a:solidFill>
                  <a:srgbClr val="000000">
                    <a:alpha val="80000"/>
                  </a:srgbClr>
                </a:solidFill>
                <a:latin typeface="Noto Sans"/>
                <a:ea typeface="Noto Sans"/>
                <a:cs typeface="Noto Sans"/>
                <a:sym typeface="Noto Sans"/>
              </a:rPr>
              <a:t> bị “ẩ</a:t>
            </a:r>
            <a:r>
              <a:rPr lang="en-US" sz="2264" strike="noStrike" u="none">
                <a:solidFill>
                  <a:srgbClr val="000000">
                    <a:alpha val="80000"/>
                  </a:srgbClr>
                </a:solidFill>
                <a:latin typeface="Noto Sans"/>
                <a:ea typeface="Noto Sans"/>
                <a:cs typeface="Noto Sans"/>
                <a:sym typeface="Noto Sans"/>
              </a:rPr>
              <a:t>n</a:t>
            </a:r>
            <a:r>
              <a:rPr lang="en-US" sz="2264" strike="noStrike" u="none">
                <a:solidFill>
                  <a:srgbClr val="000000">
                    <a:alpha val="80000"/>
                  </a:srgbClr>
                </a:solidFill>
                <a:latin typeface="Noto Sans"/>
                <a:ea typeface="Noto Sans"/>
                <a:cs typeface="Noto Sans"/>
                <a:sym typeface="Noto Sans"/>
              </a:rPr>
              <a:t>”</a:t>
            </a:r>
          </a:p>
          <a:p>
            <a:pPr algn="l" marL="0" indent="0" lvl="0">
              <a:lnSpc>
                <a:spcPts val="3850"/>
              </a:lnSpc>
              <a:spcBef>
                <a:spcPct val="0"/>
              </a:spcBef>
            </a:pPr>
            <a:r>
              <a:rPr lang="en-US" sz="2264" strike="noStrike" u="none">
                <a:solidFill>
                  <a:srgbClr val="000000">
                    <a:alpha val="80000"/>
                  </a:srgbClr>
                </a:solidFill>
                <a:latin typeface="Noto Sans"/>
                <a:ea typeface="Noto Sans"/>
                <a:cs typeface="Noto Sans"/>
                <a:sym typeface="Noto Sans"/>
              </a:rPr>
              <a:t>Project</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không nhằm </a:t>
            </a:r>
            <a:r>
              <a:rPr lang="en-US" sz="2264" strike="noStrike" u="none">
                <a:solidFill>
                  <a:srgbClr val="000000">
                    <a:alpha val="80000"/>
                  </a:srgbClr>
                </a:solidFill>
                <a:latin typeface="Noto Sans"/>
                <a:ea typeface="Noto Sans"/>
                <a:cs typeface="Noto Sans"/>
                <a:sym typeface="Noto Sans"/>
              </a:rPr>
              <a:t>t</a:t>
            </a:r>
            <a:r>
              <a:rPr lang="en-US" sz="2264" strike="noStrike" u="none">
                <a:solidFill>
                  <a:srgbClr val="000000">
                    <a:alpha val="80000"/>
                  </a:srgbClr>
                </a:solidFill>
                <a:latin typeface="Noto Sans"/>
                <a:ea typeface="Noto Sans"/>
                <a:cs typeface="Noto Sans"/>
                <a:sym typeface="Noto Sans"/>
              </a:rPr>
              <a:t>ố</a:t>
            </a:r>
            <a:r>
              <a:rPr lang="en-US" sz="2264" strike="noStrike" u="none">
                <a:solidFill>
                  <a:srgbClr val="000000">
                    <a:alpha val="80000"/>
                  </a:srgbClr>
                </a:solidFill>
                <a:latin typeface="Noto Sans"/>
                <a:ea typeface="Noto Sans"/>
                <a:cs typeface="Noto Sans"/>
                <a:sym typeface="Noto Sans"/>
              </a:rPr>
              <a:t>i</a:t>
            </a:r>
            <a:r>
              <a:rPr lang="en-US" sz="2264" strike="noStrike" u="none">
                <a:solidFill>
                  <a:srgbClr val="000000">
                    <a:alpha val="80000"/>
                  </a:srgbClr>
                </a:solidFill>
                <a:latin typeface="Noto Sans"/>
                <a:ea typeface="Noto Sans"/>
                <a:cs typeface="Noto Sans"/>
                <a:sym typeface="Noto Sans"/>
              </a:rPr>
              <a:t> ưu</a:t>
            </a:r>
            <a:r>
              <a:rPr lang="en-US" sz="2264" strike="noStrike" u="none">
                <a:solidFill>
                  <a:srgbClr val="000000">
                    <a:alpha val="80000"/>
                  </a:srgbClr>
                </a:solidFill>
                <a:latin typeface="Noto Sans"/>
                <a:ea typeface="Noto Sans"/>
                <a:cs typeface="Noto Sans"/>
                <a:sym typeface="Noto Sans"/>
              </a:rPr>
              <a:t> hi</a:t>
            </a:r>
            <a:r>
              <a:rPr lang="en-US" sz="2264" strike="noStrike" u="none">
                <a:solidFill>
                  <a:srgbClr val="000000">
                    <a:alpha val="80000"/>
                  </a:srgbClr>
                </a:solidFill>
                <a:latin typeface="Noto Sans"/>
                <a:ea typeface="Noto Sans"/>
                <a:cs typeface="Noto Sans"/>
                <a:sym typeface="Noto Sans"/>
              </a:rPr>
              <a:t>ệ</a:t>
            </a:r>
            <a:r>
              <a:rPr lang="en-US" sz="2264" strike="noStrike" u="none">
                <a:solidFill>
                  <a:srgbClr val="000000">
                    <a:alpha val="80000"/>
                  </a:srgbClr>
                </a:solidFill>
                <a:latin typeface="Noto Sans"/>
                <a:ea typeface="Noto Sans"/>
                <a:cs typeface="Noto Sans"/>
                <a:sym typeface="Noto Sans"/>
              </a:rPr>
              <a:t>u n</a:t>
            </a:r>
            <a:r>
              <a:rPr lang="en-US" sz="2264" strike="noStrike" u="none">
                <a:solidFill>
                  <a:srgbClr val="000000">
                    <a:alpha val="80000"/>
                  </a:srgbClr>
                </a:solidFill>
                <a:latin typeface="Noto Sans"/>
                <a:ea typeface="Noto Sans"/>
                <a:cs typeface="Noto Sans"/>
                <a:sym typeface="Noto Sans"/>
              </a:rPr>
              <a:t>ăng, mà </a:t>
            </a:r>
            <a:r>
              <a:rPr lang="en-US" sz="2264" strike="noStrike" u="none">
                <a:solidFill>
                  <a:srgbClr val="000000">
                    <a:alpha val="80000"/>
                  </a:srgbClr>
                </a:solidFill>
                <a:latin typeface="Noto Sans"/>
                <a:ea typeface="Noto Sans"/>
                <a:cs typeface="Noto Sans"/>
                <a:sym typeface="Noto Sans"/>
              </a:rPr>
              <a:t>t</a:t>
            </a:r>
            <a:r>
              <a:rPr lang="en-US" sz="2264" strike="noStrike" u="none">
                <a:solidFill>
                  <a:srgbClr val="000000">
                    <a:alpha val="80000"/>
                  </a:srgbClr>
                </a:solidFill>
                <a:latin typeface="Noto Sans"/>
                <a:ea typeface="Noto Sans"/>
                <a:cs typeface="Noto Sans"/>
                <a:sym typeface="Noto Sans"/>
              </a:rPr>
              <a:t>ập</a:t>
            </a:r>
            <a:r>
              <a:rPr lang="en-US" sz="2264" strike="noStrike" u="none">
                <a:solidFill>
                  <a:srgbClr val="000000">
                    <a:alpha val="80000"/>
                  </a:srgbClr>
                </a:solidFill>
                <a:latin typeface="Noto Sans"/>
                <a:ea typeface="Noto Sans"/>
                <a:cs typeface="Noto Sans"/>
                <a:sym typeface="Noto Sans"/>
              </a:rPr>
              <a:t> </a:t>
            </a:r>
            <a:r>
              <a:rPr lang="en-US" sz="2264" strike="noStrike" u="none">
                <a:solidFill>
                  <a:srgbClr val="000000">
                    <a:alpha val="80000"/>
                  </a:srgbClr>
                </a:solidFill>
                <a:latin typeface="Noto Sans"/>
                <a:ea typeface="Noto Sans"/>
                <a:cs typeface="Noto Sans"/>
                <a:sym typeface="Noto Sans"/>
              </a:rPr>
              <a:t>trung vào</a:t>
            </a:r>
            <a:r>
              <a:rPr lang="en-US" b="true" sz="2264" strike="noStrike" u="none">
                <a:solidFill>
                  <a:srgbClr val="000000">
                    <a:alpha val="80000"/>
                  </a:srgbClr>
                </a:solidFill>
                <a:latin typeface="Noto Sans Bold"/>
                <a:ea typeface="Noto Sans Bold"/>
                <a:cs typeface="Noto Sans Bold"/>
                <a:sym typeface="Noto Sans Bold"/>
              </a:rPr>
              <a:t> h</a:t>
            </a:r>
            <a:r>
              <a:rPr lang="en-US" b="true" sz="2264" strike="noStrike" u="none">
                <a:solidFill>
                  <a:srgbClr val="000000">
                    <a:alpha val="80000"/>
                  </a:srgbClr>
                </a:solidFill>
                <a:latin typeface="Noto Sans Bold"/>
                <a:ea typeface="Noto Sans Bold"/>
                <a:cs typeface="Noto Sans Bold"/>
                <a:sym typeface="Noto Sans Bold"/>
              </a:rPr>
              <a:t>i</a:t>
            </a:r>
            <a:r>
              <a:rPr lang="en-US" b="true" sz="2264" strike="noStrike" u="none">
                <a:solidFill>
                  <a:srgbClr val="000000">
                    <a:alpha val="80000"/>
                  </a:srgbClr>
                </a:solidFill>
                <a:latin typeface="Noto Sans Bold"/>
                <a:ea typeface="Noto Sans Bold"/>
                <a:cs typeface="Noto Sans Bold"/>
                <a:sym typeface="Noto Sans Bold"/>
              </a:rPr>
              <a:t>ể</a:t>
            </a:r>
            <a:r>
              <a:rPr lang="en-US" b="true" sz="2264" strike="noStrike" u="none">
                <a:solidFill>
                  <a:srgbClr val="000000">
                    <a:alpha val="80000"/>
                  </a:srgbClr>
                </a:solidFill>
                <a:latin typeface="Noto Sans Bold"/>
                <a:ea typeface="Noto Sans Bold"/>
                <a:cs typeface="Noto Sans Bold"/>
                <a:sym typeface="Noto Sans Bold"/>
              </a:rPr>
              <a:t>u</a:t>
            </a:r>
            <a:r>
              <a:rPr lang="en-US" b="true" sz="2264" strike="noStrike" u="none">
                <a:solidFill>
                  <a:srgbClr val="000000">
                    <a:alpha val="80000"/>
                  </a:srgbClr>
                </a:solidFill>
                <a:latin typeface="Noto Sans Bold"/>
                <a:ea typeface="Noto Sans Bold"/>
                <a:cs typeface="Noto Sans Bold"/>
                <a:sym typeface="Noto Sans Bold"/>
              </a:rPr>
              <a:t> bản chấ</a:t>
            </a:r>
            <a:r>
              <a:rPr lang="en-US" b="true" sz="2264" strike="noStrike" u="none">
                <a:solidFill>
                  <a:srgbClr val="000000">
                    <a:alpha val="80000"/>
                  </a:srgbClr>
                </a:solidFill>
                <a:latin typeface="Noto Sans Bold"/>
                <a:ea typeface="Noto Sans Bold"/>
                <a:cs typeface="Noto Sans Bold"/>
                <a:sym typeface="Noto Sans Bold"/>
              </a:rPr>
              <a:t>t </a:t>
            </a:r>
            <a:r>
              <a:rPr lang="en-US" b="true" sz="2264" strike="noStrike" u="none">
                <a:solidFill>
                  <a:srgbClr val="000000">
                    <a:alpha val="80000"/>
                  </a:srgbClr>
                </a:solidFill>
                <a:latin typeface="Noto Sans Bold"/>
                <a:ea typeface="Noto Sans Bold"/>
                <a:cs typeface="Noto Sans Bold"/>
                <a:sym typeface="Noto Sans Bold"/>
              </a:rPr>
              <a:t>t</a:t>
            </a:r>
            <a:r>
              <a:rPr lang="en-US" b="true" sz="2264" strike="noStrike" u="none">
                <a:solidFill>
                  <a:srgbClr val="000000">
                    <a:alpha val="80000"/>
                  </a:srgbClr>
                </a:solidFill>
                <a:latin typeface="Noto Sans Bold"/>
                <a:ea typeface="Noto Sans Bold"/>
                <a:cs typeface="Noto Sans Bold"/>
                <a:sym typeface="Noto Sans Bold"/>
              </a:rPr>
              <a:t>o</a:t>
            </a:r>
            <a:r>
              <a:rPr lang="en-US" b="true" sz="2264" strike="noStrike" u="none">
                <a:solidFill>
                  <a:srgbClr val="000000">
                    <a:alpha val="80000"/>
                  </a:srgbClr>
                </a:solidFill>
                <a:latin typeface="Noto Sans Bold"/>
                <a:ea typeface="Noto Sans Bold"/>
                <a:cs typeface="Noto Sans Bold"/>
                <a:sym typeface="Noto Sans Bold"/>
              </a:rPr>
              <a:t>á</a:t>
            </a:r>
            <a:r>
              <a:rPr lang="en-US" b="true" sz="2264" strike="noStrike" u="none">
                <a:solidFill>
                  <a:srgbClr val="000000">
                    <a:alpha val="80000"/>
                  </a:srgbClr>
                </a:solidFill>
                <a:latin typeface="Noto Sans Bold"/>
                <a:ea typeface="Noto Sans Bold"/>
                <a:cs typeface="Noto Sans Bold"/>
                <a:sym typeface="Noto Sans Bold"/>
              </a:rPr>
              <a:t>n</a:t>
            </a:r>
            <a:r>
              <a:rPr lang="en-US" b="true" sz="2264" strike="noStrike" u="none">
                <a:solidFill>
                  <a:srgbClr val="000000">
                    <a:alpha val="80000"/>
                  </a:srgbClr>
                </a:solidFill>
                <a:latin typeface="Noto Sans Bold"/>
                <a:ea typeface="Noto Sans Bold"/>
                <a:cs typeface="Noto Sans Bold"/>
                <a:sym typeface="Noto Sans Bold"/>
              </a:rPr>
              <a:t> họ</a:t>
            </a:r>
            <a:r>
              <a:rPr lang="en-US" b="true" sz="2264" strike="noStrike" u="none">
                <a:solidFill>
                  <a:srgbClr val="000000">
                    <a:alpha val="80000"/>
                  </a:srgbClr>
                </a:solidFill>
                <a:latin typeface="Noto Sans Bold"/>
                <a:ea typeface="Noto Sans Bold"/>
                <a:cs typeface="Noto Sans Bold"/>
                <a:sym typeface="Noto Sans Bold"/>
              </a:rPr>
              <a:t>c </a:t>
            </a:r>
            <a:r>
              <a:rPr lang="en-US" b="true" sz="2264" strike="noStrike" u="none">
                <a:solidFill>
                  <a:srgbClr val="000000">
                    <a:alpha val="80000"/>
                  </a:srgbClr>
                </a:solidFill>
                <a:latin typeface="Noto Sans Bold"/>
                <a:ea typeface="Noto Sans Bold"/>
                <a:cs typeface="Noto Sans Bold"/>
                <a:sym typeface="Noto Sans Bold"/>
              </a:rPr>
              <a:t>của</a:t>
            </a:r>
            <a:r>
              <a:rPr lang="en-US" b="true" sz="2264" strike="noStrike" u="none">
                <a:solidFill>
                  <a:srgbClr val="000000">
                    <a:alpha val="80000"/>
                  </a:srgbClr>
                </a:solidFill>
                <a:latin typeface="Noto Sans Bold"/>
                <a:ea typeface="Noto Sans Bold"/>
                <a:cs typeface="Noto Sans Bold"/>
                <a:sym typeface="Noto Sans Bold"/>
              </a:rPr>
              <a:t> </a:t>
            </a:r>
            <a:r>
              <a:rPr lang="en-US" b="true" sz="2264" strike="noStrike" u="none">
                <a:solidFill>
                  <a:srgbClr val="000000">
                    <a:alpha val="80000"/>
                  </a:srgbClr>
                </a:solidFill>
                <a:latin typeface="Noto Sans Bold"/>
                <a:ea typeface="Noto Sans Bold"/>
                <a:cs typeface="Noto Sans Bold"/>
                <a:sym typeface="Noto Sans Bold"/>
              </a:rPr>
              <a:t>M</a:t>
            </a:r>
            <a:r>
              <a:rPr lang="en-US" b="true" sz="2264" strike="noStrike" u="none">
                <a:solidFill>
                  <a:srgbClr val="000000">
                    <a:alpha val="80000"/>
                  </a:srgbClr>
                </a:solidFill>
                <a:latin typeface="Noto Sans Bold"/>
                <a:ea typeface="Noto Sans Bold"/>
                <a:cs typeface="Noto Sans Bold"/>
                <a:sym typeface="Noto Sans Bold"/>
              </a:rPr>
              <a:t>a</a:t>
            </a:r>
            <a:r>
              <a:rPr lang="en-US" b="true" sz="2264" strike="noStrike" u="none">
                <a:solidFill>
                  <a:srgbClr val="000000">
                    <a:alpha val="80000"/>
                  </a:srgbClr>
                </a:solidFill>
                <a:latin typeface="Noto Sans Bold"/>
                <a:ea typeface="Noto Sans Bold"/>
                <a:cs typeface="Noto Sans Bold"/>
                <a:sym typeface="Noto Sans Bold"/>
              </a:rPr>
              <a:t>chine</a:t>
            </a:r>
            <a:r>
              <a:rPr lang="en-US" b="true" sz="2264" strike="noStrike" u="none">
                <a:solidFill>
                  <a:srgbClr val="000000">
                    <a:alpha val="80000"/>
                  </a:srgbClr>
                </a:solidFill>
                <a:latin typeface="Noto Sans Bold"/>
                <a:ea typeface="Noto Sans Bold"/>
                <a:cs typeface="Noto Sans Bold"/>
                <a:sym typeface="Noto Sans Bold"/>
              </a:rPr>
              <a:t> </a:t>
            </a:r>
            <a:r>
              <a:rPr lang="en-US" b="true" sz="2264" strike="noStrike" u="none">
                <a:solidFill>
                  <a:srgbClr val="000000">
                    <a:alpha val="80000"/>
                  </a:srgbClr>
                </a:solidFill>
                <a:latin typeface="Noto Sans Bold"/>
                <a:ea typeface="Noto Sans Bold"/>
                <a:cs typeface="Noto Sans Bold"/>
                <a:sym typeface="Noto Sans Bold"/>
              </a:rPr>
              <a:t>Le</a:t>
            </a:r>
            <a:r>
              <a:rPr lang="en-US" b="true" sz="2264" strike="noStrike" u="none">
                <a:solidFill>
                  <a:srgbClr val="000000">
                    <a:alpha val="80000"/>
                  </a:srgbClr>
                </a:solidFill>
                <a:latin typeface="Noto Sans Bold"/>
                <a:ea typeface="Noto Sans Bold"/>
                <a:cs typeface="Noto Sans Bold"/>
                <a:sym typeface="Noto Sans Bold"/>
              </a:rPr>
              <a:t>a</a:t>
            </a:r>
            <a:r>
              <a:rPr lang="en-US" b="true" sz="2264" strike="noStrike" u="none">
                <a:solidFill>
                  <a:srgbClr val="000000">
                    <a:alpha val="80000"/>
                  </a:srgbClr>
                </a:solidFill>
                <a:latin typeface="Noto Sans Bold"/>
                <a:ea typeface="Noto Sans Bold"/>
                <a:cs typeface="Noto Sans Bold"/>
                <a:sym typeface="Noto Sans Bold"/>
              </a:rPr>
              <a:t>rn</a:t>
            </a:r>
            <a:r>
              <a:rPr lang="en-US" b="true" sz="2264" strike="noStrike" u="none">
                <a:solidFill>
                  <a:srgbClr val="000000">
                    <a:alpha val="80000"/>
                  </a:srgbClr>
                </a:solidFill>
                <a:latin typeface="Noto Sans Bold"/>
                <a:ea typeface="Noto Sans Bold"/>
                <a:cs typeface="Noto Sans Bold"/>
                <a:sym typeface="Noto Sans Bold"/>
              </a:rPr>
              <a:t>i</a:t>
            </a:r>
            <a:r>
              <a:rPr lang="en-US" b="true" sz="2264" strike="noStrike" u="none">
                <a:solidFill>
                  <a:srgbClr val="000000">
                    <a:alpha val="80000"/>
                  </a:srgbClr>
                </a:solidFill>
                <a:latin typeface="Noto Sans Bold"/>
                <a:ea typeface="Noto Sans Bold"/>
                <a:cs typeface="Noto Sans Bold"/>
                <a:sym typeface="Noto Sans Bold"/>
              </a:rPr>
              <a:t>ng.</a:t>
            </a:r>
          </a:p>
          <a:p>
            <a:pPr algn="l" marL="0" indent="0" lvl="0">
              <a:lnSpc>
                <a:spcPts val="3850"/>
              </a:lnSpc>
              <a:spcBef>
                <a:spcPct val="0"/>
              </a:spcBef>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3191326" y="4206128"/>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660644" y="2612456"/>
            <a:ext cx="9054141" cy="3034142"/>
            <a:chOff x="0" y="0"/>
            <a:chExt cx="2384630" cy="799116"/>
          </a:xfrm>
        </p:grpSpPr>
        <p:sp>
          <p:nvSpPr>
            <p:cNvPr name="Freeform 11" id="11"/>
            <p:cNvSpPr/>
            <p:nvPr/>
          </p:nvSpPr>
          <p:spPr>
            <a:xfrm flipH="false" flipV="false" rot="0">
              <a:off x="0" y="0"/>
              <a:ext cx="2384630" cy="799116"/>
            </a:xfrm>
            <a:custGeom>
              <a:avLst/>
              <a:gdLst/>
              <a:ahLst/>
              <a:cxnLst/>
              <a:rect r="r" b="b" t="t" l="l"/>
              <a:pathLst>
                <a:path h="799116" w="2384630">
                  <a:moveTo>
                    <a:pt x="43609" y="0"/>
                  </a:moveTo>
                  <a:lnTo>
                    <a:pt x="2341021" y="0"/>
                  </a:lnTo>
                  <a:cubicBezTo>
                    <a:pt x="2352587" y="0"/>
                    <a:pt x="2363679" y="4594"/>
                    <a:pt x="2371857" y="12773"/>
                  </a:cubicBezTo>
                  <a:cubicBezTo>
                    <a:pt x="2380035" y="20951"/>
                    <a:pt x="2384630" y="32043"/>
                    <a:pt x="2384630" y="43609"/>
                  </a:cubicBezTo>
                  <a:lnTo>
                    <a:pt x="2384630" y="755507"/>
                  </a:lnTo>
                  <a:cubicBezTo>
                    <a:pt x="2384630" y="767073"/>
                    <a:pt x="2380035" y="778165"/>
                    <a:pt x="2371857" y="786343"/>
                  </a:cubicBezTo>
                  <a:cubicBezTo>
                    <a:pt x="2363679" y="794521"/>
                    <a:pt x="2352587" y="799116"/>
                    <a:pt x="2341021" y="799116"/>
                  </a:cubicBezTo>
                  <a:lnTo>
                    <a:pt x="43609" y="799116"/>
                  </a:lnTo>
                  <a:cubicBezTo>
                    <a:pt x="32043" y="799116"/>
                    <a:pt x="20951" y="794521"/>
                    <a:pt x="12773" y="786343"/>
                  </a:cubicBezTo>
                  <a:cubicBezTo>
                    <a:pt x="4594" y="778165"/>
                    <a:pt x="0" y="767073"/>
                    <a:pt x="0" y="755507"/>
                  </a:cubicBezTo>
                  <a:lnTo>
                    <a:pt x="0" y="43609"/>
                  </a:lnTo>
                  <a:cubicBezTo>
                    <a:pt x="0" y="32043"/>
                    <a:pt x="4594" y="20951"/>
                    <a:pt x="12773" y="12773"/>
                  </a:cubicBezTo>
                  <a:cubicBezTo>
                    <a:pt x="20951" y="4594"/>
                    <a:pt x="32043" y="0"/>
                    <a:pt x="43609" y="0"/>
                  </a:cubicBezTo>
                  <a:close/>
                </a:path>
              </a:pathLst>
            </a:custGeom>
            <a:solidFill>
              <a:srgbClr val="FFFFFF"/>
            </a:solidFill>
          </p:spPr>
        </p:sp>
        <p:sp>
          <p:nvSpPr>
            <p:cNvPr name="TextBox 12" id="12"/>
            <p:cNvSpPr txBox="true"/>
            <p:nvPr/>
          </p:nvSpPr>
          <p:spPr>
            <a:xfrm>
              <a:off x="0" y="-38100"/>
              <a:ext cx="2384630" cy="837216"/>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6683374" y="5867744"/>
            <a:ext cx="11374319" cy="4028532"/>
            <a:chOff x="0" y="0"/>
            <a:chExt cx="2995705" cy="1061013"/>
          </a:xfrm>
        </p:grpSpPr>
        <p:sp>
          <p:nvSpPr>
            <p:cNvPr name="Freeform 14" id="14"/>
            <p:cNvSpPr/>
            <p:nvPr/>
          </p:nvSpPr>
          <p:spPr>
            <a:xfrm flipH="false" flipV="false" rot="0">
              <a:off x="0" y="0"/>
              <a:ext cx="2995705" cy="1061013"/>
            </a:xfrm>
            <a:custGeom>
              <a:avLst/>
              <a:gdLst/>
              <a:ahLst/>
              <a:cxnLst/>
              <a:rect r="r" b="b" t="t" l="l"/>
              <a:pathLst>
                <a:path h="1061013" w="2995705">
                  <a:moveTo>
                    <a:pt x="34713" y="0"/>
                  </a:moveTo>
                  <a:lnTo>
                    <a:pt x="2960992" y="0"/>
                  </a:lnTo>
                  <a:cubicBezTo>
                    <a:pt x="2980164" y="0"/>
                    <a:pt x="2995705" y="15542"/>
                    <a:pt x="2995705" y="34713"/>
                  </a:cubicBezTo>
                  <a:lnTo>
                    <a:pt x="2995705" y="1026300"/>
                  </a:lnTo>
                  <a:cubicBezTo>
                    <a:pt x="2995705" y="1045471"/>
                    <a:pt x="2980164" y="1061013"/>
                    <a:pt x="2960992" y="1061013"/>
                  </a:cubicBezTo>
                  <a:lnTo>
                    <a:pt x="34713" y="1061013"/>
                  </a:lnTo>
                  <a:cubicBezTo>
                    <a:pt x="15542" y="1061013"/>
                    <a:pt x="0" y="1045471"/>
                    <a:pt x="0" y="1026300"/>
                  </a:cubicBezTo>
                  <a:lnTo>
                    <a:pt x="0" y="34713"/>
                  </a:lnTo>
                  <a:cubicBezTo>
                    <a:pt x="0" y="15542"/>
                    <a:pt x="15542" y="0"/>
                    <a:pt x="34713" y="0"/>
                  </a:cubicBezTo>
                  <a:close/>
                </a:path>
              </a:pathLst>
            </a:custGeom>
            <a:solidFill>
              <a:srgbClr val="FFFFFF"/>
            </a:solidFill>
          </p:spPr>
        </p:sp>
        <p:sp>
          <p:nvSpPr>
            <p:cNvPr name="TextBox 15" id="15"/>
            <p:cNvSpPr txBox="true"/>
            <p:nvPr/>
          </p:nvSpPr>
          <p:spPr>
            <a:xfrm>
              <a:off x="0" y="-38100"/>
              <a:ext cx="2995705" cy="1099113"/>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827365" y="1061810"/>
            <a:ext cx="16633269" cy="1331570"/>
          </a:xfrm>
          <a:prstGeom prst="rect">
            <a:avLst/>
          </a:prstGeom>
        </p:spPr>
        <p:txBody>
          <a:bodyPr anchor="t" rtlCol="false" tIns="0" lIns="0" bIns="0" rIns="0">
            <a:spAutoFit/>
          </a:bodyPr>
          <a:lstStyle/>
          <a:p>
            <a:pPr algn="l">
              <a:lnSpc>
                <a:spcPts val="5356"/>
              </a:lnSpc>
              <a:spcBef>
                <a:spcPct val="0"/>
              </a:spcBef>
            </a:pPr>
            <a:r>
              <a:rPr lang="en-US" sz="3825" spc="478">
                <a:solidFill>
                  <a:srgbClr val="FFFFFF"/>
                </a:solidFill>
                <a:latin typeface="Faustina"/>
                <a:ea typeface="Faustina"/>
                <a:cs typeface="Faustina"/>
                <a:sym typeface="Faustina"/>
              </a:rPr>
              <a:t>Project sử dụng </a:t>
            </a:r>
            <a:r>
              <a:rPr lang="en-US" b="true" sz="3825" spc="478">
                <a:solidFill>
                  <a:srgbClr val="FFFFFF"/>
                </a:solidFill>
                <a:latin typeface="Faustina Bold"/>
                <a:ea typeface="Faustina Bold"/>
                <a:cs typeface="Faustina Bold"/>
                <a:sym typeface="Faustina Bold"/>
              </a:rPr>
              <a:t>Breast Cancer Wisconsin Dataset</a:t>
            </a:r>
            <a:r>
              <a:rPr lang="en-US" sz="3825" spc="478">
                <a:solidFill>
                  <a:srgbClr val="FFFFFF"/>
                </a:solidFill>
                <a:latin typeface="Faustina"/>
                <a:ea typeface="Faustina"/>
                <a:cs typeface="Faustina"/>
                <a:sym typeface="Faustina"/>
              </a:rPr>
              <a:t>, một dataset kinh điển trong bài toán phân loại nhị phân.</a:t>
            </a:r>
          </a:p>
        </p:txBody>
      </p:sp>
      <p:sp>
        <p:nvSpPr>
          <p:cNvPr name="TextBox 17" id="17"/>
          <p:cNvSpPr txBox="true"/>
          <p:nvPr/>
        </p:nvSpPr>
        <p:spPr>
          <a:xfrm rot="0">
            <a:off x="860976" y="2843749"/>
            <a:ext cx="9172007" cy="2500991"/>
          </a:xfrm>
          <a:prstGeom prst="rect">
            <a:avLst/>
          </a:prstGeom>
        </p:spPr>
        <p:txBody>
          <a:bodyPr anchor="t" rtlCol="false" tIns="0" lIns="0" bIns="0" rIns="0">
            <a:spAutoFit/>
          </a:bodyPr>
          <a:lstStyle/>
          <a:p>
            <a:pPr algn="l">
              <a:lnSpc>
                <a:spcPts val="4950"/>
              </a:lnSpc>
              <a:spcBef>
                <a:spcPct val="0"/>
              </a:spcBef>
            </a:pPr>
            <a:r>
              <a:rPr lang="en-US" sz="3535" spc="441">
                <a:solidFill>
                  <a:srgbClr val="000000"/>
                </a:solidFill>
                <a:latin typeface="Faustina"/>
                <a:ea typeface="Faustina"/>
                <a:cs typeface="Faustina"/>
                <a:sym typeface="Faustina"/>
              </a:rPr>
              <a:t>Biểu diễn toán học:</a:t>
            </a:r>
          </a:p>
          <a:p>
            <a:pPr algn="l" marL="763374" indent="-381687" lvl="1">
              <a:lnSpc>
                <a:spcPts val="4950"/>
              </a:lnSpc>
              <a:buFont typeface="Arial"/>
              <a:buChar char="•"/>
            </a:pPr>
            <a:r>
              <a:rPr lang="en-US" sz="3535" spc="441">
                <a:solidFill>
                  <a:srgbClr val="000000"/>
                </a:solidFill>
                <a:latin typeface="Faustina"/>
                <a:ea typeface="Faustina"/>
                <a:cs typeface="Faustina"/>
                <a:sym typeface="Faustina"/>
              </a:rPr>
              <a:t>X ∈ ℝⁿˣᵈ: ma trận dữ liệu (n mẫu, d đặc trưng)</a:t>
            </a:r>
          </a:p>
          <a:p>
            <a:pPr algn="l" marL="763374" indent="-381687" lvl="1">
              <a:lnSpc>
                <a:spcPts val="4950"/>
              </a:lnSpc>
              <a:buFont typeface="Arial"/>
              <a:buChar char="•"/>
            </a:pPr>
            <a:r>
              <a:rPr lang="en-US" sz="3535" spc="441">
                <a:solidFill>
                  <a:srgbClr val="000000"/>
                </a:solidFill>
                <a:latin typeface="Faustina"/>
                <a:ea typeface="Faustina"/>
                <a:cs typeface="Faustina"/>
                <a:sym typeface="Faustina"/>
              </a:rPr>
              <a:t>y ∈ ℝⁿ: nhãn nhị phân (0 hoặc 1)</a:t>
            </a:r>
          </a:p>
        </p:txBody>
      </p:sp>
      <p:sp>
        <p:nvSpPr>
          <p:cNvPr name="TextBox 18" id="18"/>
          <p:cNvSpPr txBox="true"/>
          <p:nvPr/>
        </p:nvSpPr>
        <p:spPr>
          <a:xfrm rot="0">
            <a:off x="6966909" y="5900059"/>
            <a:ext cx="12359008" cy="4386941"/>
          </a:xfrm>
          <a:prstGeom prst="rect">
            <a:avLst/>
          </a:prstGeom>
        </p:spPr>
        <p:txBody>
          <a:bodyPr anchor="t" rtlCol="false" tIns="0" lIns="0" bIns="0" rIns="0">
            <a:spAutoFit/>
          </a:bodyPr>
          <a:lstStyle/>
          <a:p>
            <a:pPr algn="l">
              <a:lnSpc>
                <a:spcPts val="4950"/>
              </a:lnSpc>
              <a:spcBef>
                <a:spcPct val="0"/>
              </a:spcBef>
            </a:pPr>
            <a:r>
              <a:rPr lang="en-US" sz="3535" spc="441">
                <a:solidFill>
                  <a:srgbClr val="000000"/>
                </a:solidFill>
                <a:latin typeface="Faustina"/>
                <a:ea typeface="Faustina"/>
                <a:cs typeface="Faustina"/>
                <a:sym typeface="Faustina"/>
              </a:rPr>
              <a:t>Lý</a:t>
            </a:r>
            <a:r>
              <a:rPr lang="en-US" sz="3535" spc="441">
                <a:solidFill>
                  <a:srgbClr val="000000"/>
                </a:solidFill>
                <a:latin typeface="Faustina"/>
                <a:ea typeface="Faustina"/>
                <a:cs typeface="Faustina"/>
                <a:sym typeface="Faustina"/>
              </a:rPr>
              <a:t> do dataset này phù hợp:</a:t>
            </a:r>
          </a:p>
          <a:p>
            <a:pPr algn="l" marL="763374" indent="-381687" lvl="1">
              <a:lnSpc>
                <a:spcPts val="4950"/>
              </a:lnSpc>
              <a:buFont typeface="Arial"/>
              <a:buChar char="•"/>
            </a:pPr>
            <a:r>
              <a:rPr lang="en-US" sz="3535" spc="441">
                <a:solidFill>
                  <a:srgbClr val="000000"/>
                </a:solidFill>
                <a:latin typeface="Faustina"/>
                <a:ea typeface="Faustina"/>
                <a:cs typeface="Faustina"/>
                <a:sym typeface="Faustina"/>
              </a:rPr>
              <a:t>Nhãn</a:t>
            </a:r>
            <a:r>
              <a:rPr lang="en-US" sz="3535" spc="441">
                <a:solidFill>
                  <a:srgbClr val="000000"/>
                </a:solidFill>
                <a:latin typeface="Faustina"/>
                <a:ea typeface="Faustina"/>
                <a:cs typeface="Faustina"/>
                <a:sym typeface="Faustina"/>
              </a:rPr>
              <a:t> nhị phân → đúng bài toán logistic regression</a:t>
            </a:r>
          </a:p>
          <a:p>
            <a:pPr algn="l" marL="763374" indent="-381687" lvl="1">
              <a:lnSpc>
                <a:spcPts val="4950"/>
              </a:lnSpc>
              <a:buFont typeface="Arial"/>
              <a:buChar char="•"/>
            </a:pPr>
            <a:r>
              <a:rPr lang="en-US" sz="3535" spc="441">
                <a:solidFill>
                  <a:srgbClr val="000000"/>
                </a:solidFill>
                <a:latin typeface="Faustina"/>
                <a:ea typeface="Faustina"/>
                <a:cs typeface="Faustina"/>
                <a:sym typeface="Faustina"/>
              </a:rPr>
              <a:t>Đặc trưng liên tục → phù hợp với mô hình tuyến tính</a:t>
            </a:r>
          </a:p>
          <a:p>
            <a:pPr algn="l" marL="763374" indent="-381687" lvl="1">
              <a:lnSpc>
                <a:spcPts val="4950"/>
              </a:lnSpc>
              <a:buFont typeface="Arial"/>
              <a:buChar char="•"/>
            </a:pPr>
            <a:r>
              <a:rPr lang="en-US" sz="3535" spc="441">
                <a:solidFill>
                  <a:srgbClr val="000000"/>
                </a:solidFill>
                <a:latin typeface="Faustina"/>
                <a:ea typeface="Faustina"/>
                <a:cs typeface="Faustina"/>
                <a:sym typeface="Faustina"/>
              </a:rPr>
              <a:t>Quy mô vừa phải → dễ phân tích, dễ debug</a:t>
            </a:r>
          </a:p>
          <a:p>
            <a:pPr algn="l" marL="763374" indent="-381687" lvl="1">
              <a:lnSpc>
                <a:spcPts val="4950"/>
              </a:lnSpc>
              <a:buFont typeface="Arial"/>
              <a:buChar char="•"/>
            </a:pPr>
          </a:p>
        </p:txBody>
      </p:sp>
      <p:sp>
        <p:nvSpPr>
          <p:cNvPr name="TextBox 19" id="19"/>
          <p:cNvSpPr txBox="true"/>
          <p:nvPr/>
        </p:nvSpPr>
        <p:spPr>
          <a:xfrm rot="0">
            <a:off x="5776218" y="110682"/>
            <a:ext cx="9540062" cy="2017011"/>
          </a:xfrm>
          <a:prstGeom prst="rect">
            <a:avLst/>
          </a:prstGeom>
        </p:spPr>
        <p:txBody>
          <a:bodyPr anchor="t" rtlCol="false" tIns="0" lIns="0" bIns="0" rIns="0">
            <a:spAutoFit/>
          </a:bodyPr>
          <a:lstStyle/>
          <a:p>
            <a:pPr algn="l" marL="0" indent="0" lvl="0">
              <a:lnSpc>
                <a:spcPts val="7727"/>
              </a:lnSpc>
              <a:spcBef>
                <a:spcPct val="0"/>
              </a:spcBef>
            </a:pPr>
            <a:r>
              <a:rPr lang="en-US" b="true" sz="8049" spc="-410">
                <a:solidFill>
                  <a:srgbClr val="FFFFFF"/>
                </a:solidFill>
                <a:latin typeface="Noto Sans Bold"/>
                <a:ea typeface="Noto Sans Bold"/>
                <a:cs typeface="Noto Sans Bold"/>
                <a:sym typeface="Noto Sans Bold"/>
              </a:rPr>
              <a:t>Data</a:t>
            </a:r>
            <a:r>
              <a:rPr lang="en-US" b="true" sz="8049" spc="-410" strike="noStrike" u="none">
                <a:solidFill>
                  <a:srgbClr val="FFFFFF"/>
                </a:solidFill>
                <a:latin typeface="Noto Sans Bold"/>
                <a:ea typeface="Noto Sans Bold"/>
                <a:cs typeface="Noto Sans Bold"/>
                <a:sym typeface="Noto Sans Bold"/>
              </a:rPr>
              <a:t>s</a:t>
            </a:r>
            <a:r>
              <a:rPr lang="en-US" b="true" sz="8049" spc="-410" strike="noStrike" u="none">
                <a:solidFill>
                  <a:srgbClr val="FFFFFF"/>
                </a:solidFill>
                <a:latin typeface="Noto Sans Bold"/>
                <a:ea typeface="Noto Sans Bold"/>
                <a:cs typeface="Noto Sans Bold"/>
                <a:sym typeface="Noto Sans Bold"/>
              </a:rPr>
              <a:t>e</a:t>
            </a:r>
            <a:r>
              <a:rPr lang="en-US" b="true" sz="8049" spc="-410" strike="noStrike" u="none">
                <a:solidFill>
                  <a:srgbClr val="FFFFFF"/>
                </a:solidFill>
                <a:latin typeface="Noto Sans Bold"/>
                <a:ea typeface="Noto Sans Bold"/>
                <a:cs typeface="Noto Sans Bold"/>
                <a:sym typeface="Noto Sans Bold"/>
              </a:rPr>
              <a:t>t </a:t>
            </a:r>
          </a:p>
          <a:p>
            <a:pPr algn="l" marL="0" indent="0" lvl="0">
              <a:lnSpc>
                <a:spcPts val="7727"/>
              </a:lnSpc>
              <a:spcBef>
                <a:spcPct val="0"/>
              </a:spcBef>
            </a:pP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3191326" y="4206128"/>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9492410" y="5734517"/>
            <a:ext cx="440299" cy="440299"/>
          </a:xfrm>
          <a:custGeom>
            <a:avLst/>
            <a:gdLst/>
            <a:ahLst/>
            <a:cxnLst/>
            <a:rect r="r" b="b" t="t" l="l"/>
            <a:pathLst>
              <a:path h="440299" w="440299">
                <a:moveTo>
                  <a:pt x="0" y="0"/>
                </a:moveTo>
                <a:lnTo>
                  <a:pt x="440299" y="0"/>
                </a:lnTo>
                <a:lnTo>
                  <a:pt x="440299" y="440299"/>
                </a:lnTo>
                <a:lnTo>
                  <a:pt x="0" y="4402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028700" y="594400"/>
            <a:ext cx="8904009" cy="1870837"/>
          </a:xfrm>
          <a:prstGeom prst="rect">
            <a:avLst/>
          </a:prstGeom>
        </p:spPr>
        <p:txBody>
          <a:bodyPr anchor="t" rtlCol="false" tIns="0" lIns="0" bIns="0" rIns="0">
            <a:spAutoFit/>
          </a:bodyPr>
          <a:lstStyle/>
          <a:p>
            <a:pPr algn="l" marL="0" indent="0" lvl="0">
              <a:lnSpc>
                <a:spcPts val="7146"/>
              </a:lnSpc>
              <a:spcBef>
                <a:spcPct val="0"/>
              </a:spcBef>
            </a:pPr>
            <a:r>
              <a:rPr lang="en-US" b="true" sz="7444" spc="-379">
                <a:solidFill>
                  <a:srgbClr val="FFFFFF"/>
                </a:solidFill>
                <a:latin typeface="Noto Sans Bold"/>
                <a:ea typeface="Noto Sans Bold"/>
                <a:cs typeface="Noto Sans Bold"/>
                <a:sym typeface="Noto Sans Bold"/>
              </a:rPr>
              <a:t>T</a:t>
            </a:r>
            <a:r>
              <a:rPr lang="en-US" b="true" sz="7444" spc="-379" strike="noStrike" u="none">
                <a:solidFill>
                  <a:srgbClr val="FFFFFF"/>
                </a:solidFill>
                <a:latin typeface="Noto Sans Bold"/>
                <a:ea typeface="Noto Sans Bold"/>
                <a:cs typeface="Noto Sans Bold"/>
                <a:sym typeface="Noto Sans Bold"/>
              </a:rPr>
              <a:t>r</a:t>
            </a:r>
            <a:r>
              <a:rPr lang="en-US" b="true" sz="7444" spc="-379" strike="noStrike" u="none">
                <a:solidFill>
                  <a:srgbClr val="FFFFFF"/>
                </a:solidFill>
                <a:latin typeface="Noto Sans Bold"/>
                <a:ea typeface="Noto Sans Bold"/>
                <a:cs typeface="Noto Sans Bold"/>
                <a:sym typeface="Noto Sans Bold"/>
              </a:rPr>
              <a:t>a</a:t>
            </a:r>
            <a:r>
              <a:rPr lang="en-US" b="true" sz="7444" spc="-379" strike="noStrike" u="none">
                <a:solidFill>
                  <a:srgbClr val="FFFFFF"/>
                </a:solidFill>
                <a:latin typeface="Noto Sans Bold"/>
                <a:ea typeface="Noto Sans Bold"/>
                <a:cs typeface="Noto Sans Bold"/>
                <a:sym typeface="Noto Sans Bold"/>
              </a:rPr>
              <a:t>in</a:t>
            </a:r>
            <a:r>
              <a:rPr lang="en-US" b="true" sz="7444" spc="-379" strike="noStrike" u="none">
                <a:solidFill>
                  <a:srgbClr val="FFFFFF"/>
                </a:solidFill>
                <a:latin typeface="Noto Sans Bold"/>
                <a:ea typeface="Noto Sans Bold"/>
                <a:cs typeface="Noto Sans Bold"/>
                <a:sym typeface="Noto Sans Bold"/>
              </a:rPr>
              <a:t> /</a:t>
            </a:r>
            <a:r>
              <a:rPr lang="en-US" b="true" sz="7444" spc="-379" strike="noStrike" u="none">
                <a:solidFill>
                  <a:srgbClr val="FFFFFF"/>
                </a:solidFill>
                <a:latin typeface="Noto Sans Bold"/>
                <a:ea typeface="Noto Sans Bold"/>
                <a:cs typeface="Noto Sans Bold"/>
                <a:sym typeface="Noto Sans Bold"/>
              </a:rPr>
              <a:t> Tes</a:t>
            </a:r>
            <a:r>
              <a:rPr lang="en-US" b="true" sz="7444" spc="-379" strike="noStrike" u="none">
                <a:solidFill>
                  <a:srgbClr val="FFFFFF"/>
                </a:solidFill>
                <a:latin typeface="Noto Sans Bold"/>
                <a:ea typeface="Noto Sans Bold"/>
                <a:cs typeface="Noto Sans Bold"/>
                <a:sym typeface="Noto Sans Bold"/>
              </a:rPr>
              <a:t>t</a:t>
            </a:r>
          </a:p>
          <a:p>
            <a:pPr algn="l" marL="0" indent="0" lvl="0">
              <a:lnSpc>
                <a:spcPts val="7146"/>
              </a:lnSpc>
              <a:spcBef>
                <a:spcPct val="0"/>
              </a:spcBef>
            </a:pPr>
          </a:p>
        </p:txBody>
      </p:sp>
      <p:sp>
        <p:nvSpPr>
          <p:cNvPr name="TextBox 13" id="13"/>
          <p:cNvSpPr txBox="true"/>
          <p:nvPr/>
        </p:nvSpPr>
        <p:spPr>
          <a:xfrm rot="0">
            <a:off x="9492410" y="6403416"/>
            <a:ext cx="7102969" cy="1692275"/>
          </a:xfrm>
          <a:prstGeom prst="rect">
            <a:avLst/>
          </a:prstGeom>
        </p:spPr>
        <p:txBody>
          <a:bodyPr anchor="t" rtlCol="false" tIns="0" lIns="0" bIns="0" rIns="0">
            <a:spAutoFit/>
          </a:bodyPr>
          <a:lstStyle/>
          <a:p>
            <a:pPr algn="l" marL="0" indent="0" lvl="0">
              <a:lnSpc>
                <a:spcPts val="3400"/>
              </a:lnSpc>
              <a:spcBef>
                <a:spcPct val="0"/>
              </a:spcBef>
            </a:pPr>
            <a:r>
              <a:rPr lang="en-US" sz="2000" strike="noStrike" u="none">
                <a:solidFill>
                  <a:srgbClr val="000000">
                    <a:alpha val="80000"/>
                  </a:srgbClr>
                </a:solidFill>
                <a:latin typeface="Noto Sans"/>
                <a:ea typeface="Noto Sans"/>
                <a:cs typeface="Noto Sans"/>
                <a:sym typeface="Noto Sans"/>
              </a:rPr>
              <a:t>Lorem ipsum dolor sit amet, consectetur adipiscing elit. Sed at ipsum vitae lacus lobortis lacinia. Donec tristique arcu massa, at pharetra tortor feugiat non. Etiam vehicula hendrerit aliquet. Donec sed nulla dapibus</a:t>
            </a:r>
          </a:p>
        </p:txBody>
      </p:sp>
      <p:sp>
        <p:nvSpPr>
          <p:cNvPr name="TextBox 14" id="14"/>
          <p:cNvSpPr txBox="true"/>
          <p:nvPr/>
        </p:nvSpPr>
        <p:spPr>
          <a:xfrm rot="0">
            <a:off x="10217061" y="5802108"/>
            <a:ext cx="3926806" cy="356235"/>
          </a:xfrm>
          <a:prstGeom prst="rect">
            <a:avLst/>
          </a:prstGeom>
        </p:spPr>
        <p:txBody>
          <a:bodyPr anchor="t" rtlCol="false" tIns="0" lIns="0" bIns="0" rIns="0">
            <a:spAutoFit/>
          </a:bodyPr>
          <a:lstStyle/>
          <a:p>
            <a:pPr algn="l">
              <a:lnSpc>
                <a:spcPts val="2940"/>
              </a:lnSpc>
            </a:pPr>
            <a:r>
              <a:rPr lang="en-US" sz="2100" spc="262">
                <a:solidFill>
                  <a:srgbClr val="000000"/>
                </a:solidFill>
                <a:latin typeface="Noto Sans"/>
                <a:ea typeface="Noto Sans"/>
                <a:cs typeface="Noto Sans"/>
                <a:sym typeface="Noto Sans"/>
              </a:rPr>
              <a:t>SHAPING TOMORROW</a:t>
            </a:r>
          </a:p>
        </p:txBody>
      </p:sp>
      <p:grpSp>
        <p:nvGrpSpPr>
          <p:cNvPr name="Group 15" id="15"/>
          <p:cNvGrpSpPr/>
          <p:nvPr/>
        </p:nvGrpSpPr>
        <p:grpSpPr>
          <a:xfrm rot="0">
            <a:off x="658418" y="2700374"/>
            <a:ext cx="8485582" cy="3034142"/>
            <a:chOff x="0" y="0"/>
            <a:chExt cx="2234886" cy="799116"/>
          </a:xfrm>
        </p:grpSpPr>
        <p:sp>
          <p:nvSpPr>
            <p:cNvPr name="Freeform 16" id="16"/>
            <p:cNvSpPr/>
            <p:nvPr/>
          </p:nvSpPr>
          <p:spPr>
            <a:xfrm flipH="false" flipV="false" rot="0">
              <a:off x="0" y="0"/>
              <a:ext cx="2234886" cy="799116"/>
            </a:xfrm>
            <a:custGeom>
              <a:avLst/>
              <a:gdLst/>
              <a:ahLst/>
              <a:cxnLst/>
              <a:rect r="r" b="b" t="t" l="l"/>
              <a:pathLst>
                <a:path h="799116" w="2234886">
                  <a:moveTo>
                    <a:pt x="46530" y="0"/>
                  </a:moveTo>
                  <a:lnTo>
                    <a:pt x="2188355" y="0"/>
                  </a:lnTo>
                  <a:cubicBezTo>
                    <a:pt x="2214053" y="0"/>
                    <a:pt x="2234886" y="20832"/>
                    <a:pt x="2234886" y="46530"/>
                  </a:cubicBezTo>
                  <a:lnTo>
                    <a:pt x="2234886" y="752585"/>
                  </a:lnTo>
                  <a:cubicBezTo>
                    <a:pt x="2234886" y="764926"/>
                    <a:pt x="2229983" y="776761"/>
                    <a:pt x="2221257" y="785487"/>
                  </a:cubicBezTo>
                  <a:cubicBezTo>
                    <a:pt x="2212531" y="794213"/>
                    <a:pt x="2200696" y="799116"/>
                    <a:pt x="2188355" y="799116"/>
                  </a:cubicBezTo>
                  <a:lnTo>
                    <a:pt x="46530" y="799116"/>
                  </a:lnTo>
                  <a:cubicBezTo>
                    <a:pt x="34190" y="799116"/>
                    <a:pt x="22355" y="794213"/>
                    <a:pt x="13628" y="785487"/>
                  </a:cubicBezTo>
                  <a:cubicBezTo>
                    <a:pt x="4902" y="776761"/>
                    <a:pt x="0" y="764926"/>
                    <a:pt x="0" y="752585"/>
                  </a:cubicBezTo>
                  <a:lnTo>
                    <a:pt x="0" y="46530"/>
                  </a:lnTo>
                  <a:cubicBezTo>
                    <a:pt x="0" y="34190"/>
                    <a:pt x="4902" y="22355"/>
                    <a:pt x="13628" y="13628"/>
                  </a:cubicBezTo>
                  <a:cubicBezTo>
                    <a:pt x="22355" y="4902"/>
                    <a:pt x="34190" y="0"/>
                    <a:pt x="46530" y="0"/>
                  </a:cubicBezTo>
                  <a:close/>
                </a:path>
              </a:pathLst>
            </a:custGeom>
            <a:solidFill>
              <a:srgbClr val="FFFFFF"/>
            </a:solidFill>
          </p:spPr>
        </p:sp>
        <p:sp>
          <p:nvSpPr>
            <p:cNvPr name="TextBox 17" id="17"/>
            <p:cNvSpPr txBox="true"/>
            <p:nvPr/>
          </p:nvSpPr>
          <p:spPr>
            <a:xfrm>
              <a:off x="0" y="-38100"/>
              <a:ext cx="2234886" cy="837216"/>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9492410" y="2109215"/>
            <a:ext cx="8122180" cy="4274614"/>
            <a:chOff x="0" y="0"/>
            <a:chExt cx="2139175" cy="1125824"/>
          </a:xfrm>
        </p:grpSpPr>
        <p:sp>
          <p:nvSpPr>
            <p:cNvPr name="Freeform 19" id="19"/>
            <p:cNvSpPr/>
            <p:nvPr/>
          </p:nvSpPr>
          <p:spPr>
            <a:xfrm flipH="false" flipV="false" rot="0">
              <a:off x="0" y="0"/>
              <a:ext cx="2139175" cy="1125824"/>
            </a:xfrm>
            <a:custGeom>
              <a:avLst/>
              <a:gdLst/>
              <a:ahLst/>
              <a:cxnLst/>
              <a:rect r="r" b="b" t="t" l="l"/>
              <a:pathLst>
                <a:path h="1125824" w="2139175">
                  <a:moveTo>
                    <a:pt x="48612" y="0"/>
                  </a:moveTo>
                  <a:lnTo>
                    <a:pt x="2090563" y="0"/>
                  </a:lnTo>
                  <a:cubicBezTo>
                    <a:pt x="2117411" y="0"/>
                    <a:pt x="2139175" y="21764"/>
                    <a:pt x="2139175" y="48612"/>
                  </a:cubicBezTo>
                  <a:lnTo>
                    <a:pt x="2139175" y="1077212"/>
                  </a:lnTo>
                  <a:cubicBezTo>
                    <a:pt x="2139175" y="1090105"/>
                    <a:pt x="2134053" y="1102470"/>
                    <a:pt x="2124937" y="1111586"/>
                  </a:cubicBezTo>
                  <a:cubicBezTo>
                    <a:pt x="2115820" y="1120703"/>
                    <a:pt x="2103456" y="1125824"/>
                    <a:pt x="2090563" y="1125824"/>
                  </a:cubicBezTo>
                  <a:lnTo>
                    <a:pt x="48612" y="1125824"/>
                  </a:lnTo>
                  <a:cubicBezTo>
                    <a:pt x="21764" y="1125824"/>
                    <a:pt x="0" y="1104060"/>
                    <a:pt x="0" y="1077212"/>
                  </a:cubicBezTo>
                  <a:lnTo>
                    <a:pt x="0" y="48612"/>
                  </a:lnTo>
                  <a:cubicBezTo>
                    <a:pt x="0" y="21764"/>
                    <a:pt x="21764" y="0"/>
                    <a:pt x="48612" y="0"/>
                  </a:cubicBezTo>
                  <a:close/>
                </a:path>
              </a:pathLst>
            </a:custGeom>
            <a:solidFill>
              <a:srgbClr val="FFFFFF"/>
            </a:solidFill>
          </p:spPr>
        </p:sp>
        <p:sp>
          <p:nvSpPr>
            <p:cNvPr name="TextBox 20" id="20"/>
            <p:cNvSpPr txBox="true"/>
            <p:nvPr/>
          </p:nvSpPr>
          <p:spPr>
            <a:xfrm>
              <a:off x="0" y="-38100"/>
              <a:ext cx="2139175" cy="1163924"/>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860976" y="2834224"/>
            <a:ext cx="8991553" cy="2900293"/>
          </a:xfrm>
          <a:prstGeom prst="rect">
            <a:avLst/>
          </a:prstGeom>
        </p:spPr>
        <p:txBody>
          <a:bodyPr anchor="t" rtlCol="false" tIns="0" lIns="0" bIns="0" rIns="0">
            <a:spAutoFit/>
          </a:bodyPr>
          <a:lstStyle/>
          <a:p>
            <a:pPr algn="l">
              <a:lnSpc>
                <a:spcPts val="5745"/>
              </a:lnSpc>
              <a:spcBef>
                <a:spcPct val="0"/>
              </a:spcBef>
            </a:pPr>
            <a:r>
              <a:rPr lang="en-US" sz="4104" spc="513">
                <a:solidFill>
                  <a:srgbClr val="000000"/>
                </a:solidFill>
                <a:latin typeface="Faustina"/>
                <a:ea typeface="Faustina"/>
                <a:cs typeface="Faustina"/>
                <a:sym typeface="Faustina"/>
              </a:rPr>
              <a:t>Dataset được</a:t>
            </a:r>
            <a:r>
              <a:rPr lang="en-US" sz="4104" spc="513">
                <a:solidFill>
                  <a:srgbClr val="000000"/>
                </a:solidFill>
                <a:latin typeface="Faustina"/>
                <a:ea typeface="Faustina"/>
                <a:cs typeface="Faustina"/>
                <a:sym typeface="Faustina"/>
              </a:rPr>
              <a:t> chia thành:</a:t>
            </a:r>
          </a:p>
          <a:p>
            <a:pPr algn="l" marL="886084" indent="-443042" lvl="1">
              <a:lnSpc>
                <a:spcPts val="5745"/>
              </a:lnSpc>
              <a:buFont typeface="Arial"/>
              <a:buChar char="•"/>
            </a:pPr>
            <a:r>
              <a:rPr lang="en-US" sz="4104" spc="513">
                <a:solidFill>
                  <a:srgbClr val="000000"/>
                </a:solidFill>
                <a:latin typeface="Faustina"/>
                <a:ea typeface="Faustina"/>
                <a:cs typeface="Faustina"/>
                <a:sym typeface="Faustina"/>
              </a:rPr>
              <a:t>80%</a:t>
            </a:r>
            <a:r>
              <a:rPr lang="en-US" sz="4104" spc="513">
                <a:solidFill>
                  <a:srgbClr val="000000"/>
                </a:solidFill>
                <a:latin typeface="Faustina"/>
                <a:ea typeface="Faustina"/>
                <a:cs typeface="Faustina"/>
                <a:sym typeface="Faustina"/>
              </a:rPr>
              <a:t> dữ liệu huấn luyện</a:t>
            </a:r>
          </a:p>
          <a:p>
            <a:pPr algn="l" marL="886084" indent="-443042" lvl="1">
              <a:lnSpc>
                <a:spcPts val="5745"/>
              </a:lnSpc>
              <a:buFont typeface="Arial"/>
              <a:buChar char="•"/>
            </a:pPr>
            <a:r>
              <a:rPr lang="en-US" sz="4104" spc="513">
                <a:solidFill>
                  <a:srgbClr val="000000"/>
                </a:solidFill>
                <a:latin typeface="Faustina"/>
                <a:ea typeface="Faustina"/>
                <a:cs typeface="Faustina"/>
                <a:sym typeface="Faustina"/>
              </a:rPr>
              <a:t>20% dữ liệu kiểm tra</a:t>
            </a:r>
          </a:p>
          <a:p>
            <a:pPr algn="l">
              <a:lnSpc>
                <a:spcPts val="5745"/>
              </a:lnSpc>
            </a:pPr>
          </a:p>
        </p:txBody>
      </p:sp>
      <p:sp>
        <p:nvSpPr>
          <p:cNvPr name="TextBox 22" id="22"/>
          <p:cNvSpPr txBox="true"/>
          <p:nvPr/>
        </p:nvSpPr>
        <p:spPr>
          <a:xfrm rot="0">
            <a:off x="9712559" y="2398563"/>
            <a:ext cx="7546741" cy="4204085"/>
          </a:xfrm>
          <a:prstGeom prst="rect">
            <a:avLst/>
          </a:prstGeom>
        </p:spPr>
        <p:txBody>
          <a:bodyPr anchor="t" rtlCol="false" tIns="0" lIns="0" bIns="0" rIns="0">
            <a:spAutoFit/>
          </a:bodyPr>
          <a:lstStyle/>
          <a:p>
            <a:pPr algn="l">
              <a:lnSpc>
                <a:spcPts val="4751"/>
              </a:lnSpc>
            </a:pPr>
            <a:r>
              <a:rPr lang="en-US" sz="3393" spc="424">
                <a:solidFill>
                  <a:srgbClr val="000000"/>
                </a:solidFill>
                <a:latin typeface="Faustina"/>
                <a:ea typeface="Faustina"/>
                <a:cs typeface="Faustina"/>
                <a:sym typeface="Faustina"/>
              </a:rPr>
              <a:t>Nguyên tắc:</a:t>
            </a:r>
          </a:p>
          <a:p>
            <a:pPr algn="l" marL="732680" indent="-366340" lvl="1">
              <a:lnSpc>
                <a:spcPts val="4751"/>
              </a:lnSpc>
              <a:spcBef>
                <a:spcPct val="0"/>
              </a:spcBef>
              <a:buFont typeface="Arial"/>
              <a:buChar char="•"/>
            </a:pPr>
            <a:r>
              <a:rPr lang="en-US" sz="3393" spc="424">
                <a:solidFill>
                  <a:srgbClr val="000000"/>
                </a:solidFill>
                <a:latin typeface="Faustina"/>
                <a:ea typeface="Faustina"/>
                <a:cs typeface="Faustina"/>
                <a:sym typeface="Faustina"/>
              </a:rPr>
              <a:t>Training set: dùng để</a:t>
            </a:r>
            <a:r>
              <a:rPr lang="en-US" sz="3393" spc="424">
                <a:solidFill>
                  <a:srgbClr val="000000"/>
                </a:solidFill>
                <a:latin typeface="Faustina"/>
                <a:ea typeface="Faustina"/>
                <a:cs typeface="Faustina"/>
                <a:sym typeface="Faustina"/>
              </a:rPr>
              <a:t> tính gradient và cập nhật tham số</a:t>
            </a:r>
          </a:p>
          <a:p>
            <a:pPr algn="l" marL="732680" indent="-366340" lvl="1">
              <a:lnSpc>
                <a:spcPts val="4751"/>
              </a:lnSpc>
              <a:buFont typeface="Arial"/>
              <a:buChar char="•"/>
            </a:pPr>
            <a:r>
              <a:rPr lang="en-US" sz="3393" spc="424">
                <a:solidFill>
                  <a:srgbClr val="000000"/>
                </a:solidFill>
                <a:latin typeface="Faustina"/>
                <a:ea typeface="Faustina"/>
                <a:cs typeface="Faustina"/>
                <a:sym typeface="Faustina"/>
              </a:rPr>
              <a:t>Test set: chỉ</a:t>
            </a:r>
            <a:r>
              <a:rPr lang="en-US" sz="3393" spc="424">
                <a:solidFill>
                  <a:srgbClr val="000000"/>
                </a:solidFill>
                <a:latin typeface="Faustina"/>
                <a:ea typeface="Faustina"/>
                <a:cs typeface="Faustina"/>
                <a:sym typeface="Faustina"/>
              </a:rPr>
              <a:t> dùng để đánh giá, tuyệt đối không tham gia huấn luyện</a:t>
            </a:r>
          </a:p>
          <a:p>
            <a:pPr algn="l">
              <a:lnSpc>
                <a:spcPts val="4751"/>
              </a:lnSpc>
            </a:pPr>
          </a:p>
        </p:txBody>
      </p:sp>
      <p:sp>
        <p:nvSpPr>
          <p:cNvPr name="TextBox 23" id="23"/>
          <p:cNvSpPr txBox="true"/>
          <p:nvPr/>
        </p:nvSpPr>
        <p:spPr>
          <a:xfrm rot="0">
            <a:off x="492921" y="6983648"/>
            <a:ext cx="17427024" cy="1331570"/>
          </a:xfrm>
          <a:prstGeom prst="rect">
            <a:avLst/>
          </a:prstGeom>
        </p:spPr>
        <p:txBody>
          <a:bodyPr anchor="t" rtlCol="false" tIns="0" lIns="0" bIns="0" rIns="0">
            <a:spAutoFit/>
          </a:bodyPr>
          <a:lstStyle/>
          <a:p>
            <a:pPr algn="l">
              <a:lnSpc>
                <a:spcPts val="5356"/>
              </a:lnSpc>
              <a:spcBef>
                <a:spcPct val="0"/>
              </a:spcBef>
            </a:pPr>
            <a:r>
              <a:rPr lang="en-US" sz="3825" spc="478">
                <a:solidFill>
                  <a:srgbClr val="FFFFFF"/>
                </a:solidFill>
                <a:latin typeface="Faustina"/>
                <a:ea typeface="Faustina"/>
                <a:cs typeface="Faustina"/>
                <a:sym typeface="Faustina"/>
              </a:rPr>
              <a:t>Điều</a:t>
            </a:r>
            <a:r>
              <a:rPr lang="en-US" sz="3825" spc="478">
                <a:solidFill>
                  <a:srgbClr val="FFFFFF"/>
                </a:solidFill>
                <a:latin typeface="Faustina"/>
                <a:ea typeface="Faustina"/>
                <a:cs typeface="Faustina"/>
                <a:sym typeface="Faustina"/>
              </a:rPr>
              <a:t> này đảm bảo</a:t>
            </a:r>
            <a:r>
              <a:rPr lang="en-US" sz="3825" spc="478">
                <a:solidFill>
                  <a:srgbClr val="FFFFFF"/>
                </a:solidFill>
                <a:latin typeface="Faustina"/>
                <a:ea typeface="Faustina"/>
                <a:cs typeface="Faustina"/>
                <a:sym typeface="Faustina"/>
              </a:rPr>
              <a:t> </a:t>
            </a:r>
            <a:r>
              <a:rPr lang="en-US" sz="3825" spc="478">
                <a:solidFill>
                  <a:srgbClr val="FFFFFF"/>
                </a:solidFill>
                <a:latin typeface="Faustina"/>
                <a:ea typeface="Faustina"/>
                <a:cs typeface="Faustina"/>
                <a:sym typeface="Faustina"/>
              </a:rPr>
              <a:t>đá</a:t>
            </a:r>
            <a:r>
              <a:rPr lang="en-US" sz="3825" spc="478">
                <a:solidFill>
                  <a:srgbClr val="FFFFFF"/>
                </a:solidFill>
                <a:latin typeface="Faustina"/>
                <a:ea typeface="Faustina"/>
                <a:cs typeface="Faustina"/>
                <a:sym typeface="Faustina"/>
              </a:rPr>
              <a:t>n</a:t>
            </a:r>
            <a:r>
              <a:rPr lang="en-US" sz="3825" spc="478">
                <a:solidFill>
                  <a:srgbClr val="FFFFFF"/>
                </a:solidFill>
                <a:latin typeface="Faustina"/>
                <a:ea typeface="Faustina"/>
                <a:cs typeface="Faustina"/>
                <a:sym typeface="Faustina"/>
              </a:rPr>
              <a:t>h</a:t>
            </a:r>
            <a:r>
              <a:rPr lang="en-US" sz="3825" spc="478">
                <a:solidFill>
                  <a:srgbClr val="FFFFFF"/>
                </a:solidFill>
                <a:latin typeface="Faustina"/>
                <a:ea typeface="Faustina"/>
                <a:cs typeface="Faustina"/>
                <a:sym typeface="Faustina"/>
              </a:rPr>
              <a:t> </a:t>
            </a:r>
            <a:r>
              <a:rPr lang="en-US" sz="3825" spc="478">
                <a:solidFill>
                  <a:srgbClr val="FFFFFF"/>
                </a:solidFill>
                <a:latin typeface="Faustina"/>
                <a:ea typeface="Faustina"/>
                <a:cs typeface="Faustina"/>
                <a:sym typeface="Faustina"/>
              </a:rPr>
              <a:t>g</a:t>
            </a:r>
            <a:r>
              <a:rPr lang="en-US" sz="3825" spc="478">
                <a:solidFill>
                  <a:srgbClr val="FFFFFF"/>
                </a:solidFill>
                <a:latin typeface="Faustina"/>
                <a:ea typeface="Faustina"/>
                <a:cs typeface="Faustina"/>
                <a:sym typeface="Faustina"/>
              </a:rPr>
              <a:t>i</a:t>
            </a:r>
            <a:r>
              <a:rPr lang="en-US" sz="3825" spc="478">
                <a:solidFill>
                  <a:srgbClr val="FFFFFF"/>
                </a:solidFill>
                <a:latin typeface="Faustina"/>
                <a:ea typeface="Faustina"/>
                <a:cs typeface="Faustina"/>
                <a:sym typeface="Faustina"/>
              </a:rPr>
              <a:t>á mô hình khách quan, tránh overfitting.</a:t>
            </a:r>
          </a:p>
          <a:p>
            <a:pPr algn="l">
              <a:lnSpc>
                <a:spcPts val="5356"/>
              </a:lnSpc>
              <a:spcBef>
                <a:spcPct val="0"/>
              </a:spcBef>
            </a:pP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0">
            <a:off x="9459572" y="2919949"/>
            <a:ext cx="8391569" cy="5121001"/>
            <a:chOff x="0" y="0"/>
            <a:chExt cx="864443" cy="527531"/>
          </a:xfrm>
        </p:grpSpPr>
        <p:sp>
          <p:nvSpPr>
            <p:cNvPr name="Freeform 4" id="4"/>
            <p:cNvSpPr/>
            <p:nvPr/>
          </p:nvSpPr>
          <p:spPr>
            <a:xfrm flipH="false" flipV="false" rot="0">
              <a:off x="0" y="0"/>
              <a:ext cx="864443" cy="527531"/>
            </a:xfrm>
            <a:custGeom>
              <a:avLst/>
              <a:gdLst/>
              <a:ahLst/>
              <a:cxnLst/>
              <a:rect r="r" b="b" t="t" l="l"/>
              <a:pathLst>
                <a:path h="527531" w="864443">
                  <a:moveTo>
                    <a:pt x="21219" y="0"/>
                  </a:moveTo>
                  <a:lnTo>
                    <a:pt x="843223" y="0"/>
                  </a:lnTo>
                  <a:cubicBezTo>
                    <a:pt x="848851" y="0"/>
                    <a:pt x="854248" y="2236"/>
                    <a:pt x="858228" y="6215"/>
                  </a:cubicBezTo>
                  <a:cubicBezTo>
                    <a:pt x="862207" y="10194"/>
                    <a:pt x="864443" y="15592"/>
                    <a:pt x="864443" y="21219"/>
                  </a:cubicBezTo>
                  <a:lnTo>
                    <a:pt x="864443" y="506311"/>
                  </a:lnTo>
                  <a:cubicBezTo>
                    <a:pt x="864443" y="511939"/>
                    <a:pt x="862207" y="517336"/>
                    <a:pt x="858228" y="521316"/>
                  </a:cubicBezTo>
                  <a:cubicBezTo>
                    <a:pt x="854248" y="525295"/>
                    <a:pt x="848851" y="527531"/>
                    <a:pt x="843223" y="527531"/>
                  </a:cubicBezTo>
                  <a:lnTo>
                    <a:pt x="21219" y="527531"/>
                  </a:lnTo>
                  <a:cubicBezTo>
                    <a:pt x="15592" y="527531"/>
                    <a:pt x="10194" y="525295"/>
                    <a:pt x="6215" y="521316"/>
                  </a:cubicBezTo>
                  <a:cubicBezTo>
                    <a:pt x="2236" y="517336"/>
                    <a:pt x="0" y="511939"/>
                    <a:pt x="0" y="506311"/>
                  </a:cubicBezTo>
                  <a:lnTo>
                    <a:pt x="0" y="21219"/>
                  </a:lnTo>
                  <a:cubicBezTo>
                    <a:pt x="0" y="15592"/>
                    <a:pt x="2236" y="10194"/>
                    <a:pt x="6215" y="6215"/>
                  </a:cubicBezTo>
                  <a:cubicBezTo>
                    <a:pt x="10194" y="2236"/>
                    <a:pt x="15592" y="0"/>
                    <a:pt x="21219" y="0"/>
                  </a:cubicBezTo>
                  <a:close/>
                </a:path>
              </a:pathLst>
            </a:custGeom>
            <a:blipFill>
              <a:blip r:embed="rId3"/>
              <a:stretch>
                <a:fillRect l="-4487" t="0" r="-4487" b="0"/>
              </a:stretch>
            </a:blipFill>
            <a:ln w="85725" cap="rnd">
              <a:solidFill>
                <a:srgbClr val="6BC4E0"/>
              </a:solidFill>
              <a:prstDash val="solid"/>
              <a:round/>
            </a:ln>
          </p:spPr>
        </p:sp>
      </p:grpSp>
      <p:grpSp>
        <p:nvGrpSpPr>
          <p:cNvPr name="Group 5" id="5"/>
          <p:cNvGrpSpPr/>
          <p:nvPr/>
        </p:nvGrpSpPr>
        <p:grpSpPr>
          <a:xfrm rot="6241280">
            <a:off x="-3191326" y="4206128"/>
            <a:ext cx="12105853" cy="1210585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8" id="8"/>
          <p:cNvGrpSpPr/>
          <p:nvPr/>
        </p:nvGrpSpPr>
        <p:grpSpPr>
          <a:xfrm rot="-8761193">
            <a:off x="14415098" y="-3066592"/>
            <a:ext cx="5404915" cy="54049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11" id="11"/>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226385" y="-1487040"/>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028700" y="715812"/>
            <a:ext cx="13922333" cy="3124147"/>
          </a:xfrm>
          <a:prstGeom prst="rect">
            <a:avLst/>
          </a:prstGeom>
        </p:spPr>
        <p:txBody>
          <a:bodyPr anchor="t" rtlCol="false" tIns="0" lIns="0" bIns="0" rIns="0">
            <a:spAutoFit/>
          </a:bodyPr>
          <a:lstStyle/>
          <a:p>
            <a:pPr algn="l" marL="0" indent="0" lvl="0">
              <a:lnSpc>
                <a:spcPts val="8069"/>
              </a:lnSpc>
              <a:spcBef>
                <a:spcPct val="0"/>
              </a:spcBef>
            </a:pPr>
            <a:r>
              <a:rPr lang="en-US" b="true" sz="8405" spc="-428">
                <a:solidFill>
                  <a:srgbClr val="FFFFFF"/>
                </a:solidFill>
                <a:latin typeface="Noto Sans Bold"/>
                <a:ea typeface="Noto Sans Bold"/>
                <a:cs typeface="Noto Sans Bold"/>
                <a:sym typeface="Noto Sans Bold"/>
              </a:rPr>
              <a:t>Chuẩn hóa đặ</a:t>
            </a:r>
            <a:r>
              <a:rPr lang="en-US" b="true" sz="8405" spc="-428" strike="noStrike" u="none">
                <a:solidFill>
                  <a:srgbClr val="FFFFFF"/>
                </a:solidFill>
                <a:latin typeface="Noto Sans Bold"/>
                <a:ea typeface="Noto Sans Bold"/>
                <a:cs typeface="Noto Sans Bold"/>
                <a:sym typeface="Noto Sans Bold"/>
              </a:rPr>
              <a:t>c </a:t>
            </a:r>
            <a:r>
              <a:rPr lang="en-US" b="true" sz="8405" spc="-428" strike="noStrike" u="none">
                <a:solidFill>
                  <a:srgbClr val="FFFFFF"/>
                </a:solidFill>
                <a:latin typeface="Noto Sans Bold"/>
                <a:ea typeface="Noto Sans Bold"/>
                <a:cs typeface="Noto Sans Bold"/>
                <a:sym typeface="Noto Sans Bold"/>
              </a:rPr>
              <a:t>trư</a:t>
            </a:r>
            <a:r>
              <a:rPr lang="en-US" b="true" sz="8405" spc="-428" strike="noStrike" u="none">
                <a:solidFill>
                  <a:srgbClr val="FFFFFF"/>
                </a:solidFill>
                <a:latin typeface="Noto Sans Bold"/>
                <a:ea typeface="Noto Sans Bold"/>
                <a:cs typeface="Noto Sans Bold"/>
                <a:sym typeface="Noto Sans Bold"/>
              </a:rPr>
              <a:t>n</a:t>
            </a:r>
            <a:r>
              <a:rPr lang="en-US" b="true" sz="8405" spc="-428" strike="noStrike" u="none">
                <a:solidFill>
                  <a:srgbClr val="FFFFFF"/>
                </a:solidFill>
                <a:latin typeface="Noto Sans Bold"/>
                <a:ea typeface="Noto Sans Bold"/>
                <a:cs typeface="Noto Sans Bold"/>
                <a:sym typeface="Noto Sans Bold"/>
              </a:rPr>
              <a:t>g (Fea</a:t>
            </a:r>
            <a:r>
              <a:rPr lang="en-US" b="true" sz="8405" spc="-428" strike="noStrike" u="none">
                <a:solidFill>
                  <a:srgbClr val="FFFFFF"/>
                </a:solidFill>
                <a:latin typeface="Noto Sans Bold"/>
                <a:ea typeface="Noto Sans Bold"/>
                <a:cs typeface="Noto Sans Bold"/>
                <a:sym typeface="Noto Sans Bold"/>
              </a:rPr>
              <a:t>t</a:t>
            </a:r>
            <a:r>
              <a:rPr lang="en-US" b="true" sz="8405" spc="-428" strike="noStrike" u="none">
                <a:solidFill>
                  <a:srgbClr val="FFFFFF"/>
                </a:solidFill>
                <a:latin typeface="Noto Sans Bold"/>
                <a:ea typeface="Noto Sans Bold"/>
                <a:cs typeface="Noto Sans Bold"/>
                <a:sym typeface="Noto Sans Bold"/>
              </a:rPr>
              <a:t>ur</a:t>
            </a:r>
            <a:r>
              <a:rPr lang="en-US" b="true" sz="8405" spc="-428" strike="noStrike" u="none">
                <a:solidFill>
                  <a:srgbClr val="FFFFFF"/>
                </a:solidFill>
                <a:latin typeface="Noto Sans Bold"/>
                <a:ea typeface="Noto Sans Bold"/>
                <a:cs typeface="Noto Sans Bold"/>
                <a:sym typeface="Noto Sans Bold"/>
              </a:rPr>
              <a:t>e</a:t>
            </a:r>
            <a:r>
              <a:rPr lang="en-US" b="true" sz="8405" spc="-428" strike="noStrike" u="none">
                <a:solidFill>
                  <a:srgbClr val="FFFFFF"/>
                </a:solidFill>
                <a:latin typeface="Noto Sans Bold"/>
                <a:ea typeface="Noto Sans Bold"/>
                <a:cs typeface="Noto Sans Bold"/>
                <a:sym typeface="Noto Sans Bold"/>
              </a:rPr>
              <a:t> Sca</a:t>
            </a:r>
            <a:r>
              <a:rPr lang="en-US" b="true" sz="8405" spc="-428" strike="noStrike" u="none">
                <a:solidFill>
                  <a:srgbClr val="FFFFFF"/>
                </a:solidFill>
                <a:latin typeface="Noto Sans Bold"/>
                <a:ea typeface="Noto Sans Bold"/>
                <a:cs typeface="Noto Sans Bold"/>
                <a:sym typeface="Noto Sans Bold"/>
              </a:rPr>
              <a:t>li</a:t>
            </a:r>
            <a:r>
              <a:rPr lang="en-US" b="true" sz="8405" spc="-428" strike="noStrike" u="none">
                <a:solidFill>
                  <a:srgbClr val="FFFFFF"/>
                </a:solidFill>
                <a:latin typeface="Noto Sans Bold"/>
                <a:ea typeface="Noto Sans Bold"/>
                <a:cs typeface="Noto Sans Bold"/>
                <a:sym typeface="Noto Sans Bold"/>
              </a:rPr>
              <a:t>n</a:t>
            </a:r>
            <a:r>
              <a:rPr lang="en-US" b="true" sz="8405" spc="-428" strike="noStrike" u="none">
                <a:solidFill>
                  <a:srgbClr val="FFFFFF"/>
                </a:solidFill>
                <a:latin typeface="Noto Sans Bold"/>
                <a:ea typeface="Noto Sans Bold"/>
                <a:cs typeface="Noto Sans Bold"/>
                <a:sym typeface="Noto Sans Bold"/>
              </a:rPr>
              <a:t>g</a:t>
            </a:r>
            <a:r>
              <a:rPr lang="en-US" b="true" sz="8405" spc="-428" strike="noStrike" u="none">
                <a:solidFill>
                  <a:srgbClr val="FFFFFF"/>
                </a:solidFill>
                <a:latin typeface="Noto Sans Bold"/>
                <a:ea typeface="Noto Sans Bold"/>
                <a:cs typeface="Noto Sans Bold"/>
                <a:sym typeface="Noto Sans Bold"/>
              </a:rPr>
              <a:t>)</a:t>
            </a:r>
          </a:p>
          <a:p>
            <a:pPr algn="l" marL="0" indent="0" lvl="0">
              <a:lnSpc>
                <a:spcPts val="8069"/>
              </a:lnSpc>
              <a:spcBef>
                <a:spcPct val="0"/>
              </a:spcBef>
            </a:pPr>
          </a:p>
        </p:txBody>
      </p:sp>
      <p:grpSp>
        <p:nvGrpSpPr>
          <p:cNvPr name="Group 14" id="14"/>
          <p:cNvGrpSpPr/>
          <p:nvPr/>
        </p:nvGrpSpPr>
        <p:grpSpPr>
          <a:xfrm rot="0">
            <a:off x="658418" y="3387246"/>
            <a:ext cx="8485582" cy="5689768"/>
            <a:chOff x="0" y="0"/>
            <a:chExt cx="2234886" cy="1498540"/>
          </a:xfrm>
        </p:grpSpPr>
        <p:sp>
          <p:nvSpPr>
            <p:cNvPr name="Freeform 15" id="15"/>
            <p:cNvSpPr/>
            <p:nvPr/>
          </p:nvSpPr>
          <p:spPr>
            <a:xfrm flipH="false" flipV="false" rot="0">
              <a:off x="0" y="0"/>
              <a:ext cx="2234886" cy="1498540"/>
            </a:xfrm>
            <a:custGeom>
              <a:avLst/>
              <a:gdLst/>
              <a:ahLst/>
              <a:cxnLst/>
              <a:rect r="r" b="b" t="t" l="l"/>
              <a:pathLst>
                <a:path h="1498540" w="2234886">
                  <a:moveTo>
                    <a:pt x="46530" y="0"/>
                  </a:moveTo>
                  <a:lnTo>
                    <a:pt x="2188355" y="0"/>
                  </a:lnTo>
                  <a:cubicBezTo>
                    <a:pt x="2214053" y="0"/>
                    <a:pt x="2234886" y="20832"/>
                    <a:pt x="2234886" y="46530"/>
                  </a:cubicBezTo>
                  <a:lnTo>
                    <a:pt x="2234886" y="1452009"/>
                  </a:lnTo>
                  <a:cubicBezTo>
                    <a:pt x="2234886" y="1464350"/>
                    <a:pt x="2229983" y="1476185"/>
                    <a:pt x="2221257" y="1484911"/>
                  </a:cubicBezTo>
                  <a:cubicBezTo>
                    <a:pt x="2212531" y="1493637"/>
                    <a:pt x="2200696" y="1498540"/>
                    <a:pt x="2188355" y="1498540"/>
                  </a:cubicBezTo>
                  <a:lnTo>
                    <a:pt x="46530" y="1498540"/>
                  </a:lnTo>
                  <a:cubicBezTo>
                    <a:pt x="34190" y="1498540"/>
                    <a:pt x="22355" y="1493637"/>
                    <a:pt x="13628" y="1484911"/>
                  </a:cubicBezTo>
                  <a:cubicBezTo>
                    <a:pt x="4902" y="1476185"/>
                    <a:pt x="0" y="1464350"/>
                    <a:pt x="0" y="1452009"/>
                  </a:cubicBezTo>
                  <a:lnTo>
                    <a:pt x="0" y="46530"/>
                  </a:lnTo>
                  <a:cubicBezTo>
                    <a:pt x="0" y="34190"/>
                    <a:pt x="4902" y="22355"/>
                    <a:pt x="13628" y="13628"/>
                  </a:cubicBezTo>
                  <a:cubicBezTo>
                    <a:pt x="22355" y="4902"/>
                    <a:pt x="34190" y="0"/>
                    <a:pt x="46530" y="0"/>
                  </a:cubicBezTo>
                  <a:close/>
                </a:path>
              </a:pathLst>
            </a:custGeom>
            <a:solidFill>
              <a:srgbClr val="FFFFFF"/>
            </a:solidFill>
          </p:spPr>
        </p:sp>
        <p:sp>
          <p:nvSpPr>
            <p:cNvPr name="TextBox 16" id="16"/>
            <p:cNvSpPr txBox="true"/>
            <p:nvPr/>
          </p:nvSpPr>
          <p:spPr>
            <a:xfrm>
              <a:off x="0" y="-38100"/>
              <a:ext cx="2234886" cy="1536640"/>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940760" y="3743736"/>
            <a:ext cx="7920899" cy="4929163"/>
          </a:xfrm>
          <a:prstGeom prst="rect">
            <a:avLst/>
          </a:prstGeom>
        </p:spPr>
        <p:txBody>
          <a:bodyPr anchor="t" rtlCol="false" tIns="0" lIns="0" bIns="0" rIns="0">
            <a:spAutoFit/>
          </a:bodyPr>
          <a:lstStyle/>
          <a:p>
            <a:pPr algn="l">
              <a:lnSpc>
                <a:spcPts val="3938"/>
              </a:lnSpc>
              <a:spcBef>
                <a:spcPct val="0"/>
              </a:spcBef>
            </a:pPr>
            <a:r>
              <a:rPr lang="en-US" sz="2813" spc="351">
                <a:solidFill>
                  <a:srgbClr val="000000"/>
                </a:solidFill>
                <a:latin typeface="Faustina"/>
                <a:ea typeface="Faustina"/>
                <a:cs typeface="Faustina"/>
                <a:sym typeface="Faustina"/>
              </a:rPr>
              <a:t>Gradient descent hội tụ nhanh hơn khi các đặc trưng có cùng thang đo.</a:t>
            </a:r>
          </a:p>
          <a:p>
            <a:pPr algn="l">
              <a:lnSpc>
                <a:spcPts val="3938"/>
              </a:lnSpc>
              <a:spcBef>
                <a:spcPct val="0"/>
              </a:spcBef>
            </a:pPr>
            <a:r>
              <a:rPr lang="en-US" sz="2813" spc="351">
                <a:solidFill>
                  <a:srgbClr val="000000"/>
                </a:solidFill>
                <a:latin typeface="Faustina"/>
                <a:ea typeface="Faustina"/>
                <a:cs typeface="Faustina"/>
                <a:sym typeface="Faustina"/>
              </a:rPr>
              <a:t>Mỗi đặc trưng được chuẩn hóa theo công thức:</a:t>
            </a:r>
          </a:p>
          <a:p>
            <a:pPr algn="l">
              <a:lnSpc>
                <a:spcPts val="3938"/>
              </a:lnSpc>
              <a:spcBef>
                <a:spcPct val="0"/>
              </a:spcBef>
            </a:pPr>
            <a:r>
              <a:rPr lang="en-US" sz="2813" spc="351">
                <a:solidFill>
                  <a:srgbClr val="000000"/>
                </a:solidFill>
                <a:latin typeface="Faustina"/>
                <a:ea typeface="Faustina"/>
                <a:cs typeface="Faustina"/>
                <a:sym typeface="Faustina"/>
              </a:rPr>
              <a:t>x ← (x − mean) / std</a:t>
            </a:r>
          </a:p>
          <a:p>
            <a:pPr algn="l">
              <a:lnSpc>
                <a:spcPts val="3938"/>
              </a:lnSpc>
              <a:spcBef>
                <a:spcPct val="0"/>
              </a:spcBef>
            </a:pPr>
            <a:r>
              <a:rPr lang="en-US" b="true" sz="2813" spc="351">
                <a:solidFill>
                  <a:srgbClr val="000000"/>
                </a:solidFill>
                <a:latin typeface="Faustina Bold"/>
                <a:ea typeface="Faustina Bold"/>
                <a:cs typeface="Faustina Bold"/>
                <a:sym typeface="Faustina Bold"/>
              </a:rPr>
              <a:t>Lưu ý quan trọng:</a:t>
            </a:r>
          </a:p>
          <a:p>
            <a:pPr algn="l" marL="607431" indent="-303715" lvl="1">
              <a:lnSpc>
                <a:spcPts val="3938"/>
              </a:lnSpc>
              <a:buFont typeface="Arial"/>
              <a:buChar char="•"/>
            </a:pPr>
            <a:r>
              <a:rPr lang="en-US" sz="2813" spc="351">
                <a:solidFill>
                  <a:srgbClr val="000000"/>
                </a:solidFill>
                <a:latin typeface="Faustina"/>
                <a:ea typeface="Faustina"/>
                <a:cs typeface="Faustina"/>
                <a:sym typeface="Faustina"/>
              </a:rPr>
              <a:t>Chuẩn hóa </a:t>
            </a:r>
            <a:r>
              <a:rPr lang="en-US" b="true" sz="2813" spc="351">
                <a:solidFill>
                  <a:srgbClr val="000000"/>
                </a:solidFill>
                <a:latin typeface="Faustina Bold"/>
                <a:ea typeface="Faustina Bold"/>
                <a:cs typeface="Faustina Bold"/>
                <a:sym typeface="Faustina Bold"/>
              </a:rPr>
              <a:t>không làm thay đổi dạng toán học của gradient</a:t>
            </a:r>
          </a:p>
          <a:p>
            <a:pPr algn="l" marL="607431" indent="-303715" lvl="1">
              <a:lnSpc>
                <a:spcPts val="3938"/>
              </a:lnSpc>
              <a:buFont typeface="Arial"/>
              <a:buChar char="•"/>
            </a:pPr>
            <a:r>
              <a:rPr lang="en-US" sz="2813" spc="351">
                <a:solidFill>
                  <a:srgbClr val="000000"/>
                </a:solidFill>
                <a:latin typeface="Faustina"/>
                <a:ea typeface="Faustina"/>
                <a:cs typeface="Faustina"/>
                <a:sym typeface="Faustina"/>
              </a:rPr>
              <a:t>Chỉ cải thiện</a:t>
            </a:r>
            <a:r>
              <a:rPr lang="en-US" b="true" sz="2813" spc="351">
                <a:solidFill>
                  <a:srgbClr val="000000"/>
                </a:solidFill>
                <a:latin typeface="Faustina Bold"/>
                <a:ea typeface="Faustina Bold"/>
                <a:cs typeface="Faustina Bold"/>
                <a:sym typeface="Faustina Bold"/>
              </a:rPr>
              <a:t> tính ổn định số học </a:t>
            </a:r>
            <a:r>
              <a:rPr lang="en-US" sz="2813" spc="351">
                <a:solidFill>
                  <a:srgbClr val="000000"/>
                </a:solidFill>
                <a:latin typeface="Faustina"/>
                <a:ea typeface="Faustina"/>
                <a:cs typeface="Faustina"/>
                <a:sym typeface="Faustina"/>
              </a:rPr>
              <a:t>và tốc độ hội tụ</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6052927" y="6291506"/>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405556" y="1109322"/>
            <a:ext cx="15853744" cy="2277924"/>
          </a:xfrm>
          <a:prstGeom prst="rect">
            <a:avLst/>
          </a:prstGeom>
        </p:spPr>
        <p:txBody>
          <a:bodyPr anchor="t" rtlCol="false" tIns="0" lIns="0" bIns="0" rIns="0">
            <a:spAutoFit/>
          </a:bodyPr>
          <a:lstStyle/>
          <a:p>
            <a:pPr algn="l" marL="0" indent="0" lvl="0">
              <a:lnSpc>
                <a:spcPts val="8745"/>
              </a:lnSpc>
              <a:spcBef>
                <a:spcPct val="0"/>
              </a:spcBef>
            </a:pPr>
            <a:r>
              <a:rPr lang="en-US" b="true" sz="9110" spc="-464">
                <a:solidFill>
                  <a:srgbClr val="FFFFFF"/>
                </a:solidFill>
                <a:latin typeface="Noto Sans Bold"/>
                <a:ea typeface="Noto Sans Bold"/>
                <a:cs typeface="Noto Sans Bold"/>
                <a:sym typeface="Noto Sans Bold"/>
              </a:rPr>
              <a:t>Mô </a:t>
            </a:r>
            <a:r>
              <a:rPr lang="en-US" b="true" sz="9110" spc="-464" strike="noStrike" u="none">
                <a:solidFill>
                  <a:srgbClr val="FFFFFF"/>
                </a:solidFill>
                <a:latin typeface="Noto Sans Bold"/>
                <a:ea typeface="Noto Sans Bold"/>
                <a:cs typeface="Noto Sans Bold"/>
                <a:sym typeface="Noto Sans Bold"/>
              </a:rPr>
              <a:t>h</a:t>
            </a:r>
            <a:r>
              <a:rPr lang="en-US" b="true" sz="9110" spc="-464" strike="noStrike" u="none">
                <a:solidFill>
                  <a:srgbClr val="FFFFFF"/>
                </a:solidFill>
                <a:latin typeface="Noto Sans Bold"/>
                <a:ea typeface="Noto Sans Bold"/>
                <a:cs typeface="Noto Sans Bold"/>
                <a:sym typeface="Noto Sans Bold"/>
              </a:rPr>
              <a:t>ì</a:t>
            </a:r>
            <a:r>
              <a:rPr lang="en-US" b="true" sz="9110" spc="-464" strike="noStrike" u="none">
                <a:solidFill>
                  <a:srgbClr val="FFFFFF"/>
                </a:solidFill>
                <a:latin typeface="Noto Sans Bold"/>
                <a:ea typeface="Noto Sans Bold"/>
                <a:cs typeface="Noto Sans Bold"/>
                <a:sym typeface="Noto Sans Bold"/>
              </a:rPr>
              <a:t>n</a:t>
            </a:r>
            <a:r>
              <a:rPr lang="en-US" b="true" sz="9110" spc="-464" strike="noStrike" u="none">
                <a:solidFill>
                  <a:srgbClr val="FFFFFF"/>
                </a:solidFill>
                <a:latin typeface="Noto Sans Bold"/>
                <a:ea typeface="Noto Sans Bold"/>
                <a:cs typeface="Noto Sans Bold"/>
                <a:sym typeface="Noto Sans Bold"/>
              </a:rPr>
              <a:t>h</a:t>
            </a:r>
            <a:r>
              <a:rPr lang="en-US" b="true" sz="9110" spc="-464" strike="noStrike" u="none">
                <a:solidFill>
                  <a:srgbClr val="FFFFFF"/>
                </a:solidFill>
                <a:latin typeface="Noto Sans Bold"/>
                <a:ea typeface="Noto Sans Bold"/>
                <a:cs typeface="Noto Sans Bold"/>
                <a:sym typeface="Noto Sans Bold"/>
              </a:rPr>
              <a:t> </a:t>
            </a:r>
            <a:r>
              <a:rPr lang="en-US" b="true" sz="9110" spc="-464" strike="noStrike" u="none">
                <a:solidFill>
                  <a:srgbClr val="FFFFFF"/>
                </a:solidFill>
                <a:latin typeface="Noto Sans Bold"/>
                <a:ea typeface="Noto Sans Bold"/>
                <a:cs typeface="Noto Sans Bold"/>
                <a:sym typeface="Noto Sans Bold"/>
              </a:rPr>
              <a:t>Logis</a:t>
            </a:r>
            <a:r>
              <a:rPr lang="en-US" b="true" sz="9110" spc="-464" strike="noStrike" u="none">
                <a:solidFill>
                  <a:srgbClr val="FFFFFF"/>
                </a:solidFill>
                <a:latin typeface="Noto Sans Bold"/>
                <a:ea typeface="Noto Sans Bold"/>
                <a:cs typeface="Noto Sans Bold"/>
                <a:sym typeface="Noto Sans Bold"/>
              </a:rPr>
              <a:t>t</a:t>
            </a:r>
            <a:r>
              <a:rPr lang="en-US" b="true" sz="9110" spc="-464" strike="noStrike" u="none">
                <a:solidFill>
                  <a:srgbClr val="FFFFFF"/>
                </a:solidFill>
                <a:latin typeface="Noto Sans Bold"/>
                <a:ea typeface="Noto Sans Bold"/>
                <a:cs typeface="Noto Sans Bold"/>
                <a:sym typeface="Noto Sans Bold"/>
              </a:rPr>
              <a:t>i</a:t>
            </a:r>
            <a:r>
              <a:rPr lang="en-US" b="true" sz="9110" spc="-464" strike="noStrike" u="none">
                <a:solidFill>
                  <a:srgbClr val="FFFFFF"/>
                </a:solidFill>
                <a:latin typeface="Noto Sans Bold"/>
                <a:ea typeface="Noto Sans Bold"/>
                <a:cs typeface="Noto Sans Bold"/>
                <a:sym typeface="Noto Sans Bold"/>
              </a:rPr>
              <a:t>c</a:t>
            </a:r>
            <a:r>
              <a:rPr lang="en-US" b="true" sz="9110" spc="-464" strike="noStrike" u="none">
                <a:solidFill>
                  <a:srgbClr val="FFFFFF"/>
                </a:solidFill>
                <a:latin typeface="Noto Sans Bold"/>
                <a:ea typeface="Noto Sans Bold"/>
                <a:cs typeface="Noto Sans Bold"/>
                <a:sym typeface="Noto Sans Bold"/>
              </a:rPr>
              <a:t> Reg</a:t>
            </a:r>
            <a:r>
              <a:rPr lang="en-US" b="true" sz="9110" spc="-464" strike="noStrike" u="none">
                <a:solidFill>
                  <a:srgbClr val="FFFFFF"/>
                </a:solidFill>
                <a:latin typeface="Noto Sans Bold"/>
                <a:ea typeface="Noto Sans Bold"/>
                <a:cs typeface="Noto Sans Bold"/>
                <a:sym typeface="Noto Sans Bold"/>
              </a:rPr>
              <a:t>re</a:t>
            </a:r>
            <a:r>
              <a:rPr lang="en-US" b="true" sz="9110" spc="-464" strike="noStrike" u="none">
                <a:solidFill>
                  <a:srgbClr val="FFFFFF"/>
                </a:solidFill>
                <a:latin typeface="Noto Sans Bold"/>
                <a:ea typeface="Noto Sans Bold"/>
                <a:cs typeface="Noto Sans Bold"/>
                <a:sym typeface="Noto Sans Bold"/>
              </a:rPr>
              <a:t>ssio</a:t>
            </a:r>
            <a:r>
              <a:rPr lang="en-US" b="true" sz="9110" spc="-464" strike="noStrike" u="none">
                <a:solidFill>
                  <a:srgbClr val="FFFFFF"/>
                </a:solidFill>
                <a:latin typeface="Noto Sans Bold"/>
                <a:ea typeface="Noto Sans Bold"/>
                <a:cs typeface="Noto Sans Bold"/>
                <a:sym typeface="Noto Sans Bold"/>
              </a:rPr>
              <a:t>n</a:t>
            </a:r>
          </a:p>
          <a:p>
            <a:pPr algn="l" marL="0" indent="0" lvl="0">
              <a:lnSpc>
                <a:spcPts val="8745"/>
              </a:lnSpc>
              <a:spcBef>
                <a:spcPct val="0"/>
              </a:spcBef>
            </a:pPr>
          </a:p>
        </p:txBody>
      </p:sp>
      <p:grpSp>
        <p:nvGrpSpPr>
          <p:cNvPr name="Group 12" id="12"/>
          <p:cNvGrpSpPr/>
          <p:nvPr/>
        </p:nvGrpSpPr>
        <p:grpSpPr>
          <a:xfrm rot="0">
            <a:off x="2223840" y="2926006"/>
            <a:ext cx="13070030" cy="6612248"/>
            <a:chOff x="0" y="0"/>
            <a:chExt cx="3442312" cy="1741497"/>
          </a:xfrm>
        </p:grpSpPr>
        <p:sp>
          <p:nvSpPr>
            <p:cNvPr name="Freeform 13" id="13"/>
            <p:cNvSpPr/>
            <p:nvPr/>
          </p:nvSpPr>
          <p:spPr>
            <a:xfrm flipH="false" flipV="false" rot="0">
              <a:off x="0" y="0"/>
              <a:ext cx="3442312" cy="1741497"/>
            </a:xfrm>
            <a:custGeom>
              <a:avLst/>
              <a:gdLst/>
              <a:ahLst/>
              <a:cxnLst/>
              <a:rect r="r" b="b" t="t" l="l"/>
              <a:pathLst>
                <a:path h="1741497" w="3442312">
                  <a:moveTo>
                    <a:pt x="30209" y="0"/>
                  </a:moveTo>
                  <a:lnTo>
                    <a:pt x="3412103" y="0"/>
                  </a:lnTo>
                  <a:cubicBezTo>
                    <a:pt x="3428787" y="0"/>
                    <a:pt x="3442312" y="13525"/>
                    <a:pt x="3442312" y="30209"/>
                  </a:cubicBezTo>
                  <a:lnTo>
                    <a:pt x="3442312" y="1711288"/>
                  </a:lnTo>
                  <a:cubicBezTo>
                    <a:pt x="3442312" y="1727972"/>
                    <a:pt x="3428787" y="1741497"/>
                    <a:pt x="3412103" y="1741497"/>
                  </a:cubicBezTo>
                  <a:lnTo>
                    <a:pt x="30209" y="1741497"/>
                  </a:lnTo>
                  <a:cubicBezTo>
                    <a:pt x="13525" y="1741497"/>
                    <a:pt x="0" y="1727972"/>
                    <a:pt x="0" y="1711288"/>
                  </a:cubicBezTo>
                  <a:lnTo>
                    <a:pt x="0" y="30209"/>
                  </a:lnTo>
                  <a:cubicBezTo>
                    <a:pt x="0" y="13525"/>
                    <a:pt x="13525" y="0"/>
                    <a:pt x="30209" y="0"/>
                  </a:cubicBezTo>
                  <a:close/>
                </a:path>
              </a:pathLst>
            </a:custGeom>
            <a:solidFill>
              <a:srgbClr val="FFFFFF"/>
            </a:solidFill>
          </p:spPr>
        </p:sp>
        <p:sp>
          <p:nvSpPr>
            <p:cNvPr name="TextBox 14" id="14"/>
            <p:cNvSpPr txBox="true"/>
            <p:nvPr/>
          </p:nvSpPr>
          <p:spPr>
            <a:xfrm>
              <a:off x="0" y="-38100"/>
              <a:ext cx="3442312" cy="1779597"/>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2574560" y="3175795"/>
            <a:ext cx="12368589" cy="6045994"/>
          </a:xfrm>
          <a:prstGeom prst="rect">
            <a:avLst/>
          </a:prstGeom>
        </p:spPr>
        <p:txBody>
          <a:bodyPr anchor="t" rtlCol="false" tIns="0" lIns="0" bIns="0" rIns="0">
            <a:spAutoFit/>
          </a:bodyPr>
          <a:lstStyle/>
          <a:p>
            <a:pPr algn="l">
              <a:lnSpc>
                <a:spcPts val="4842"/>
              </a:lnSpc>
              <a:spcBef>
                <a:spcPct val="0"/>
              </a:spcBef>
            </a:pPr>
            <a:r>
              <a:rPr lang="en-US" sz="3458" spc="432">
                <a:solidFill>
                  <a:srgbClr val="000000"/>
                </a:solidFill>
                <a:latin typeface="Faustina"/>
                <a:ea typeface="Faustina"/>
                <a:cs typeface="Faustina"/>
                <a:sym typeface="Faustina"/>
              </a:rPr>
              <a:t>Mô hình được định nghĩa như sau:</a:t>
            </a:r>
          </a:p>
          <a:p>
            <a:pPr algn="l">
              <a:lnSpc>
                <a:spcPts val="4842"/>
              </a:lnSpc>
              <a:spcBef>
                <a:spcPct val="0"/>
              </a:spcBef>
            </a:pPr>
            <a:r>
              <a:rPr lang="en-US" b="true" sz="3458" spc="432">
                <a:solidFill>
                  <a:srgbClr val="000000"/>
                </a:solidFill>
                <a:latin typeface="Faustina Bold"/>
                <a:ea typeface="Faustina Bold"/>
                <a:cs typeface="Faustina Bold"/>
                <a:sym typeface="Faustina Bold"/>
              </a:rPr>
              <a:t>Forward pass:</a:t>
            </a:r>
          </a:p>
          <a:p>
            <a:pPr algn="l" marL="746778" indent="-373389" lvl="1">
              <a:lnSpc>
                <a:spcPts val="4842"/>
              </a:lnSpc>
              <a:buFont typeface="Arial"/>
              <a:buChar char="•"/>
            </a:pPr>
            <a:r>
              <a:rPr lang="en-US" sz="3458" spc="432">
                <a:solidFill>
                  <a:srgbClr val="000000"/>
                </a:solidFill>
                <a:latin typeface="Faustina"/>
                <a:ea typeface="Faustina"/>
                <a:cs typeface="Faustina"/>
                <a:sym typeface="Faustina"/>
              </a:rPr>
              <a:t>z = Xw + b</a:t>
            </a:r>
          </a:p>
          <a:p>
            <a:pPr algn="l" marL="746778" indent="-373389" lvl="1">
              <a:lnSpc>
                <a:spcPts val="4842"/>
              </a:lnSpc>
              <a:buFont typeface="Arial"/>
              <a:buChar char="•"/>
            </a:pPr>
            <a:r>
              <a:rPr lang="en-US" sz="3458" spc="432">
                <a:solidFill>
                  <a:srgbClr val="000000"/>
                </a:solidFill>
                <a:latin typeface="Faustina"/>
                <a:ea typeface="Faustina"/>
                <a:cs typeface="Faustina"/>
                <a:sym typeface="Faustina"/>
              </a:rPr>
              <a:t> p = σ(z)</a:t>
            </a:r>
          </a:p>
          <a:p>
            <a:pPr algn="l">
              <a:lnSpc>
                <a:spcPts val="4842"/>
              </a:lnSpc>
              <a:spcBef>
                <a:spcPct val="0"/>
              </a:spcBef>
            </a:pPr>
            <a:r>
              <a:rPr lang="en-US" sz="3458" spc="432">
                <a:solidFill>
                  <a:srgbClr val="000000"/>
                </a:solidFill>
                <a:latin typeface="Faustina"/>
                <a:ea typeface="Faustina"/>
                <a:cs typeface="Faustina"/>
                <a:sym typeface="Faustina"/>
              </a:rPr>
              <a:t>Trong đó:</a:t>
            </a:r>
          </a:p>
          <a:p>
            <a:pPr algn="l" marL="746778" indent="-373389" lvl="1">
              <a:lnSpc>
                <a:spcPts val="4842"/>
              </a:lnSpc>
              <a:buFont typeface="Arial"/>
              <a:buChar char="•"/>
            </a:pPr>
            <a:r>
              <a:rPr lang="en-US" sz="3458" spc="432">
                <a:solidFill>
                  <a:srgbClr val="000000"/>
                </a:solidFill>
                <a:latin typeface="Faustina"/>
                <a:ea typeface="Faustina"/>
                <a:cs typeface="Faustina"/>
                <a:sym typeface="Faustina"/>
              </a:rPr>
              <a:t>w ∈ ℝᵈ: vector trọng số</a:t>
            </a:r>
          </a:p>
          <a:p>
            <a:pPr algn="l" marL="746778" indent="-373389" lvl="1">
              <a:lnSpc>
                <a:spcPts val="4842"/>
              </a:lnSpc>
              <a:buFont typeface="Arial"/>
              <a:buChar char="•"/>
            </a:pPr>
            <a:r>
              <a:rPr lang="en-US" sz="3458" spc="432">
                <a:solidFill>
                  <a:srgbClr val="000000"/>
                </a:solidFill>
                <a:latin typeface="Faustina"/>
                <a:ea typeface="Faustina"/>
                <a:cs typeface="Faustina"/>
                <a:sym typeface="Faustina"/>
              </a:rPr>
              <a:t>b ∈ ℝ: bias</a:t>
            </a:r>
          </a:p>
          <a:p>
            <a:pPr algn="l" marL="746778" indent="-373389" lvl="1">
              <a:lnSpc>
                <a:spcPts val="4842"/>
              </a:lnSpc>
              <a:buFont typeface="Arial"/>
              <a:buChar char="•"/>
            </a:pPr>
            <a:r>
              <a:rPr lang="en-US" sz="3458" spc="432">
                <a:solidFill>
                  <a:srgbClr val="000000"/>
                </a:solidFill>
                <a:latin typeface="Faustina"/>
                <a:ea typeface="Faustina"/>
                <a:cs typeface="Faustina"/>
                <a:sym typeface="Faustina"/>
              </a:rPr>
              <a:t>σ(z) = 1 / (1 + exp(−z)): hàm sigmoid</a:t>
            </a:r>
          </a:p>
          <a:p>
            <a:pPr algn="l">
              <a:lnSpc>
                <a:spcPts val="4842"/>
              </a:lnSpc>
              <a:spcBef>
                <a:spcPct val="0"/>
              </a:spcBef>
            </a:pPr>
            <a:r>
              <a:rPr lang="en-US" sz="3458" spc="432">
                <a:solidFill>
                  <a:srgbClr val="000000"/>
                </a:solidFill>
                <a:latin typeface="Faustina"/>
                <a:ea typeface="Faustina"/>
                <a:cs typeface="Faustina"/>
                <a:sym typeface="Faustina"/>
              </a:rPr>
              <a:t>Về bản chất, logistic regression chính là:</a:t>
            </a:r>
          </a:p>
          <a:p>
            <a:pPr algn="l">
              <a:lnSpc>
                <a:spcPts val="4842"/>
              </a:lnSpc>
              <a:spcBef>
                <a:spcPct val="0"/>
              </a:spcBef>
            </a:pPr>
            <a:r>
              <a:rPr lang="en-US" b="true" sz="3458" spc="432">
                <a:solidFill>
                  <a:srgbClr val="000000"/>
                </a:solidFill>
                <a:latin typeface="Faustina Bold"/>
                <a:ea typeface="Faustina Bold"/>
                <a:cs typeface="Faustina Bold"/>
                <a:sym typeface="Faustina Bold"/>
              </a:rPr>
              <a:t>Một neural network 1 tầng, không có hidden layer</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2895460" y="3843350"/>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9632179" y="673910"/>
            <a:ext cx="8109311" cy="3382824"/>
          </a:xfrm>
          <a:prstGeom prst="rect">
            <a:avLst/>
          </a:prstGeom>
        </p:spPr>
        <p:txBody>
          <a:bodyPr anchor="t" rtlCol="false" tIns="0" lIns="0" bIns="0" rIns="0">
            <a:spAutoFit/>
          </a:bodyPr>
          <a:lstStyle/>
          <a:p>
            <a:pPr algn="l" marL="0" indent="0" lvl="0">
              <a:lnSpc>
                <a:spcPts val="8745"/>
              </a:lnSpc>
              <a:spcBef>
                <a:spcPct val="0"/>
              </a:spcBef>
            </a:pPr>
            <a:r>
              <a:rPr lang="en-US" b="true" sz="9110" spc="-464">
                <a:solidFill>
                  <a:srgbClr val="FFFFFF"/>
                </a:solidFill>
                <a:latin typeface="Noto Sans Bold"/>
                <a:ea typeface="Noto Sans Bold"/>
                <a:cs typeface="Noto Sans Bold"/>
                <a:sym typeface="Noto Sans Bold"/>
              </a:rPr>
              <a:t>Hàm</a:t>
            </a:r>
            <a:r>
              <a:rPr lang="en-US" b="true" sz="9110" spc="-464" strike="noStrike" u="none">
                <a:solidFill>
                  <a:srgbClr val="FFFFFF"/>
                </a:solidFill>
                <a:latin typeface="Noto Sans Bold"/>
                <a:ea typeface="Noto Sans Bold"/>
                <a:cs typeface="Noto Sans Bold"/>
                <a:sym typeface="Noto Sans Bold"/>
              </a:rPr>
              <a:t> </a:t>
            </a:r>
            <a:r>
              <a:rPr lang="en-US" b="true" sz="9110" spc="-464" strike="noStrike" u="none">
                <a:solidFill>
                  <a:srgbClr val="FFFFFF"/>
                </a:solidFill>
                <a:latin typeface="Noto Sans Bold"/>
                <a:ea typeface="Noto Sans Bold"/>
                <a:cs typeface="Noto Sans Bold"/>
                <a:sym typeface="Noto Sans Bold"/>
              </a:rPr>
              <a:t>mấ</a:t>
            </a:r>
            <a:r>
              <a:rPr lang="en-US" b="true" sz="9110" spc="-464" strike="noStrike" u="none">
                <a:solidFill>
                  <a:srgbClr val="FFFFFF"/>
                </a:solidFill>
                <a:latin typeface="Noto Sans Bold"/>
                <a:ea typeface="Noto Sans Bold"/>
                <a:cs typeface="Noto Sans Bold"/>
                <a:sym typeface="Noto Sans Bold"/>
              </a:rPr>
              <a:t>t</a:t>
            </a:r>
            <a:r>
              <a:rPr lang="en-US" b="true" sz="9110" spc="-464" strike="noStrike" u="none">
                <a:solidFill>
                  <a:srgbClr val="FFFFFF"/>
                </a:solidFill>
                <a:latin typeface="Noto Sans Bold"/>
                <a:ea typeface="Noto Sans Bold"/>
                <a:cs typeface="Noto Sans Bold"/>
                <a:sym typeface="Noto Sans Bold"/>
              </a:rPr>
              <a:t> má</a:t>
            </a:r>
            <a:r>
              <a:rPr lang="en-US" b="true" sz="9110" spc="-464" strike="noStrike" u="none">
                <a:solidFill>
                  <a:srgbClr val="FFFFFF"/>
                </a:solidFill>
                <a:latin typeface="Noto Sans Bold"/>
                <a:ea typeface="Noto Sans Bold"/>
                <a:cs typeface="Noto Sans Bold"/>
                <a:sym typeface="Noto Sans Bold"/>
              </a:rPr>
              <a:t>t </a:t>
            </a:r>
            <a:r>
              <a:rPr lang="en-US" b="true" sz="9110" spc="-464" strike="noStrike" u="none">
                <a:solidFill>
                  <a:srgbClr val="FFFFFF"/>
                </a:solidFill>
                <a:latin typeface="Noto Sans Bold"/>
                <a:ea typeface="Noto Sans Bold"/>
                <a:cs typeface="Noto Sans Bold"/>
                <a:sym typeface="Noto Sans Bold"/>
              </a:rPr>
              <a:t>(L</a:t>
            </a:r>
            <a:r>
              <a:rPr lang="en-US" b="true" sz="9110" spc="-464" strike="noStrike" u="none">
                <a:solidFill>
                  <a:srgbClr val="FFFFFF"/>
                </a:solidFill>
                <a:latin typeface="Noto Sans Bold"/>
                <a:ea typeface="Noto Sans Bold"/>
                <a:cs typeface="Noto Sans Bold"/>
                <a:sym typeface="Noto Sans Bold"/>
              </a:rPr>
              <a:t>o</a:t>
            </a:r>
            <a:r>
              <a:rPr lang="en-US" b="true" sz="9110" spc="-464" strike="noStrike" u="none">
                <a:solidFill>
                  <a:srgbClr val="FFFFFF"/>
                </a:solidFill>
                <a:latin typeface="Noto Sans Bold"/>
                <a:ea typeface="Noto Sans Bold"/>
                <a:cs typeface="Noto Sans Bold"/>
                <a:sym typeface="Noto Sans Bold"/>
              </a:rPr>
              <a:t>ss</a:t>
            </a:r>
            <a:r>
              <a:rPr lang="en-US" b="true" sz="9110" spc="-464" strike="noStrike" u="none">
                <a:solidFill>
                  <a:srgbClr val="FFFFFF"/>
                </a:solidFill>
                <a:latin typeface="Noto Sans Bold"/>
                <a:ea typeface="Noto Sans Bold"/>
                <a:cs typeface="Noto Sans Bold"/>
                <a:sym typeface="Noto Sans Bold"/>
              </a:rPr>
              <a:t> </a:t>
            </a:r>
            <a:r>
              <a:rPr lang="en-US" b="true" sz="9110" spc="-464" strike="noStrike" u="none">
                <a:solidFill>
                  <a:srgbClr val="FFFFFF"/>
                </a:solidFill>
                <a:latin typeface="Noto Sans Bold"/>
                <a:ea typeface="Noto Sans Bold"/>
                <a:cs typeface="Noto Sans Bold"/>
                <a:sym typeface="Noto Sans Bold"/>
              </a:rPr>
              <a:t>Funct</a:t>
            </a:r>
            <a:r>
              <a:rPr lang="en-US" b="true" sz="9110" spc="-464" strike="noStrike" u="none">
                <a:solidFill>
                  <a:srgbClr val="FFFFFF"/>
                </a:solidFill>
                <a:latin typeface="Noto Sans Bold"/>
                <a:ea typeface="Noto Sans Bold"/>
                <a:cs typeface="Noto Sans Bold"/>
                <a:sym typeface="Noto Sans Bold"/>
              </a:rPr>
              <a:t>i</a:t>
            </a:r>
            <a:r>
              <a:rPr lang="en-US" b="true" sz="9110" spc="-464" strike="noStrike" u="none">
                <a:solidFill>
                  <a:srgbClr val="FFFFFF"/>
                </a:solidFill>
                <a:latin typeface="Noto Sans Bold"/>
                <a:ea typeface="Noto Sans Bold"/>
                <a:cs typeface="Noto Sans Bold"/>
                <a:sym typeface="Noto Sans Bold"/>
              </a:rPr>
              <a:t>o</a:t>
            </a:r>
            <a:r>
              <a:rPr lang="en-US" b="true" sz="9110" spc="-464" strike="noStrike" u="none">
                <a:solidFill>
                  <a:srgbClr val="FFFFFF"/>
                </a:solidFill>
                <a:latin typeface="Noto Sans Bold"/>
                <a:ea typeface="Noto Sans Bold"/>
                <a:cs typeface="Noto Sans Bold"/>
                <a:sym typeface="Noto Sans Bold"/>
              </a:rPr>
              <a:t>n</a:t>
            </a:r>
            <a:r>
              <a:rPr lang="en-US" b="true" sz="9110" spc="-464" strike="noStrike" u="none">
                <a:solidFill>
                  <a:srgbClr val="FFFFFF"/>
                </a:solidFill>
                <a:latin typeface="Noto Sans Bold"/>
                <a:ea typeface="Noto Sans Bold"/>
                <a:cs typeface="Noto Sans Bold"/>
                <a:sym typeface="Noto Sans Bold"/>
              </a:rPr>
              <a:t>)</a:t>
            </a:r>
          </a:p>
          <a:p>
            <a:pPr algn="l" marL="0" indent="0" lvl="0">
              <a:lnSpc>
                <a:spcPts val="8745"/>
              </a:lnSpc>
              <a:spcBef>
                <a:spcPct val="0"/>
              </a:spcBef>
            </a:pPr>
          </a:p>
        </p:txBody>
      </p:sp>
      <p:grpSp>
        <p:nvGrpSpPr>
          <p:cNvPr name="Group 12" id="12"/>
          <p:cNvGrpSpPr/>
          <p:nvPr/>
        </p:nvGrpSpPr>
        <p:grpSpPr>
          <a:xfrm rot="0">
            <a:off x="9144000" y="3695964"/>
            <a:ext cx="8786436" cy="5941353"/>
            <a:chOff x="0" y="0"/>
            <a:chExt cx="2314123" cy="1564801"/>
          </a:xfrm>
        </p:grpSpPr>
        <p:sp>
          <p:nvSpPr>
            <p:cNvPr name="Freeform 13" id="13"/>
            <p:cNvSpPr/>
            <p:nvPr/>
          </p:nvSpPr>
          <p:spPr>
            <a:xfrm flipH="false" flipV="false" rot="0">
              <a:off x="0" y="0"/>
              <a:ext cx="2314123" cy="1564801"/>
            </a:xfrm>
            <a:custGeom>
              <a:avLst/>
              <a:gdLst/>
              <a:ahLst/>
              <a:cxnLst/>
              <a:rect r="r" b="b" t="t" l="l"/>
              <a:pathLst>
                <a:path h="1564801" w="2314123">
                  <a:moveTo>
                    <a:pt x="44937" y="0"/>
                  </a:moveTo>
                  <a:lnTo>
                    <a:pt x="2269186" y="0"/>
                  </a:lnTo>
                  <a:cubicBezTo>
                    <a:pt x="2294004" y="0"/>
                    <a:pt x="2314123" y="20119"/>
                    <a:pt x="2314123" y="44937"/>
                  </a:cubicBezTo>
                  <a:lnTo>
                    <a:pt x="2314123" y="1519864"/>
                  </a:lnTo>
                  <a:cubicBezTo>
                    <a:pt x="2314123" y="1544682"/>
                    <a:pt x="2294004" y="1564801"/>
                    <a:pt x="2269186" y="1564801"/>
                  </a:cubicBezTo>
                  <a:lnTo>
                    <a:pt x="44937" y="1564801"/>
                  </a:lnTo>
                  <a:cubicBezTo>
                    <a:pt x="33019" y="1564801"/>
                    <a:pt x="21589" y="1560066"/>
                    <a:pt x="13162" y="1551639"/>
                  </a:cubicBezTo>
                  <a:cubicBezTo>
                    <a:pt x="4734" y="1543212"/>
                    <a:pt x="0" y="1531782"/>
                    <a:pt x="0" y="1519864"/>
                  </a:cubicBezTo>
                  <a:lnTo>
                    <a:pt x="0" y="44937"/>
                  </a:lnTo>
                  <a:cubicBezTo>
                    <a:pt x="0" y="20119"/>
                    <a:pt x="20119" y="0"/>
                    <a:pt x="44937" y="0"/>
                  </a:cubicBezTo>
                  <a:close/>
                </a:path>
              </a:pathLst>
            </a:custGeom>
            <a:solidFill>
              <a:srgbClr val="FFFFFF"/>
            </a:solidFill>
          </p:spPr>
        </p:sp>
        <p:sp>
          <p:nvSpPr>
            <p:cNvPr name="TextBox 14" id="14"/>
            <p:cNvSpPr txBox="true"/>
            <p:nvPr/>
          </p:nvSpPr>
          <p:spPr>
            <a:xfrm>
              <a:off x="0" y="-38100"/>
              <a:ext cx="2314123" cy="1602901"/>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028700" y="1428778"/>
            <a:ext cx="7036706" cy="5270737"/>
          </a:xfrm>
          <a:custGeom>
            <a:avLst/>
            <a:gdLst/>
            <a:ahLst/>
            <a:cxnLst/>
            <a:rect r="r" b="b" t="t" l="l"/>
            <a:pathLst>
              <a:path h="5270737" w="7036706">
                <a:moveTo>
                  <a:pt x="0" y="0"/>
                </a:moveTo>
                <a:lnTo>
                  <a:pt x="7036706" y="0"/>
                </a:lnTo>
                <a:lnTo>
                  <a:pt x="7036706" y="5270737"/>
                </a:lnTo>
                <a:lnTo>
                  <a:pt x="0" y="5270737"/>
                </a:lnTo>
                <a:lnTo>
                  <a:pt x="0" y="0"/>
                </a:lnTo>
                <a:close/>
              </a:path>
            </a:pathLst>
          </a:custGeom>
          <a:blipFill>
            <a:blip r:embed="rId5"/>
            <a:stretch>
              <a:fillRect l="0" t="0" r="0" b="0"/>
            </a:stretch>
          </a:blipFill>
        </p:spPr>
      </p:sp>
      <p:sp>
        <p:nvSpPr>
          <p:cNvPr name="TextBox 16" id="16"/>
          <p:cNvSpPr txBox="true"/>
          <p:nvPr/>
        </p:nvSpPr>
        <p:spPr>
          <a:xfrm rot="0">
            <a:off x="9320705" y="4365034"/>
            <a:ext cx="8433027" cy="4611812"/>
          </a:xfrm>
          <a:prstGeom prst="rect">
            <a:avLst/>
          </a:prstGeom>
        </p:spPr>
        <p:txBody>
          <a:bodyPr anchor="t" rtlCol="false" tIns="0" lIns="0" bIns="0" rIns="0">
            <a:spAutoFit/>
          </a:bodyPr>
          <a:lstStyle/>
          <a:p>
            <a:pPr algn="l">
              <a:lnSpc>
                <a:spcPts val="4105"/>
              </a:lnSpc>
              <a:spcBef>
                <a:spcPct val="0"/>
              </a:spcBef>
            </a:pPr>
            <a:r>
              <a:rPr lang="en-US" b="true" sz="2932" spc="366">
                <a:solidFill>
                  <a:srgbClr val="000000"/>
                </a:solidFill>
                <a:latin typeface="Faustina Bold"/>
                <a:ea typeface="Faustina Bold"/>
                <a:cs typeface="Faustina Bold"/>
                <a:sym typeface="Faustina Bold"/>
              </a:rPr>
              <a:t>Sử dụng Binary Cross-Entropy Loss:</a:t>
            </a:r>
          </a:p>
          <a:p>
            <a:pPr algn="l">
              <a:lnSpc>
                <a:spcPts val="4105"/>
              </a:lnSpc>
              <a:spcBef>
                <a:spcPct val="0"/>
              </a:spcBef>
            </a:pPr>
            <a:r>
              <a:rPr lang="en-US" sz="2932" spc="366">
                <a:solidFill>
                  <a:srgbClr val="000000"/>
                </a:solidFill>
                <a:latin typeface="Faustina"/>
                <a:ea typeface="Faustina"/>
                <a:cs typeface="Faustina"/>
                <a:sym typeface="Faustina"/>
              </a:rPr>
              <a:t>L = − 1/n ∑ [ y log(p) + (1 − y) log(1 − p) ]</a:t>
            </a:r>
          </a:p>
          <a:p>
            <a:pPr algn="l">
              <a:lnSpc>
                <a:spcPts val="4105"/>
              </a:lnSpc>
              <a:spcBef>
                <a:spcPct val="0"/>
              </a:spcBef>
            </a:pPr>
            <a:r>
              <a:rPr lang="en-US" b="true" sz="2932" spc="366">
                <a:solidFill>
                  <a:srgbClr val="000000"/>
                </a:solidFill>
                <a:latin typeface="Faustina Bold"/>
                <a:ea typeface="Faustina Bold"/>
                <a:cs typeface="Faustina Bold"/>
                <a:sym typeface="Faustina Bold"/>
              </a:rPr>
              <a:t>Đặc điểm quan trọng:</a:t>
            </a:r>
          </a:p>
          <a:p>
            <a:pPr algn="l" marL="633145" indent="-316572" lvl="1">
              <a:lnSpc>
                <a:spcPts val="4105"/>
              </a:lnSpc>
              <a:buFont typeface="Arial"/>
              <a:buChar char="•"/>
            </a:pPr>
            <a:r>
              <a:rPr lang="en-US" sz="2932" spc="366">
                <a:solidFill>
                  <a:srgbClr val="000000"/>
                </a:solidFill>
                <a:latin typeface="Faustina"/>
                <a:ea typeface="Faustina"/>
                <a:cs typeface="Faustina"/>
                <a:sym typeface="Faustina"/>
              </a:rPr>
              <a:t>Đầu vào là vector (p, y)</a:t>
            </a:r>
          </a:p>
          <a:p>
            <a:pPr algn="l" marL="633145" indent="-316572" lvl="1">
              <a:lnSpc>
                <a:spcPts val="4105"/>
              </a:lnSpc>
              <a:buFont typeface="Arial"/>
              <a:buChar char="•"/>
            </a:pPr>
            <a:r>
              <a:rPr lang="en-US" sz="2932" spc="366">
                <a:solidFill>
                  <a:srgbClr val="000000"/>
                </a:solidFill>
                <a:latin typeface="Faustina"/>
                <a:ea typeface="Faustina"/>
                <a:cs typeface="Faustina"/>
                <a:sym typeface="Faustina"/>
              </a:rPr>
              <a:t>Đầu ra là một số vô hướng (scalar)</a:t>
            </a:r>
          </a:p>
          <a:p>
            <a:pPr algn="l">
              <a:lnSpc>
                <a:spcPts val="4105"/>
              </a:lnSpc>
              <a:spcBef>
                <a:spcPct val="0"/>
              </a:spcBef>
            </a:pPr>
            <a:r>
              <a:rPr lang="en-US" sz="2932" spc="366">
                <a:solidFill>
                  <a:srgbClr val="000000"/>
                </a:solidFill>
                <a:latin typeface="Faustina"/>
                <a:ea typeface="Faustina"/>
                <a:cs typeface="Faustina"/>
                <a:sym typeface="Faustina"/>
              </a:rPr>
              <a:t>Điều này rất quan trọng khi suy luận gradient:</a:t>
            </a:r>
          </a:p>
          <a:p>
            <a:pPr algn="l">
              <a:lnSpc>
                <a:spcPts val="4105"/>
              </a:lnSpc>
              <a:spcBef>
                <a:spcPct val="0"/>
              </a:spcBef>
            </a:pPr>
            <a:r>
              <a:rPr lang="en-US" sz="2932" spc="366">
                <a:solidFill>
                  <a:srgbClr val="000000"/>
                </a:solidFill>
                <a:latin typeface="Faustina"/>
                <a:ea typeface="Faustina"/>
                <a:cs typeface="Faustina"/>
                <a:sym typeface="Faustina"/>
              </a:rPr>
              <a:t>Loss luôn là scalar, còn tham số có thể là vector hoặc ma trận.</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3191326" y="4206128"/>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4353404" y="1238250"/>
            <a:ext cx="9172749" cy="2277924"/>
          </a:xfrm>
          <a:prstGeom prst="rect">
            <a:avLst/>
          </a:prstGeom>
        </p:spPr>
        <p:txBody>
          <a:bodyPr anchor="t" rtlCol="false" tIns="0" lIns="0" bIns="0" rIns="0">
            <a:spAutoFit/>
          </a:bodyPr>
          <a:lstStyle/>
          <a:p>
            <a:pPr algn="l" marL="0" indent="0" lvl="0">
              <a:lnSpc>
                <a:spcPts val="8745"/>
              </a:lnSpc>
              <a:spcBef>
                <a:spcPct val="0"/>
              </a:spcBef>
            </a:pPr>
            <a:r>
              <a:rPr lang="en-US" b="true" sz="9110" spc="-464">
                <a:solidFill>
                  <a:srgbClr val="FFFFFF"/>
                </a:solidFill>
                <a:latin typeface="Noto Sans Bold"/>
                <a:ea typeface="Noto Sans Bold"/>
                <a:cs typeface="Noto Sans Bold"/>
                <a:sym typeface="Noto Sans Bold"/>
              </a:rPr>
              <a:t>K</a:t>
            </a:r>
            <a:r>
              <a:rPr lang="en-US" b="true" sz="9110" spc="-464" strike="noStrike" u="none">
                <a:solidFill>
                  <a:srgbClr val="FFFFFF"/>
                </a:solidFill>
                <a:latin typeface="Noto Sans Bold"/>
                <a:ea typeface="Noto Sans Bold"/>
                <a:cs typeface="Noto Sans Bold"/>
                <a:sym typeface="Noto Sans Bold"/>
              </a:rPr>
              <a:t>h</a:t>
            </a:r>
            <a:r>
              <a:rPr lang="en-US" b="true" sz="9110" spc="-464" strike="noStrike" u="none">
                <a:solidFill>
                  <a:srgbClr val="FFFFFF"/>
                </a:solidFill>
                <a:latin typeface="Noto Sans Bold"/>
                <a:ea typeface="Noto Sans Bold"/>
                <a:cs typeface="Noto Sans Bold"/>
                <a:sym typeface="Noto Sans Bold"/>
              </a:rPr>
              <a:t>ởi tạ</a:t>
            </a:r>
            <a:r>
              <a:rPr lang="en-US" b="true" sz="9110" spc="-464" strike="noStrike" u="none">
                <a:solidFill>
                  <a:srgbClr val="FFFFFF"/>
                </a:solidFill>
                <a:latin typeface="Noto Sans Bold"/>
                <a:ea typeface="Noto Sans Bold"/>
                <a:cs typeface="Noto Sans Bold"/>
                <a:sym typeface="Noto Sans Bold"/>
              </a:rPr>
              <a:t>o tha</a:t>
            </a:r>
            <a:r>
              <a:rPr lang="en-US" b="true" sz="9110" spc="-464" strike="noStrike" u="none">
                <a:solidFill>
                  <a:srgbClr val="FFFFFF"/>
                </a:solidFill>
                <a:latin typeface="Noto Sans Bold"/>
                <a:ea typeface="Noto Sans Bold"/>
                <a:cs typeface="Noto Sans Bold"/>
                <a:sym typeface="Noto Sans Bold"/>
              </a:rPr>
              <a:t>m số</a:t>
            </a:r>
          </a:p>
          <a:p>
            <a:pPr algn="l" marL="0" indent="0" lvl="0">
              <a:lnSpc>
                <a:spcPts val="8745"/>
              </a:lnSpc>
              <a:spcBef>
                <a:spcPct val="0"/>
              </a:spcBef>
            </a:pPr>
          </a:p>
        </p:txBody>
      </p:sp>
      <p:grpSp>
        <p:nvGrpSpPr>
          <p:cNvPr name="Group 12" id="12"/>
          <p:cNvGrpSpPr/>
          <p:nvPr/>
        </p:nvGrpSpPr>
        <p:grpSpPr>
          <a:xfrm rot="0">
            <a:off x="3111270" y="3526360"/>
            <a:ext cx="11657019" cy="4941138"/>
            <a:chOff x="0" y="0"/>
            <a:chExt cx="3070161" cy="1301370"/>
          </a:xfrm>
        </p:grpSpPr>
        <p:sp>
          <p:nvSpPr>
            <p:cNvPr name="Freeform 13" id="13"/>
            <p:cNvSpPr/>
            <p:nvPr/>
          </p:nvSpPr>
          <p:spPr>
            <a:xfrm flipH="false" flipV="false" rot="0">
              <a:off x="0" y="0"/>
              <a:ext cx="3070161" cy="1301370"/>
            </a:xfrm>
            <a:custGeom>
              <a:avLst/>
              <a:gdLst/>
              <a:ahLst/>
              <a:cxnLst/>
              <a:rect r="r" b="b" t="t" l="l"/>
              <a:pathLst>
                <a:path h="1301370" w="3070161">
                  <a:moveTo>
                    <a:pt x="33871" y="0"/>
                  </a:moveTo>
                  <a:lnTo>
                    <a:pt x="3036290" y="0"/>
                  </a:lnTo>
                  <a:cubicBezTo>
                    <a:pt x="3045273" y="0"/>
                    <a:pt x="3053888" y="3569"/>
                    <a:pt x="3060241" y="9921"/>
                  </a:cubicBezTo>
                  <a:cubicBezTo>
                    <a:pt x="3066593" y="16273"/>
                    <a:pt x="3070161" y="24888"/>
                    <a:pt x="3070161" y="33871"/>
                  </a:cubicBezTo>
                  <a:lnTo>
                    <a:pt x="3070161" y="1267499"/>
                  </a:lnTo>
                  <a:cubicBezTo>
                    <a:pt x="3070161" y="1276482"/>
                    <a:pt x="3066593" y="1285097"/>
                    <a:pt x="3060241" y="1291449"/>
                  </a:cubicBezTo>
                  <a:cubicBezTo>
                    <a:pt x="3053888" y="1297801"/>
                    <a:pt x="3045273" y="1301370"/>
                    <a:pt x="3036290" y="1301370"/>
                  </a:cubicBezTo>
                  <a:lnTo>
                    <a:pt x="33871" y="1301370"/>
                  </a:lnTo>
                  <a:cubicBezTo>
                    <a:pt x="24888" y="1301370"/>
                    <a:pt x="16273" y="1297801"/>
                    <a:pt x="9921" y="1291449"/>
                  </a:cubicBezTo>
                  <a:cubicBezTo>
                    <a:pt x="3569" y="1285097"/>
                    <a:pt x="0" y="1276482"/>
                    <a:pt x="0" y="1267499"/>
                  </a:cubicBezTo>
                  <a:lnTo>
                    <a:pt x="0" y="33871"/>
                  </a:lnTo>
                  <a:cubicBezTo>
                    <a:pt x="0" y="24888"/>
                    <a:pt x="3569" y="16273"/>
                    <a:pt x="9921" y="9921"/>
                  </a:cubicBezTo>
                  <a:cubicBezTo>
                    <a:pt x="16273" y="3569"/>
                    <a:pt x="24888" y="0"/>
                    <a:pt x="33871" y="0"/>
                  </a:cubicBezTo>
                  <a:close/>
                </a:path>
              </a:pathLst>
            </a:custGeom>
            <a:solidFill>
              <a:srgbClr val="FFFFFF"/>
            </a:solidFill>
          </p:spPr>
        </p:sp>
        <p:sp>
          <p:nvSpPr>
            <p:cNvPr name="TextBox 14" id="14"/>
            <p:cNvSpPr txBox="true"/>
            <p:nvPr/>
          </p:nvSpPr>
          <p:spPr>
            <a:xfrm>
              <a:off x="0" y="-38100"/>
              <a:ext cx="3070161" cy="133947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3711166" y="4140401"/>
            <a:ext cx="10457226" cy="3646381"/>
          </a:xfrm>
          <a:prstGeom prst="rect">
            <a:avLst/>
          </a:prstGeom>
        </p:spPr>
        <p:txBody>
          <a:bodyPr anchor="t" rtlCol="false" tIns="0" lIns="0" bIns="0" rIns="0">
            <a:spAutoFit/>
          </a:bodyPr>
          <a:lstStyle/>
          <a:p>
            <a:pPr algn="l" marL="757571" indent="-378785" lvl="1">
              <a:lnSpc>
                <a:spcPts val="4912"/>
              </a:lnSpc>
              <a:buFont typeface="Arial"/>
              <a:buChar char="•"/>
            </a:pPr>
            <a:r>
              <a:rPr lang="en-US" sz="3508" spc="438">
                <a:solidFill>
                  <a:srgbClr val="000000"/>
                </a:solidFill>
                <a:latin typeface="Noto Sans"/>
                <a:ea typeface="Noto Sans"/>
                <a:cs typeface="Noto Sans"/>
                <a:sym typeface="Noto Sans"/>
              </a:rPr>
              <a:t>w = 0</a:t>
            </a:r>
          </a:p>
          <a:p>
            <a:pPr algn="l" marL="757571" indent="-378785" lvl="1">
              <a:lnSpc>
                <a:spcPts val="4912"/>
              </a:lnSpc>
              <a:buFont typeface="Arial"/>
              <a:buChar char="•"/>
            </a:pPr>
            <a:r>
              <a:rPr lang="en-US" sz="3508" spc="438">
                <a:solidFill>
                  <a:srgbClr val="000000"/>
                </a:solidFill>
                <a:latin typeface="Noto Sans"/>
                <a:ea typeface="Noto Sans"/>
                <a:cs typeface="Noto Sans"/>
                <a:sym typeface="Noto Sans"/>
              </a:rPr>
              <a:t>b = 0</a:t>
            </a:r>
          </a:p>
          <a:p>
            <a:pPr algn="l">
              <a:lnSpc>
                <a:spcPts val="4912"/>
              </a:lnSpc>
              <a:spcBef>
                <a:spcPct val="0"/>
              </a:spcBef>
            </a:pPr>
            <a:r>
              <a:rPr lang="en-US" sz="3508" spc="438">
                <a:solidFill>
                  <a:srgbClr val="000000"/>
                </a:solidFill>
                <a:latin typeface="Noto Sans"/>
                <a:ea typeface="Noto Sans"/>
                <a:cs typeface="Noto Sans"/>
                <a:sym typeface="Noto Sans"/>
              </a:rPr>
              <a:t>Khác với deep learning, logistic regression là </a:t>
            </a:r>
            <a:r>
              <a:rPr lang="en-US" b="true" sz="3508" spc="438">
                <a:solidFill>
                  <a:srgbClr val="000000"/>
                </a:solidFill>
                <a:latin typeface="Noto Sans Bold"/>
                <a:ea typeface="Noto Sans Bold"/>
                <a:cs typeface="Noto Sans Bold"/>
                <a:sym typeface="Noto Sans Bold"/>
              </a:rPr>
              <a:t>bài toán lồi (convex)</a:t>
            </a:r>
            <a:r>
              <a:rPr lang="en-US" sz="3508" spc="438">
                <a:solidFill>
                  <a:srgbClr val="000000"/>
                </a:solidFill>
                <a:latin typeface="Noto Sans"/>
                <a:ea typeface="Noto Sans"/>
                <a:cs typeface="Noto Sans"/>
                <a:sym typeface="Noto Sans"/>
              </a:rPr>
              <a:t>, nên khởi tạo bằng 0 là an toàn và không gây kẹt tại điểm yên ngựa.</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8761193">
            <a:off x="14415098" y="-3066592"/>
            <a:ext cx="5404915" cy="54049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6" id="6"/>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80266" y="538995"/>
            <a:ext cx="16771045" cy="1788700"/>
          </a:xfrm>
          <a:prstGeom prst="rect">
            <a:avLst/>
          </a:prstGeom>
        </p:spPr>
        <p:txBody>
          <a:bodyPr anchor="t" rtlCol="false" tIns="0" lIns="0" bIns="0" rIns="0">
            <a:spAutoFit/>
          </a:bodyPr>
          <a:lstStyle/>
          <a:p>
            <a:pPr algn="just" marL="0" indent="0" lvl="0">
              <a:lnSpc>
                <a:spcPts val="6837"/>
              </a:lnSpc>
              <a:spcBef>
                <a:spcPct val="0"/>
              </a:spcBef>
            </a:pPr>
            <a:r>
              <a:rPr lang="en-US" b="true" sz="7121" spc="-363">
                <a:solidFill>
                  <a:srgbClr val="FFFFFF"/>
                </a:solidFill>
                <a:latin typeface="Noto Sans Bold"/>
                <a:ea typeface="Noto Sans Bold"/>
                <a:cs typeface="Noto Sans Bold"/>
                <a:sym typeface="Noto Sans Bold"/>
              </a:rPr>
              <a:t>Gradi</a:t>
            </a:r>
            <a:r>
              <a:rPr lang="en-US" b="true" sz="7121" spc="-363" strike="noStrike" u="none">
                <a:solidFill>
                  <a:srgbClr val="FFFFFF"/>
                </a:solidFill>
                <a:latin typeface="Noto Sans Bold"/>
                <a:ea typeface="Noto Sans Bold"/>
                <a:cs typeface="Noto Sans Bold"/>
                <a:sym typeface="Noto Sans Bold"/>
              </a:rPr>
              <a:t>e</a:t>
            </a:r>
            <a:r>
              <a:rPr lang="en-US" b="true" sz="7121" spc="-363" strike="noStrike" u="none">
                <a:solidFill>
                  <a:srgbClr val="FFFFFF"/>
                </a:solidFill>
                <a:latin typeface="Noto Sans Bold"/>
                <a:ea typeface="Noto Sans Bold"/>
                <a:cs typeface="Noto Sans Bold"/>
                <a:sym typeface="Noto Sans Bold"/>
              </a:rPr>
              <a:t>nt dưới gó</a:t>
            </a:r>
            <a:r>
              <a:rPr lang="en-US" b="true" sz="7121" spc="-363" strike="noStrike" u="none">
                <a:solidFill>
                  <a:srgbClr val="FFFFFF"/>
                </a:solidFill>
                <a:latin typeface="Noto Sans Bold"/>
                <a:ea typeface="Noto Sans Bold"/>
                <a:cs typeface="Noto Sans Bold"/>
                <a:sym typeface="Noto Sans Bold"/>
              </a:rPr>
              <a:t>c</a:t>
            </a:r>
            <a:r>
              <a:rPr lang="en-US" b="true" sz="7121" spc="-363" strike="noStrike" u="none">
                <a:solidFill>
                  <a:srgbClr val="FFFFFF"/>
                </a:solidFill>
                <a:latin typeface="Noto Sans Bold"/>
                <a:ea typeface="Noto Sans Bold"/>
                <a:cs typeface="Noto Sans Bold"/>
                <a:sym typeface="Noto Sans Bold"/>
              </a:rPr>
              <a:t> n</a:t>
            </a:r>
            <a:r>
              <a:rPr lang="en-US" b="true" sz="7121" spc="-363" strike="noStrike" u="none">
                <a:solidFill>
                  <a:srgbClr val="FFFFFF"/>
                </a:solidFill>
                <a:latin typeface="Noto Sans Bold"/>
                <a:ea typeface="Noto Sans Bold"/>
                <a:cs typeface="Noto Sans Bold"/>
                <a:sym typeface="Noto Sans Bold"/>
              </a:rPr>
              <a:t>h</a:t>
            </a:r>
            <a:r>
              <a:rPr lang="en-US" b="true" sz="7121" spc="-363" strike="noStrike" u="none">
                <a:solidFill>
                  <a:srgbClr val="FFFFFF"/>
                </a:solidFill>
                <a:latin typeface="Noto Sans Bold"/>
                <a:ea typeface="Noto Sans Bold"/>
                <a:cs typeface="Noto Sans Bold"/>
                <a:sym typeface="Noto Sans Bold"/>
              </a:rPr>
              <a:t>ì</a:t>
            </a:r>
            <a:r>
              <a:rPr lang="en-US" b="true" sz="7121" spc="-363" strike="noStrike" u="none">
                <a:solidFill>
                  <a:srgbClr val="FFFFFF"/>
                </a:solidFill>
                <a:latin typeface="Noto Sans Bold"/>
                <a:ea typeface="Noto Sans Bold"/>
                <a:cs typeface="Noto Sans Bold"/>
                <a:sym typeface="Noto Sans Bold"/>
              </a:rPr>
              <a:t>n </a:t>
            </a:r>
            <a:r>
              <a:rPr lang="en-US" b="true" sz="7121" spc="-363" strike="noStrike" u="none">
                <a:solidFill>
                  <a:srgbClr val="FFFFFF"/>
                </a:solidFill>
                <a:latin typeface="Noto Sans Bold"/>
                <a:ea typeface="Noto Sans Bold"/>
                <a:cs typeface="Noto Sans Bold"/>
                <a:sym typeface="Noto Sans Bold"/>
              </a:rPr>
              <a:t>Giải</a:t>
            </a:r>
            <a:r>
              <a:rPr lang="en-US" b="true" sz="7121" spc="-363" strike="noStrike" u="none">
                <a:solidFill>
                  <a:srgbClr val="FFFFFF"/>
                </a:solidFill>
                <a:latin typeface="Noto Sans Bold"/>
                <a:ea typeface="Noto Sans Bold"/>
                <a:cs typeface="Noto Sans Bold"/>
                <a:sym typeface="Noto Sans Bold"/>
              </a:rPr>
              <a:t> t</a:t>
            </a:r>
            <a:r>
              <a:rPr lang="en-US" b="true" sz="7121" spc="-363" strike="noStrike" u="none">
                <a:solidFill>
                  <a:srgbClr val="FFFFFF"/>
                </a:solidFill>
                <a:latin typeface="Noto Sans Bold"/>
                <a:ea typeface="Noto Sans Bold"/>
                <a:cs typeface="Noto Sans Bold"/>
                <a:sym typeface="Noto Sans Bold"/>
              </a:rPr>
              <a:t>íc</a:t>
            </a:r>
            <a:r>
              <a:rPr lang="en-US" b="true" sz="7121" spc="-363" strike="noStrike" u="none">
                <a:solidFill>
                  <a:srgbClr val="FFFFFF"/>
                </a:solidFill>
                <a:latin typeface="Noto Sans Bold"/>
                <a:ea typeface="Noto Sans Bold"/>
                <a:cs typeface="Noto Sans Bold"/>
                <a:sym typeface="Noto Sans Bold"/>
              </a:rPr>
              <a:t>h </a:t>
            </a:r>
            <a:r>
              <a:rPr lang="en-US" b="true" sz="7121" spc="-363" strike="noStrike" u="none">
                <a:solidFill>
                  <a:srgbClr val="FFFFFF"/>
                </a:solidFill>
                <a:latin typeface="Noto Sans Bold"/>
                <a:ea typeface="Noto Sans Bold"/>
                <a:cs typeface="Noto Sans Bold"/>
                <a:sym typeface="Noto Sans Bold"/>
              </a:rPr>
              <a:t>Ma t</a:t>
            </a:r>
            <a:r>
              <a:rPr lang="en-US" b="true" sz="7121" spc="-363" strike="noStrike" u="none">
                <a:solidFill>
                  <a:srgbClr val="FFFFFF"/>
                </a:solidFill>
                <a:latin typeface="Noto Sans Bold"/>
                <a:ea typeface="Noto Sans Bold"/>
                <a:cs typeface="Noto Sans Bold"/>
                <a:sym typeface="Noto Sans Bold"/>
              </a:rPr>
              <a:t>r</a:t>
            </a:r>
            <a:r>
              <a:rPr lang="en-US" b="true" sz="7121" spc="-363" strike="noStrike" u="none">
                <a:solidFill>
                  <a:srgbClr val="FFFFFF"/>
                </a:solidFill>
                <a:latin typeface="Noto Sans Bold"/>
                <a:ea typeface="Noto Sans Bold"/>
                <a:cs typeface="Noto Sans Bold"/>
                <a:sym typeface="Noto Sans Bold"/>
              </a:rPr>
              <a:t>ậ</a:t>
            </a:r>
            <a:r>
              <a:rPr lang="en-US" b="true" sz="7121" spc="-363" strike="noStrike" u="none">
                <a:solidFill>
                  <a:srgbClr val="FFFFFF"/>
                </a:solidFill>
                <a:latin typeface="Noto Sans Bold"/>
                <a:ea typeface="Noto Sans Bold"/>
                <a:cs typeface="Noto Sans Bold"/>
                <a:sym typeface="Noto Sans Bold"/>
              </a:rPr>
              <a:t>n</a:t>
            </a:r>
          </a:p>
          <a:p>
            <a:pPr algn="just" marL="0" indent="0" lvl="0">
              <a:lnSpc>
                <a:spcPts val="6837"/>
              </a:lnSpc>
              <a:spcBef>
                <a:spcPct val="0"/>
              </a:spcBef>
            </a:pPr>
          </a:p>
        </p:txBody>
      </p:sp>
      <p:grpSp>
        <p:nvGrpSpPr>
          <p:cNvPr name="Group 9" id="9"/>
          <p:cNvGrpSpPr/>
          <p:nvPr/>
        </p:nvGrpSpPr>
        <p:grpSpPr>
          <a:xfrm rot="0">
            <a:off x="268717" y="1712709"/>
            <a:ext cx="9197071" cy="2145743"/>
            <a:chOff x="0" y="0"/>
            <a:chExt cx="2422274" cy="565134"/>
          </a:xfrm>
        </p:grpSpPr>
        <p:sp>
          <p:nvSpPr>
            <p:cNvPr name="Freeform 10" id="10"/>
            <p:cNvSpPr/>
            <p:nvPr/>
          </p:nvSpPr>
          <p:spPr>
            <a:xfrm flipH="false" flipV="false" rot="0">
              <a:off x="0" y="0"/>
              <a:ext cx="2422274" cy="565134"/>
            </a:xfrm>
            <a:custGeom>
              <a:avLst/>
              <a:gdLst/>
              <a:ahLst/>
              <a:cxnLst/>
              <a:rect r="r" b="b" t="t" l="l"/>
              <a:pathLst>
                <a:path h="565134" w="2422274">
                  <a:moveTo>
                    <a:pt x="42931" y="0"/>
                  </a:moveTo>
                  <a:lnTo>
                    <a:pt x="2379343" y="0"/>
                  </a:lnTo>
                  <a:cubicBezTo>
                    <a:pt x="2390729" y="0"/>
                    <a:pt x="2401649" y="4523"/>
                    <a:pt x="2409700" y="12574"/>
                  </a:cubicBezTo>
                  <a:cubicBezTo>
                    <a:pt x="2417751" y="20625"/>
                    <a:pt x="2422274" y="31545"/>
                    <a:pt x="2422274" y="42931"/>
                  </a:cubicBezTo>
                  <a:lnTo>
                    <a:pt x="2422274" y="522203"/>
                  </a:lnTo>
                  <a:cubicBezTo>
                    <a:pt x="2422274" y="533589"/>
                    <a:pt x="2417751" y="544509"/>
                    <a:pt x="2409700" y="552560"/>
                  </a:cubicBezTo>
                  <a:cubicBezTo>
                    <a:pt x="2401649" y="560611"/>
                    <a:pt x="2390729" y="565134"/>
                    <a:pt x="2379343" y="565134"/>
                  </a:cubicBezTo>
                  <a:lnTo>
                    <a:pt x="42931" y="565134"/>
                  </a:lnTo>
                  <a:cubicBezTo>
                    <a:pt x="31545" y="565134"/>
                    <a:pt x="20625" y="560611"/>
                    <a:pt x="12574" y="552560"/>
                  </a:cubicBezTo>
                  <a:cubicBezTo>
                    <a:pt x="4523" y="544509"/>
                    <a:pt x="0" y="533589"/>
                    <a:pt x="0" y="522203"/>
                  </a:cubicBezTo>
                  <a:lnTo>
                    <a:pt x="0" y="42931"/>
                  </a:lnTo>
                  <a:cubicBezTo>
                    <a:pt x="0" y="31545"/>
                    <a:pt x="4523" y="20625"/>
                    <a:pt x="12574" y="12574"/>
                  </a:cubicBezTo>
                  <a:cubicBezTo>
                    <a:pt x="20625" y="4523"/>
                    <a:pt x="31545" y="0"/>
                    <a:pt x="42931" y="0"/>
                  </a:cubicBezTo>
                  <a:close/>
                </a:path>
              </a:pathLst>
            </a:custGeom>
            <a:solidFill>
              <a:srgbClr val="FFFFFF"/>
            </a:solidFill>
          </p:spPr>
        </p:sp>
        <p:sp>
          <p:nvSpPr>
            <p:cNvPr name="TextBox 11" id="11"/>
            <p:cNvSpPr txBox="true"/>
            <p:nvPr/>
          </p:nvSpPr>
          <p:spPr>
            <a:xfrm>
              <a:off x="0" y="-38100"/>
              <a:ext cx="2422274" cy="60323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3971843" y="4086335"/>
            <a:ext cx="9394332" cy="2676868"/>
            <a:chOff x="0" y="0"/>
            <a:chExt cx="2474227" cy="705019"/>
          </a:xfrm>
        </p:grpSpPr>
        <p:sp>
          <p:nvSpPr>
            <p:cNvPr name="Freeform 13" id="13"/>
            <p:cNvSpPr/>
            <p:nvPr/>
          </p:nvSpPr>
          <p:spPr>
            <a:xfrm flipH="false" flipV="false" rot="0">
              <a:off x="0" y="0"/>
              <a:ext cx="2474227" cy="705019"/>
            </a:xfrm>
            <a:custGeom>
              <a:avLst/>
              <a:gdLst/>
              <a:ahLst/>
              <a:cxnLst/>
              <a:rect r="r" b="b" t="t" l="l"/>
              <a:pathLst>
                <a:path h="705019" w="2474227">
                  <a:moveTo>
                    <a:pt x="42029" y="0"/>
                  </a:moveTo>
                  <a:lnTo>
                    <a:pt x="2432198" y="0"/>
                  </a:lnTo>
                  <a:cubicBezTo>
                    <a:pt x="2455410" y="0"/>
                    <a:pt x="2474227" y="18817"/>
                    <a:pt x="2474227" y="42029"/>
                  </a:cubicBezTo>
                  <a:lnTo>
                    <a:pt x="2474227" y="662989"/>
                  </a:lnTo>
                  <a:cubicBezTo>
                    <a:pt x="2474227" y="674136"/>
                    <a:pt x="2469799" y="684827"/>
                    <a:pt x="2461917" y="692709"/>
                  </a:cubicBezTo>
                  <a:cubicBezTo>
                    <a:pt x="2454035" y="700591"/>
                    <a:pt x="2443345" y="705019"/>
                    <a:pt x="2432198" y="705019"/>
                  </a:cubicBezTo>
                  <a:lnTo>
                    <a:pt x="42029" y="705019"/>
                  </a:lnTo>
                  <a:cubicBezTo>
                    <a:pt x="18817" y="705019"/>
                    <a:pt x="0" y="686202"/>
                    <a:pt x="0" y="662989"/>
                  </a:cubicBezTo>
                  <a:lnTo>
                    <a:pt x="0" y="42029"/>
                  </a:lnTo>
                  <a:cubicBezTo>
                    <a:pt x="0" y="18817"/>
                    <a:pt x="18817" y="0"/>
                    <a:pt x="42029" y="0"/>
                  </a:cubicBezTo>
                  <a:close/>
                </a:path>
              </a:pathLst>
            </a:custGeom>
            <a:solidFill>
              <a:srgbClr val="FFFFFF"/>
            </a:solidFill>
          </p:spPr>
        </p:sp>
        <p:sp>
          <p:nvSpPr>
            <p:cNvPr name="TextBox 14" id="14"/>
            <p:cNvSpPr txBox="true"/>
            <p:nvPr/>
          </p:nvSpPr>
          <p:spPr>
            <a:xfrm>
              <a:off x="0" y="-38100"/>
              <a:ext cx="2474227" cy="743119"/>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8598332" y="7219409"/>
            <a:ext cx="9252979" cy="2676868"/>
            <a:chOff x="0" y="0"/>
            <a:chExt cx="2436999" cy="705019"/>
          </a:xfrm>
        </p:grpSpPr>
        <p:sp>
          <p:nvSpPr>
            <p:cNvPr name="Freeform 16" id="16"/>
            <p:cNvSpPr/>
            <p:nvPr/>
          </p:nvSpPr>
          <p:spPr>
            <a:xfrm flipH="false" flipV="false" rot="0">
              <a:off x="0" y="0"/>
              <a:ext cx="2436999" cy="705019"/>
            </a:xfrm>
            <a:custGeom>
              <a:avLst/>
              <a:gdLst/>
              <a:ahLst/>
              <a:cxnLst/>
              <a:rect r="r" b="b" t="t" l="l"/>
              <a:pathLst>
                <a:path h="705019" w="2436999">
                  <a:moveTo>
                    <a:pt x="42671" y="0"/>
                  </a:moveTo>
                  <a:lnTo>
                    <a:pt x="2394327" y="0"/>
                  </a:lnTo>
                  <a:cubicBezTo>
                    <a:pt x="2405644" y="0"/>
                    <a:pt x="2416498" y="4496"/>
                    <a:pt x="2424500" y="12498"/>
                  </a:cubicBezTo>
                  <a:cubicBezTo>
                    <a:pt x="2432503" y="20501"/>
                    <a:pt x="2436999" y="31354"/>
                    <a:pt x="2436999" y="42671"/>
                  </a:cubicBezTo>
                  <a:lnTo>
                    <a:pt x="2436999" y="662347"/>
                  </a:lnTo>
                  <a:cubicBezTo>
                    <a:pt x="2436999" y="673665"/>
                    <a:pt x="2432503" y="684518"/>
                    <a:pt x="2424500" y="692521"/>
                  </a:cubicBezTo>
                  <a:cubicBezTo>
                    <a:pt x="2416498" y="700523"/>
                    <a:pt x="2405644" y="705019"/>
                    <a:pt x="2394327" y="705019"/>
                  </a:cubicBezTo>
                  <a:lnTo>
                    <a:pt x="42671" y="705019"/>
                  </a:lnTo>
                  <a:cubicBezTo>
                    <a:pt x="31354" y="705019"/>
                    <a:pt x="20501" y="700523"/>
                    <a:pt x="12498" y="692521"/>
                  </a:cubicBezTo>
                  <a:cubicBezTo>
                    <a:pt x="4496" y="684518"/>
                    <a:pt x="0" y="673665"/>
                    <a:pt x="0" y="662347"/>
                  </a:cubicBezTo>
                  <a:lnTo>
                    <a:pt x="0" y="42671"/>
                  </a:lnTo>
                  <a:cubicBezTo>
                    <a:pt x="0" y="31354"/>
                    <a:pt x="4496" y="20501"/>
                    <a:pt x="12498" y="12498"/>
                  </a:cubicBezTo>
                  <a:cubicBezTo>
                    <a:pt x="20501" y="4496"/>
                    <a:pt x="31354" y="0"/>
                    <a:pt x="42671" y="0"/>
                  </a:cubicBezTo>
                  <a:close/>
                </a:path>
              </a:pathLst>
            </a:custGeom>
            <a:solidFill>
              <a:srgbClr val="FFFFFF"/>
            </a:solidFill>
          </p:spPr>
        </p:sp>
        <p:sp>
          <p:nvSpPr>
            <p:cNvPr name="TextBox 17" id="17"/>
            <p:cNvSpPr txBox="true"/>
            <p:nvPr/>
          </p:nvSpPr>
          <p:spPr>
            <a:xfrm>
              <a:off x="0" y="-38100"/>
              <a:ext cx="2436999" cy="743119"/>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541713" y="1893405"/>
            <a:ext cx="8651079" cy="1736725"/>
          </a:xfrm>
          <a:prstGeom prst="rect">
            <a:avLst/>
          </a:prstGeom>
        </p:spPr>
        <p:txBody>
          <a:bodyPr anchor="t" rtlCol="false" tIns="0" lIns="0" bIns="0" rIns="0">
            <a:spAutoFit/>
          </a:bodyPr>
          <a:lstStyle/>
          <a:p>
            <a:pPr algn="l">
              <a:lnSpc>
                <a:spcPts val="3499"/>
              </a:lnSpc>
              <a:spcBef>
                <a:spcPct val="0"/>
              </a:spcBef>
            </a:pPr>
            <a:r>
              <a:rPr lang="en-US" sz="2499" spc="312">
                <a:solidFill>
                  <a:srgbClr val="000000"/>
                </a:solidFill>
                <a:latin typeface="Noto Sans"/>
                <a:ea typeface="Noto Sans"/>
                <a:cs typeface="Noto Sans"/>
                <a:sym typeface="Noto Sans"/>
              </a:rPr>
              <a:t>Áp dụng chain rule trong không gian ma trận, ta thu được:</a:t>
            </a:r>
          </a:p>
          <a:p>
            <a:pPr algn="l">
              <a:lnSpc>
                <a:spcPts val="3499"/>
              </a:lnSpc>
              <a:spcBef>
                <a:spcPct val="0"/>
              </a:spcBef>
            </a:pPr>
            <a:r>
              <a:rPr lang="en-US" sz="2499" spc="312">
                <a:solidFill>
                  <a:srgbClr val="000000"/>
                </a:solidFill>
                <a:latin typeface="Noto Sans"/>
                <a:ea typeface="Noto Sans"/>
                <a:cs typeface="Noto Sans"/>
                <a:sym typeface="Noto Sans"/>
              </a:rPr>
              <a:t>∂L / ∂w = (1/n) · Xᵀ (p − y)</a:t>
            </a:r>
          </a:p>
          <a:p>
            <a:pPr algn="l">
              <a:lnSpc>
                <a:spcPts val="3499"/>
              </a:lnSpc>
              <a:spcBef>
                <a:spcPct val="0"/>
              </a:spcBef>
            </a:pPr>
            <a:r>
              <a:rPr lang="en-US" sz="2499" spc="312">
                <a:solidFill>
                  <a:srgbClr val="000000"/>
                </a:solidFill>
                <a:latin typeface="Noto Sans"/>
                <a:ea typeface="Noto Sans"/>
                <a:cs typeface="Noto Sans"/>
                <a:sym typeface="Noto Sans"/>
              </a:rPr>
              <a:t> ∂L / ∂b = (1/n) · ∑ (p − y)</a:t>
            </a:r>
          </a:p>
        </p:txBody>
      </p:sp>
      <p:sp>
        <p:nvSpPr>
          <p:cNvPr name="TextBox 19" id="19"/>
          <p:cNvSpPr txBox="true"/>
          <p:nvPr/>
        </p:nvSpPr>
        <p:spPr>
          <a:xfrm rot="0">
            <a:off x="4172093" y="4287675"/>
            <a:ext cx="9943813" cy="2231327"/>
          </a:xfrm>
          <a:prstGeom prst="rect">
            <a:avLst/>
          </a:prstGeom>
        </p:spPr>
        <p:txBody>
          <a:bodyPr anchor="t" rtlCol="false" tIns="0" lIns="0" bIns="0" rIns="0">
            <a:spAutoFit/>
          </a:bodyPr>
          <a:lstStyle/>
          <a:p>
            <a:pPr algn="l">
              <a:lnSpc>
                <a:spcPts val="3538"/>
              </a:lnSpc>
              <a:spcBef>
                <a:spcPct val="0"/>
              </a:spcBef>
            </a:pPr>
            <a:r>
              <a:rPr lang="en-US" b="true" sz="2527" spc="315">
                <a:solidFill>
                  <a:srgbClr val="000000"/>
                </a:solidFill>
                <a:latin typeface="Faustina Bold"/>
                <a:ea typeface="Faustina Bold"/>
                <a:cs typeface="Faustina Bold"/>
                <a:sym typeface="Faustina Bold"/>
              </a:rPr>
              <a:t>Ý nghĩa quan trọng:</a:t>
            </a:r>
          </a:p>
          <a:p>
            <a:pPr algn="l" marL="545686" indent="-272843" lvl="1">
              <a:lnSpc>
                <a:spcPts val="3538"/>
              </a:lnSpc>
              <a:buFont typeface="Arial"/>
              <a:buChar char="•"/>
            </a:pPr>
            <a:r>
              <a:rPr lang="en-US" sz="2527" spc="315">
                <a:solidFill>
                  <a:srgbClr val="000000"/>
                </a:solidFill>
                <a:latin typeface="Faustina"/>
                <a:ea typeface="Faustina"/>
                <a:cs typeface="Faustina"/>
                <a:sym typeface="Faustina"/>
              </a:rPr>
              <a:t>Shape của gradient </a:t>
            </a:r>
            <a:r>
              <a:rPr lang="en-US" b="true" sz="2527" spc="315">
                <a:solidFill>
                  <a:srgbClr val="000000"/>
                </a:solidFill>
                <a:latin typeface="Faustina Bold"/>
                <a:ea typeface="Faustina Bold"/>
                <a:cs typeface="Faustina Bold"/>
                <a:sym typeface="Faustina Bold"/>
              </a:rPr>
              <a:t>trùng với shape của tham số</a:t>
            </a:r>
          </a:p>
          <a:p>
            <a:pPr algn="l" marL="545686" indent="-272843" lvl="1">
              <a:lnSpc>
                <a:spcPts val="3538"/>
              </a:lnSpc>
              <a:buFont typeface="Arial"/>
              <a:buChar char="•"/>
            </a:pPr>
            <a:r>
              <a:rPr lang="en-US" sz="2527" spc="315">
                <a:solidFill>
                  <a:srgbClr val="000000"/>
                </a:solidFill>
                <a:latin typeface="Faustina"/>
                <a:ea typeface="Faustina"/>
                <a:cs typeface="Faustina"/>
                <a:sym typeface="Faustina"/>
              </a:rPr>
              <a:t>Không cần viết Jacobian tường minh</a:t>
            </a:r>
          </a:p>
          <a:p>
            <a:pPr algn="l" marL="545686" indent="-272843" lvl="1">
              <a:lnSpc>
                <a:spcPts val="3538"/>
              </a:lnSpc>
              <a:buFont typeface="Arial"/>
              <a:buChar char="•"/>
            </a:pPr>
            <a:r>
              <a:rPr lang="en-US" sz="2527" spc="315">
                <a:solidFill>
                  <a:srgbClr val="000000"/>
                </a:solidFill>
                <a:latin typeface="Faustina"/>
                <a:ea typeface="Faustina"/>
                <a:cs typeface="Faustina"/>
                <a:sym typeface="Faustina"/>
              </a:rPr>
              <a:t>Đây chính là “mẫu gradient” xuất hiện xuyên suốt Machine Learning</a:t>
            </a:r>
          </a:p>
        </p:txBody>
      </p:sp>
      <p:sp>
        <p:nvSpPr>
          <p:cNvPr name="TextBox 20" id="20"/>
          <p:cNvSpPr txBox="true"/>
          <p:nvPr/>
        </p:nvSpPr>
        <p:spPr>
          <a:xfrm rot="0">
            <a:off x="9192793" y="7391853"/>
            <a:ext cx="7943776" cy="2271024"/>
          </a:xfrm>
          <a:prstGeom prst="rect">
            <a:avLst/>
          </a:prstGeom>
        </p:spPr>
        <p:txBody>
          <a:bodyPr anchor="t" rtlCol="false" tIns="0" lIns="0" bIns="0" rIns="0">
            <a:spAutoFit/>
          </a:bodyPr>
          <a:lstStyle/>
          <a:p>
            <a:pPr algn="l">
              <a:lnSpc>
                <a:spcPts val="4500"/>
              </a:lnSpc>
              <a:spcBef>
                <a:spcPct val="0"/>
              </a:spcBef>
            </a:pPr>
            <a:r>
              <a:rPr lang="en-US" sz="3214" spc="401">
                <a:solidFill>
                  <a:srgbClr val="000000"/>
                </a:solidFill>
                <a:latin typeface="Faustina"/>
                <a:ea typeface="Faustina"/>
                <a:cs typeface="Faustina"/>
                <a:sym typeface="Faustina"/>
              </a:rPr>
              <a:t>Biểu thức </a:t>
            </a:r>
            <a:r>
              <a:rPr lang="en-US" b="true" sz="3214" spc="401">
                <a:solidFill>
                  <a:srgbClr val="000000"/>
                </a:solidFill>
                <a:latin typeface="Faustina Bold"/>
                <a:ea typeface="Faustina Bold"/>
                <a:cs typeface="Faustina Bold"/>
                <a:sym typeface="Faustina Bold"/>
              </a:rPr>
              <a:t>Xᵀ(p − y)</a:t>
            </a:r>
            <a:r>
              <a:rPr lang="en-US" sz="3214" spc="401">
                <a:solidFill>
                  <a:srgbClr val="000000"/>
                </a:solidFill>
                <a:latin typeface="Faustina"/>
                <a:ea typeface="Faustina"/>
                <a:cs typeface="Faustina"/>
                <a:sym typeface="Faustina"/>
              </a:rPr>
              <a:t> là nền móng cho:</a:t>
            </a:r>
          </a:p>
          <a:p>
            <a:pPr algn="l" marL="694035" indent="-347017" lvl="1">
              <a:lnSpc>
                <a:spcPts val="4500"/>
              </a:lnSpc>
              <a:buFont typeface="Arial"/>
              <a:buChar char="•"/>
            </a:pPr>
            <a:r>
              <a:rPr lang="en-US" sz="3214" spc="401">
                <a:solidFill>
                  <a:srgbClr val="000000"/>
                </a:solidFill>
                <a:latin typeface="Faustina"/>
                <a:ea typeface="Faustina"/>
                <a:cs typeface="Faustina"/>
                <a:sym typeface="Faustina"/>
              </a:rPr>
              <a:t>Logistic regression</a:t>
            </a:r>
          </a:p>
          <a:p>
            <a:pPr algn="l" marL="694035" indent="-347017" lvl="1">
              <a:lnSpc>
                <a:spcPts val="4500"/>
              </a:lnSpc>
              <a:buFont typeface="Arial"/>
              <a:buChar char="•"/>
            </a:pPr>
            <a:r>
              <a:rPr lang="en-US" sz="3214" spc="401">
                <a:solidFill>
                  <a:srgbClr val="000000"/>
                </a:solidFill>
                <a:latin typeface="Faustina"/>
                <a:ea typeface="Faustina"/>
                <a:cs typeface="Faustina"/>
                <a:sym typeface="Faustina"/>
              </a:rPr>
              <a:t>Softmax classifier</a:t>
            </a:r>
          </a:p>
          <a:p>
            <a:pPr algn="l" marL="694035" indent="-347017" lvl="1">
              <a:lnSpc>
                <a:spcPts val="4500"/>
              </a:lnSpc>
              <a:buFont typeface="Arial"/>
              <a:buChar char="•"/>
            </a:pPr>
            <a:r>
              <a:rPr lang="en-US" sz="3214" spc="401">
                <a:solidFill>
                  <a:srgbClr val="000000"/>
                </a:solidFill>
                <a:latin typeface="Faustina"/>
                <a:ea typeface="Faustina"/>
                <a:cs typeface="Faustina"/>
                <a:sym typeface="Faustina"/>
              </a:rPr>
              <a:t>Neural networks nhiều tầng</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6557428" y="5548541"/>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816048" y="1401139"/>
            <a:ext cx="13803954" cy="3243028"/>
          </a:xfrm>
          <a:prstGeom prst="rect">
            <a:avLst/>
          </a:prstGeom>
        </p:spPr>
        <p:txBody>
          <a:bodyPr anchor="t" rtlCol="false" tIns="0" lIns="0" bIns="0" rIns="0">
            <a:spAutoFit/>
          </a:bodyPr>
          <a:lstStyle/>
          <a:p>
            <a:pPr algn="l">
              <a:lnSpc>
                <a:spcPts val="8382"/>
              </a:lnSpc>
            </a:pPr>
            <a:r>
              <a:rPr lang="en-US" b="true" sz="8731" spc="-445">
                <a:solidFill>
                  <a:srgbClr val="FFFFFF"/>
                </a:solidFill>
                <a:latin typeface="Noto Sans Bold"/>
                <a:ea typeface="Noto Sans Bold"/>
                <a:cs typeface="Noto Sans Bold"/>
                <a:sym typeface="Noto Sans Bold"/>
              </a:rPr>
              <a:t>Vòng lặp h</a:t>
            </a:r>
            <a:r>
              <a:rPr lang="en-US" b="true" sz="8731" spc="-445" strike="noStrike" u="none">
                <a:solidFill>
                  <a:srgbClr val="FFFFFF"/>
                </a:solidFill>
                <a:latin typeface="Noto Sans Bold"/>
                <a:ea typeface="Noto Sans Bold"/>
                <a:cs typeface="Noto Sans Bold"/>
                <a:sym typeface="Noto Sans Bold"/>
              </a:rPr>
              <a:t>u</a:t>
            </a:r>
            <a:r>
              <a:rPr lang="en-US" b="true" sz="8731" spc="-445" strike="noStrike" u="none">
                <a:solidFill>
                  <a:srgbClr val="FFFFFF"/>
                </a:solidFill>
                <a:latin typeface="Noto Sans Bold"/>
                <a:ea typeface="Noto Sans Bold"/>
                <a:cs typeface="Noto Sans Bold"/>
                <a:sym typeface="Noto Sans Bold"/>
              </a:rPr>
              <a:t>ấn l</a:t>
            </a:r>
            <a:r>
              <a:rPr lang="en-US" b="true" sz="8731" spc="-445" strike="noStrike" u="none">
                <a:solidFill>
                  <a:srgbClr val="FFFFFF"/>
                </a:solidFill>
                <a:latin typeface="Noto Sans Bold"/>
                <a:ea typeface="Noto Sans Bold"/>
                <a:cs typeface="Noto Sans Bold"/>
                <a:sym typeface="Noto Sans Bold"/>
              </a:rPr>
              <a:t>u</a:t>
            </a:r>
            <a:r>
              <a:rPr lang="en-US" b="true" sz="8731" spc="-445" strike="noStrike" u="none">
                <a:solidFill>
                  <a:srgbClr val="FFFFFF"/>
                </a:solidFill>
                <a:latin typeface="Noto Sans Bold"/>
                <a:ea typeface="Noto Sans Bold"/>
                <a:cs typeface="Noto Sans Bold"/>
                <a:sym typeface="Noto Sans Bold"/>
              </a:rPr>
              <a:t>yện</a:t>
            </a:r>
            <a:r>
              <a:rPr lang="en-US" b="true" sz="8731" spc="-445" strike="noStrike" u="none">
                <a:solidFill>
                  <a:srgbClr val="FFFFFF"/>
                </a:solidFill>
                <a:latin typeface="Noto Sans Bold"/>
                <a:ea typeface="Noto Sans Bold"/>
                <a:cs typeface="Noto Sans Bold"/>
                <a:sym typeface="Noto Sans Bold"/>
              </a:rPr>
              <a:t> </a:t>
            </a:r>
            <a:r>
              <a:rPr lang="en-US" b="true" sz="8731" spc="-445" strike="noStrike" u="none">
                <a:solidFill>
                  <a:srgbClr val="FFFFFF"/>
                </a:solidFill>
                <a:latin typeface="Noto Sans Bold"/>
                <a:ea typeface="Noto Sans Bold"/>
                <a:cs typeface="Noto Sans Bold"/>
                <a:sym typeface="Noto Sans Bold"/>
              </a:rPr>
              <a:t>(Manual</a:t>
            </a:r>
            <a:r>
              <a:rPr lang="en-US" b="true" sz="8731" spc="-445" strike="noStrike" u="none">
                <a:solidFill>
                  <a:srgbClr val="FFFFFF"/>
                </a:solidFill>
                <a:latin typeface="Noto Sans Bold"/>
                <a:ea typeface="Noto Sans Bold"/>
                <a:cs typeface="Noto Sans Bold"/>
                <a:sym typeface="Noto Sans Bold"/>
              </a:rPr>
              <a:t> </a:t>
            </a:r>
            <a:r>
              <a:rPr lang="en-US" b="true" sz="8731" spc="-445" strike="noStrike" u="none">
                <a:solidFill>
                  <a:srgbClr val="FFFFFF"/>
                </a:solidFill>
                <a:latin typeface="Noto Sans Bold"/>
                <a:ea typeface="Noto Sans Bold"/>
                <a:cs typeface="Noto Sans Bold"/>
                <a:sym typeface="Noto Sans Bold"/>
              </a:rPr>
              <a:t>Ba</a:t>
            </a:r>
            <a:r>
              <a:rPr lang="en-US" b="true" sz="8731" spc="-445" strike="noStrike" u="none">
                <a:solidFill>
                  <a:srgbClr val="FFFFFF"/>
                </a:solidFill>
                <a:latin typeface="Noto Sans Bold"/>
                <a:ea typeface="Noto Sans Bold"/>
                <a:cs typeface="Noto Sans Bold"/>
                <a:sym typeface="Noto Sans Bold"/>
              </a:rPr>
              <a:t>c</a:t>
            </a:r>
            <a:r>
              <a:rPr lang="en-US" b="true" sz="8731" spc="-445" strike="noStrike" u="none">
                <a:solidFill>
                  <a:srgbClr val="FFFFFF"/>
                </a:solidFill>
                <a:latin typeface="Noto Sans Bold"/>
                <a:ea typeface="Noto Sans Bold"/>
                <a:cs typeface="Noto Sans Bold"/>
                <a:sym typeface="Noto Sans Bold"/>
              </a:rPr>
              <a:t>kpr</a:t>
            </a:r>
            <a:r>
              <a:rPr lang="en-US" b="true" sz="8731" spc="-445" strike="noStrike" u="none">
                <a:solidFill>
                  <a:srgbClr val="FFFFFF"/>
                </a:solidFill>
                <a:latin typeface="Noto Sans Bold"/>
                <a:ea typeface="Noto Sans Bold"/>
                <a:cs typeface="Noto Sans Bold"/>
                <a:sym typeface="Noto Sans Bold"/>
              </a:rPr>
              <a:t>o</a:t>
            </a:r>
            <a:r>
              <a:rPr lang="en-US" b="true" sz="8731" spc="-445" strike="noStrike" u="none">
                <a:solidFill>
                  <a:srgbClr val="FFFFFF"/>
                </a:solidFill>
                <a:latin typeface="Noto Sans Bold"/>
                <a:ea typeface="Noto Sans Bold"/>
                <a:cs typeface="Noto Sans Bold"/>
                <a:sym typeface="Noto Sans Bold"/>
              </a:rPr>
              <a:t>pa</a:t>
            </a:r>
            <a:r>
              <a:rPr lang="en-US" b="true" sz="8731" spc="-445" strike="noStrike" u="none">
                <a:solidFill>
                  <a:srgbClr val="FFFFFF"/>
                </a:solidFill>
                <a:latin typeface="Noto Sans Bold"/>
                <a:ea typeface="Noto Sans Bold"/>
                <a:cs typeface="Noto Sans Bold"/>
                <a:sym typeface="Noto Sans Bold"/>
              </a:rPr>
              <a:t>g</a:t>
            </a:r>
            <a:r>
              <a:rPr lang="en-US" b="true" sz="8731" spc="-445" strike="noStrike" u="none">
                <a:solidFill>
                  <a:srgbClr val="FFFFFF"/>
                </a:solidFill>
                <a:latin typeface="Noto Sans Bold"/>
                <a:ea typeface="Noto Sans Bold"/>
                <a:cs typeface="Noto Sans Bold"/>
                <a:sym typeface="Noto Sans Bold"/>
              </a:rPr>
              <a:t>ation)</a:t>
            </a:r>
          </a:p>
          <a:p>
            <a:pPr algn="ctr">
              <a:lnSpc>
                <a:spcPts val="8382"/>
              </a:lnSpc>
            </a:pPr>
          </a:p>
        </p:txBody>
      </p:sp>
      <p:grpSp>
        <p:nvGrpSpPr>
          <p:cNvPr name="Group 12" id="12"/>
          <p:cNvGrpSpPr/>
          <p:nvPr/>
        </p:nvGrpSpPr>
        <p:grpSpPr>
          <a:xfrm rot="0">
            <a:off x="5229771" y="4086335"/>
            <a:ext cx="11183385" cy="5171965"/>
            <a:chOff x="0" y="0"/>
            <a:chExt cx="2945418" cy="1362164"/>
          </a:xfrm>
        </p:grpSpPr>
        <p:sp>
          <p:nvSpPr>
            <p:cNvPr name="Freeform 13" id="13"/>
            <p:cNvSpPr/>
            <p:nvPr/>
          </p:nvSpPr>
          <p:spPr>
            <a:xfrm flipH="false" flipV="false" rot="0">
              <a:off x="0" y="0"/>
              <a:ext cx="2945418" cy="1362164"/>
            </a:xfrm>
            <a:custGeom>
              <a:avLst/>
              <a:gdLst/>
              <a:ahLst/>
              <a:cxnLst/>
              <a:rect r="r" b="b" t="t" l="l"/>
              <a:pathLst>
                <a:path h="1362164" w="2945418">
                  <a:moveTo>
                    <a:pt x="35306" y="0"/>
                  </a:moveTo>
                  <a:lnTo>
                    <a:pt x="2910113" y="0"/>
                  </a:lnTo>
                  <a:cubicBezTo>
                    <a:pt x="2919476" y="0"/>
                    <a:pt x="2928457" y="3720"/>
                    <a:pt x="2935078" y="10341"/>
                  </a:cubicBezTo>
                  <a:cubicBezTo>
                    <a:pt x="2941699" y="16962"/>
                    <a:pt x="2945418" y="25942"/>
                    <a:pt x="2945418" y="35306"/>
                  </a:cubicBezTo>
                  <a:lnTo>
                    <a:pt x="2945418" y="1326858"/>
                  </a:lnTo>
                  <a:cubicBezTo>
                    <a:pt x="2945418" y="1336221"/>
                    <a:pt x="2941699" y="1345202"/>
                    <a:pt x="2935078" y="1351823"/>
                  </a:cubicBezTo>
                  <a:cubicBezTo>
                    <a:pt x="2928457" y="1358444"/>
                    <a:pt x="2919476" y="1362164"/>
                    <a:pt x="2910113" y="1362164"/>
                  </a:cubicBezTo>
                  <a:lnTo>
                    <a:pt x="35306" y="1362164"/>
                  </a:lnTo>
                  <a:cubicBezTo>
                    <a:pt x="25942" y="1362164"/>
                    <a:pt x="16962" y="1358444"/>
                    <a:pt x="10341" y="1351823"/>
                  </a:cubicBezTo>
                  <a:cubicBezTo>
                    <a:pt x="3720" y="1345202"/>
                    <a:pt x="0" y="1336221"/>
                    <a:pt x="0" y="1326858"/>
                  </a:cubicBezTo>
                  <a:lnTo>
                    <a:pt x="0" y="35306"/>
                  </a:lnTo>
                  <a:cubicBezTo>
                    <a:pt x="0" y="25942"/>
                    <a:pt x="3720" y="16962"/>
                    <a:pt x="10341" y="10341"/>
                  </a:cubicBezTo>
                  <a:cubicBezTo>
                    <a:pt x="16962" y="3720"/>
                    <a:pt x="25942" y="0"/>
                    <a:pt x="35306" y="0"/>
                  </a:cubicBezTo>
                  <a:close/>
                </a:path>
              </a:pathLst>
            </a:custGeom>
            <a:solidFill>
              <a:srgbClr val="FFFFFF"/>
            </a:solidFill>
          </p:spPr>
        </p:sp>
        <p:sp>
          <p:nvSpPr>
            <p:cNvPr name="TextBox 14" id="14"/>
            <p:cNvSpPr txBox="true"/>
            <p:nvPr/>
          </p:nvSpPr>
          <p:spPr>
            <a:xfrm>
              <a:off x="0" y="-38100"/>
              <a:ext cx="2945418" cy="1400264"/>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5610868" y="4230854"/>
            <a:ext cx="10468770" cy="4780776"/>
          </a:xfrm>
          <a:prstGeom prst="rect">
            <a:avLst/>
          </a:prstGeom>
        </p:spPr>
        <p:txBody>
          <a:bodyPr anchor="t" rtlCol="false" tIns="0" lIns="0" bIns="0" rIns="0">
            <a:spAutoFit/>
          </a:bodyPr>
          <a:lstStyle/>
          <a:p>
            <a:pPr algn="l">
              <a:lnSpc>
                <a:spcPts val="4767"/>
              </a:lnSpc>
              <a:spcBef>
                <a:spcPct val="0"/>
              </a:spcBef>
            </a:pPr>
            <a:r>
              <a:rPr lang="en-US" sz="3405" spc="425">
                <a:solidFill>
                  <a:srgbClr val="000000"/>
                </a:solidFill>
                <a:latin typeface="Faustina"/>
                <a:ea typeface="Faustina"/>
                <a:cs typeface="Faustina"/>
                <a:sym typeface="Faustina"/>
              </a:rPr>
              <a:t>Mỗi </a:t>
            </a:r>
            <a:r>
              <a:rPr lang="en-US" b="true" sz="3405" spc="425">
                <a:solidFill>
                  <a:srgbClr val="000000"/>
                </a:solidFill>
                <a:latin typeface="Faustina Bold"/>
                <a:ea typeface="Faustina Bold"/>
                <a:cs typeface="Faustina Bold"/>
                <a:sym typeface="Faustina Bold"/>
              </a:rPr>
              <a:t>epoch gồm 4 bước</a:t>
            </a:r>
            <a:r>
              <a:rPr lang="en-US" sz="3405" spc="425">
                <a:solidFill>
                  <a:srgbClr val="000000"/>
                </a:solidFill>
                <a:latin typeface="Faustina"/>
                <a:ea typeface="Faustina"/>
                <a:cs typeface="Faustina"/>
                <a:sym typeface="Faustina"/>
              </a:rPr>
              <a:t>:</a:t>
            </a:r>
          </a:p>
          <a:p>
            <a:pPr algn="l" marL="735243" indent="-367622" lvl="1">
              <a:lnSpc>
                <a:spcPts val="4767"/>
              </a:lnSpc>
              <a:spcBef>
                <a:spcPct val="0"/>
              </a:spcBef>
              <a:buAutoNum type="arabicPeriod" startAt="1"/>
            </a:pPr>
            <a:r>
              <a:rPr lang="en-US" sz="3405" spc="425">
                <a:solidFill>
                  <a:srgbClr val="000000"/>
                </a:solidFill>
                <a:latin typeface="Faustina"/>
                <a:ea typeface="Faustina"/>
                <a:cs typeface="Faustina"/>
                <a:sym typeface="Faustina"/>
              </a:rPr>
              <a:t>Forward pass (tính z, p)</a:t>
            </a:r>
          </a:p>
          <a:p>
            <a:pPr algn="l" marL="735243" indent="-367622" lvl="1">
              <a:lnSpc>
                <a:spcPts val="4767"/>
              </a:lnSpc>
              <a:spcBef>
                <a:spcPct val="0"/>
              </a:spcBef>
              <a:buAutoNum type="arabicPeriod" startAt="1"/>
            </a:pPr>
            <a:r>
              <a:rPr lang="en-US" sz="3405" spc="425">
                <a:solidFill>
                  <a:srgbClr val="000000"/>
                </a:solidFill>
                <a:latin typeface="Faustina"/>
                <a:ea typeface="Faustina"/>
                <a:cs typeface="Faustina"/>
                <a:sym typeface="Faustina"/>
              </a:rPr>
              <a:t>Tính loss (scalar)</a:t>
            </a:r>
          </a:p>
          <a:p>
            <a:pPr algn="l" marL="735243" indent="-367622" lvl="1">
              <a:lnSpc>
                <a:spcPts val="4767"/>
              </a:lnSpc>
              <a:spcBef>
                <a:spcPct val="0"/>
              </a:spcBef>
              <a:buAutoNum type="arabicPeriod" startAt="1"/>
            </a:pPr>
            <a:r>
              <a:rPr lang="en-US" sz="3405" spc="425">
                <a:solidFill>
                  <a:srgbClr val="000000"/>
                </a:solidFill>
                <a:latin typeface="Faustina"/>
                <a:ea typeface="Faustina"/>
                <a:cs typeface="Faustina"/>
                <a:sym typeface="Faustina"/>
              </a:rPr>
              <a:t>Tính gradient bằng công thức ma trận</a:t>
            </a:r>
          </a:p>
          <a:p>
            <a:pPr algn="l" marL="735243" indent="-367622" lvl="1">
              <a:lnSpc>
                <a:spcPts val="4767"/>
              </a:lnSpc>
              <a:spcBef>
                <a:spcPct val="0"/>
              </a:spcBef>
              <a:buAutoNum type="arabicPeriod" startAt="1"/>
            </a:pPr>
            <a:r>
              <a:rPr lang="en-US" sz="3405" spc="425">
                <a:solidFill>
                  <a:srgbClr val="000000"/>
                </a:solidFill>
                <a:latin typeface="Faustina"/>
                <a:ea typeface="Faustina"/>
                <a:cs typeface="Faustina"/>
                <a:sym typeface="Faustina"/>
              </a:rPr>
              <a:t>Cập nhật tham số bằng gradient descent</a:t>
            </a:r>
          </a:p>
          <a:p>
            <a:pPr algn="l">
              <a:lnSpc>
                <a:spcPts val="4767"/>
              </a:lnSpc>
              <a:spcBef>
                <a:spcPct val="0"/>
              </a:spcBef>
            </a:pPr>
            <a:r>
              <a:rPr lang="en-US" sz="3405" spc="425">
                <a:solidFill>
                  <a:srgbClr val="000000"/>
                </a:solidFill>
                <a:latin typeface="Faustina"/>
                <a:ea typeface="Faustina"/>
                <a:cs typeface="Faustina"/>
                <a:sym typeface="Faustina"/>
              </a:rPr>
              <a:t>Toàn bộ quá trình được thực hiện </a:t>
            </a:r>
            <a:r>
              <a:rPr lang="en-US" b="true" sz="3405" spc="425">
                <a:solidFill>
                  <a:srgbClr val="000000"/>
                </a:solidFill>
                <a:latin typeface="Faustina Bold"/>
                <a:ea typeface="Faustina Bold"/>
                <a:cs typeface="Faustina Bold"/>
                <a:sym typeface="Faustina Bold"/>
              </a:rPr>
              <a:t>thủ công</a:t>
            </a:r>
            <a:r>
              <a:rPr lang="en-US" sz="3405" spc="425">
                <a:solidFill>
                  <a:srgbClr val="000000"/>
                </a:solidFill>
                <a:latin typeface="Faustina"/>
                <a:ea typeface="Faustina"/>
                <a:cs typeface="Faustina"/>
                <a:sym typeface="Faustina"/>
              </a:rPr>
              <a:t>, không sử dụng PyTorch, TensorFlow hay bất kỳ autodiff engine nào.</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6557428" y="5548541"/>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028700" y="1902281"/>
            <a:ext cx="13803954" cy="2184054"/>
          </a:xfrm>
          <a:prstGeom prst="rect">
            <a:avLst/>
          </a:prstGeom>
        </p:spPr>
        <p:txBody>
          <a:bodyPr anchor="t" rtlCol="false" tIns="0" lIns="0" bIns="0" rIns="0">
            <a:spAutoFit/>
          </a:bodyPr>
          <a:lstStyle/>
          <a:p>
            <a:pPr algn="l">
              <a:lnSpc>
                <a:spcPts val="8382"/>
              </a:lnSpc>
            </a:pPr>
            <a:r>
              <a:rPr lang="en-US" b="true" sz="8731" spc="-445">
                <a:solidFill>
                  <a:srgbClr val="FFFFFF"/>
                </a:solidFill>
                <a:latin typeface="Noto Sans Bold"/>
                <a:ea typeface="Noto Sans Bold"/>
                <a:cs typeface="Noto Sans Bold"/>
                <a:sym typeface="Noto Sans Bold"/>
              </a:rPr>
              <a:t>Đường </a:t>
            </a:r>
            <a:r>
              <a:rPr lang="en-US" b="true" sz="8731" spc="-445" strike="noStrike" u="none">
                <a:solidFill>
                  <a:srgbClr val="FFFFFF"/>
                </a:solidFill>
                <a:latin typeface="Noto Sans Bold"/>
                <a:ea typeface="Noto Sans Bold"/>
                <a:cs typeface="Noto Sans Bold"/>
                <a:sym typeface="Noto Sans Bold"/>
              </a:rPr>
              <a:t>cong Lo</a:t>
            </a:r>
            <a:r>
              <a:rPr lang="en-US" b="true" sz="8731" spc="-445" strike="noStrike" u="none">
                <a:solidFill>
                  <a:srgbClr val="FFFFFF"/>
                </a:solidFill>
                <a:latin typeface="Noto Sans Bold"/>
                <a:ea typeface="Noto Sans Bold"/>
                <a:cs typeface="Noto Sans Bold"/>
                <a:sym typeface="Noto Sans Bold"/>
              </a:rPr>
              <a:t>ss</a:t>
            </a:r>
          </a:p>
          <a:p>
            <a:pPr algn="ctr">
              <a:lnSpc>
                <a:spcPts val="8382"/>
              </a:lnSpc>
            </a:pPr>
          </a:p>
        </p:txBody>
      </p:sp>
      <p:grpSp>
        <p:nvGrpSpPr>
          <p:cNvPr name="Group 12" id="12"/>
          <p:cNvGrpSpPr/>
          <p:nvPr/>
        </p:nvGrpSpPr>
        <p:grpSpPr>
          <a:xfrm rot="0">
            <a:off x="5229771" y="4086335"/>
            <a:ext cx="11183385" cy="5171965"/>
            <a:chOff x="0" y="0"/>
            <a:chExt cx="2945418" cy="1362164"/>
          </a:xfrm>
        </p:grpSpPr>
        <p:sp>
          <p:nvSpPr>
            <p:cNvPr name="Freeform 13" id="13"/>
            <p:cNvSpPr/>
            <p:nvPr/>
          </p:nvSpPr>
          <p:spPr>
            <a:xfrm flipH="false" flipV="false" rot="0">
              <a:off x="0" y="0"/>
              <a:ext cx="2945418" cy="1362164"/>
            </a:xfrm>
            <a:custGeom>
              <a:avLst/>
              <a:gdLst/>
              <a:ahLst/>
              <a:cxnLst/>
              <a:rect r="r" b="b" t="t" l="l"/>
              <a:pathLst>
                <a:path h="1362164" w="2945418">
                  <a:moveTo>
                    <a:pt x="35306" y="0"/>
                  </a:moveTo>
                  <a:lnTo>
                    <a:pt x="2910113" y="0"/>
                  </a:lnTo>
                  <a:cubicBezTo>
                    <a:pt x="2919476" y="0"/>
                    <a:pt x="2928457" y="3720"/>
                    <a:pt x="2935078" y="10341"/>
                  </a:cubicBezTo>
                  <a:cubicBezTo>
                    <a:pt x="2941699" y="16962"/>
                    <a:pt x="2945418" y="25942"/>
                    <a:pt x="2945418" y="35306"/>
                  </a:cubicBezTo>
                  <a:lnTo>
                    <a:pt x="2945418" y="1326858"/>
                  </a:lnTo>
                  <a:cubicBezTo>
                    <a:pt x="2945418" y="1336221"/>
                    <a:pt x="2941699" y="1345202"/>
                    <a:pt x="2935078" y="1351823"/>
                  </a:cubicBezTo>
                  <a:cubicBezTo>
                    <a:pt x="2928457" y="1358444"/>
                    <a:pt x="2919476" y="1362164"/>
                    <a:pt x="2910113" y="1362164"/>
                  </a:cubicBezTo>
                  <a:lnTo>
                    <a:pt x="35306" y="1362164"/>
                  </a:lnTo>
                  <a:cubicBezTo>
                    <a:pt x="25942" y="1362164"/>
                    <a:pt x="16962" y="1358444"/>
                    <a:pt x="10341" y="1351823"/>
                  </a:cubicBezTo>
                  <a:cubicBezTo>
                    <a:pt x="3720" y="1345202"/>
                    <a:pt x="0" y="1336221"/>
                    <a:pt x="0" y="1326858"/>
                  </a:cubicBezTo>
                  <a:lnTo>
                    <a:pt x="0" y="35306"/>
                  </a:lnTo>
                  <a:cubicBezTo>
                    <a:pt x="0" y="25942"/>
                    <a:pt x="3720" y="16962"/>
                    <a:pt x="10341" y="10341"/>
                  </a:cubicBezTo>
                  <a:cubicBezTo>
                    <a:pt x="16962" y="3720"/>
                    <a:pt x="25942" y="0"/>
                    <a:pt x="35306" y="0"/>
                  </a:cubicBezTo>
                  <a:close/>
                </a:path>
              </a:pathLst>
            </a:custGeom>
            <a:solidFill>
              <a:srgbClr val="FFFFFF"/>
            </a:solidFill>
          </p:spPr>
        </p:sp>
        <p:sp>
          <p:nvSpPr>
            <p:cNvPr name="TextBox 14" id="14"/>
            <p:cNvSpPr txBox="true"/>
            <p:nvPr/>
          </p:nvSpPr>
          <p:spPr>
            <a:xfrm>
              <a:off x="0" y="-38100"/>
              <a:ext cx="2945418" cy="1400264"/>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5944386" y="4734026"/>
            <a:ext cx="10468770" cy="4180701"/>
          </a:xfrm>
          <a:prstGeom prst="rect">
            <a:avLst/>
          </a:prstGeom>
        </p:spPr>
        <p:txBody>
          <a:bodyPr anchor="t" rtlCol="false" tIns="0" lIns="0" bIns="0" rIns="0">
            <a:spAutoFit/>
          </a:bodyPr>
          <a:lstStyle/>
          <a:p>
            <a:pPr algn="l">
              <a:lnSpc>
                <a:spcPts val="4767"/>
              </a:lnSpc>
              <a:spcBef>
                <a:spcPct val="0"/>
              </a:spcBef>
            </a:pPr>
            <a:r>
              <a:rPr lang="en-US" sz="3405" spc="425">
                <a:solidFill>
                  <a:srgbClr val="000000"/>
                </a:solidFill>
                <a:latin typeface="Faustina"/>
                <a:ea typeface="Faustina"/>
                <a:cs typeface="Faustina"/>
                <a:sym typeface="Faustina"/>
              </a:rPr>
              <a:t>L</a:t>
            </a:r>
            <a:r>
              <a:rPr lang="en-US" sz="3405" spc="425">
                <a:solidFill>
                  <a:srgbClr val="000000"/>
                </a:solidFill>
                <a:latin typeface="Faustina"/>
                <a:ea typeface="Faustina"/>
                <a:cs typeface="Faustina"/>
                <a:sym typeface="Faustina"/>
              </a:rPr>
              <a:t>o</a:t>
            </a:r>
            <a:r>
              <a:rPr lang="en-US" sz="3405" spc="425">
                <a:solidFill>
                  <a:srgbClr val="000000"/>
                </a:solidFill>
                <a:latin typeface="Faustina"/>
                <a:ea typeface="Faustina"/>
                <a:cs typeface="Faustina"/>
                <a:sym typeface="Faustina"/>
              </a:rPr>
              <a:t>ss</a:t>
            </a:r>
            <a:r>
              <a:rPr lang="en-US" sz="3405" spc="425">
                <a:solidFill>
                  <a:srgbClr val="000000"/>
                </a:solidFill>
                <a:latin typeface="Faustina"/>
                <a:ea typeface="Faustina"/>
                <a:cs typeface="Faustina"/>
                <a:sym typeface="Faustina"/>
              </a:rPr>
              <a:t> g</a:t>
            </a:r>
            <a:r>
              <a:rPr lang="en-US" sz="3405" spc="425">
                <a:solidFill>
                  <a:srgbClr val="000000"/>
                </a:solidFill>
                <a:latin typeface="Faustina"/>
                <a:ea typeface="Faustina"/>
                <a:cs typeface="Faustina"/>
                <a:sym typeface="Faustina"/>
              </a:rPr>
              <a:t>iả</a:t>
            </a:r>
            <a:r>
              <a:rPr lang="en-US" sz="3405" spc="425">
                <a:solidFill>
                  <a:srgbClr val="000000"/>
                </a:solidFill>
                <a:latin typeface="Faustina"/>
                <a:ea typeface="Faustina"/>
                <a:cs typeface="Faustina"/>
                <a:sym typeface="Faustina"/>
              </a:rPr>
              <a:t>m </a:t>
            </a:r>
            <a:r>
              <a:rPr lang="en-US" sz="3405" spc="425">
                <a:solidFill>
                  <a:srgbClr val="000000"/>
                </a:solidFill>
                <a:latin typeface="Faustina"/>
                <a:ea typeface="Faustina"/>
                <a:cs typeface="Faustina"/>
                <a:sym typeface="Faustina"/>
              </a:rPr>
              <a:t>đều theo epoch cho thấy:</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Cô</a:t>
            </a:r>
            <a:r>
              <a:rPr lang="en-US" sz="3405" spc="425">
                <a:solidFill>
                  <a:srgbClr val="000000"/>
                </a:solidFill>
                <a:latin typeface="Faustina"/>
                <a:ea typeface="Faustina"/>
                <a:cs typeface="Faustina"/>
                <a:sym typeface="Faustina"/>
              </a:rPr>
              <a:t>ng thức gradient là chính xác</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Tốc</a:t>
            </a:r>
            <a:r>
              <a:rPr lang="en-US" sz="3405" spc="425">
                <a:solidFill>
                  <a:srgbClr val="000000"/>
                </a:solidFill>
                <a:latin typeface="Faustina"/>
                <a:ea typeface="Faustina"/>
                <a:cs typeface="Faustina"/>
                <a:sym typeface="Faustina"/>
              </a:rPr>
              <a:t> độ học (learning rate) ổn định</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Thuật toán tối ưu hoạt động đúng</a:t>
            </a:r>
          </a:p>
          <a:p>
            <a:pPr algn="l">
              <a:lnSpc>
                <a:spcPts val="4767"/>
              </a:lnSpc>
              <a:spcBef>
                <a:spcPct val="0"/>
              </a:spcBef>
            </a:pPr>
            <a:r>
              <a:rPr lang="en-US" sz="3405" spc="425">
                <a:solidFill>
                  <a:srgbClr val="000000"/>
                </a:solidFill>
                <a:latin typeface="Faustina"/>
                <a:ea typeface="Faustina"/>
                <a:cs typeface="Faustina"/>
                <a:sym typeface="Faustina"/>
              </a:rPr>
              <a:t>Đây là cách kiểm</a:t>
            </a:r>
            <a:r>
              <a:rPr lang="en-US" sz="3405" spc="425">
                <a:solidFill>
                  <a:srgbClr val="000000"/>
                </a:solidFill>
                <a:latin typeface="Faustina"/>
                <a:ea typeface="Faustina"/>
                <a:cs typeface="Faustina"/>
                <a:sym typeface="Faustina"/>
              </a:rPr>
              <a:t> c</a:t>
            </a:r>
            <a:r>
              <a:rPr lang="en-US" sz="3405" spc="425">
                <a:solidFill>
                  <a:srgbClr val="000000"/>
                </a:solidFill>
                <a:latin typeface="Faustina"/>
                <a:ea typeface="Faustina"/>
                <a:cs typeface="Faustina"/>
                <a:sym typeface="Faustina"/>
              </a:rPr>
              <a:t>hứ</a:t>
            </a:r>
            <a:r>
              <a:rPr lang="en-US" sz="3405" spc="425">
                <a:solidFill>
                  <a:srgbClr val="000000"/>
                </a:solidFill>
                <a:latin typeface="Faustina"/>
                <a:ea typeface="Faustina"/>
                <a:cs typeface="Faustina"/>
                <a:sym typeface="Faustina"/>
              </a:rPr>
              <a:t>ng</a:t>
            </a:r>
            <a:r>
              <a:rPr lang="en-US" sz="3405" spc="425">
                <a:solidFill>
                  <a:srgbClr val="000000"/>
                </a:solidFill>
                <a:latin typeface="Faustina"/>
                <a:ea typeface="Faustina"/>
                <a:cs typeface="Faustina"/>
                <a:sym typeface="Faustina"/>
              </a:rPr>
              <a:t> gradient </a:t>
            </a:r>
            <a:r>
              <a:rPr lang="en-US" b="true" sz="3405" spc="425">
                <a:solidFill>
                  <a:srgbClr val="000000"/>
                </a:solidFill>
                <a:latin typeface="Faustina Bold"/>
                <a:ea typeface="Faustina Bold"/>
                <a:cs typeface="Faustina Bold"/>
                <a:sym typeface="Faustina Bold"/>
              </a:rPr>
              <a:t>quan trọng nhất</a:t>
            </a:r>
            <a:r>
              <a:rPr lang="en-US" sz="3405" spc="425">
                <a:solidFill>
                  <a:srgbClr val="000000"/>
                </a:solidFill>
                <a:latin typeface="Faustina"/>
                <a:ea typeface="Faustina"/>
                <a:cs typeface="Faustina"/>
                <a:sym typeface="Faustina"/>
              </a:rPr>
              <a:t> khi làm từ scratch.</a:t>
            </a:r>
          </a:p>
          <a:p>
            <a:pPr algn="l">
              <a:lnSpc>
                <a:spcPts val="4767"/>
              </a:lnSpc>
              <a:spcBef>
                <a:spcPct val="0"/>
              </a:spcBef>
            </a:pP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6557428" y="5548541"/>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6834604" y="784123"/>
            <a:ext cx="13803954" cy="2184054"/>
          </a:xfrm>
          <a:prstGeom prst="rect">
            <a:avLst/>
          </a:prstGeom>
        </p:spPr>
        <p:txBody>
          <a:bodyPr anchor="t" rtlCol="false" tIns="0" lIns="0" bIns="0" rIns="0">
            <a:spAutoFit/>
          </a:bodyPr>
          <a:lstStyle/>
          <a:p>
            <a:pPr algn="l">
              <a:lnSpc>
                <a:spcPts val="8382"/>
              </a:lnSpc>
            </a:pPr>
            <a:r>
              <a:rPr lang="en-US" b="true" sz="8731" spc="-445">
                <a:solidFill>
                  <a:srgbClr val="FFFFFF"/>
                </a:solidFill>
                <a:latin typeface="Noto Sans Bold"/>
                <a:ea typeface="Noto Sans Bold"/>
                <a:cs typeface="Noto Sans Bold"/>
                <a:sym typeface="Noto Sans Bold"/>
              </a:rPr>
              <a:t>Đánh giá trê</a:t>
            </a:r>
            <a:r>
              <a:rPr lang="en-US" b="true" sz="8731" spc="-445" strike="noStrike" u="none">
                <a:solidFill>
                  <a:srgbClr val="FFFFFF"/>
                </a:solidFill>
                <a:latin typeface="Noto Sans Bold"/>
                <a:ea typeface="Noto Sans Bold"/>
                <a:cs typeface="Noto Sans Bold"/>
                <a:sym typeface="Noto Sans Bold"/>
              </a:rPr>
              <a:t>n tập Tes</a:t>
            </a:r>
            <a:r>
              <a:rPr lang="en-US" b="true" sz="8731" spc="-445" strike="noStrike" u="none">
                <a:solidFill>
                  <a:srgbClr val="FFFFFF"/>
                </a:solidFill>
                <a:latin typeface="Noto Sans Bold"/>
                <a:ea typeface="Noto Sans Bold"/>
                <a:cs typeface="Noto Sans Bold"/>
                <a:sym typeface="Noto Sans Bold"/>
              </a:rPr>
              <a:t>t</a:t>
            </a:r>
          </a:p>
          <a:p>
            <a:pPr algn="ctr">
              <a:lnSpc>
                <a:spcPts val="8382"/>
              </a:lnSpc>
            </a:pPr>
          </a:p>
        </p:txBody>
      </p:sp>
      <p:grpSp>
        <p:nvGrpSpPr>
          <p:cNvPr name="Group 12" id="12"/>
          <p:cNvGrpSpPr/>
          <p:nvPr/>
        </p:nvGrpSpPr>
        <p:grpSpPr>
          <a:xfrm rot="0">
            <a:off x="268832" y="3295534"/>
            <a:ext cx="8055940" cy="3262111"/>
            <a:chOff x="0" y="0"/>
            <a:chExt cx="2121729" cy="859157"/>
          </a:xfrm>
        </p:grpSpPr>
        <p:sp>
          <p:nvSpPr>
            <p:cNvPr name="Freeform 13" id="13"/>
            <p:cNvSpPr/>
            <p:nvPr/>
          </p:nvSpPr>
          <p:spPr>
            <a:xfrm flipH="false" flipV="false" rot="0">
              <a:off x="0" y="0"/>
              <a:ext cx="2121729" cy="859157"/>
            </a:xfrm>
            <a:custGeom>
              <a:avLst/>
              <a:gdLst/>
              <a:ahLst/>
              <a:cxnLst/>
              <a:rect r="r" b="b" t="t" l="l"/>
              <a:pathLst>
                <a:path h="859157" w="2121729">
                  <a:moveTo>
                    <a:pt x="49012" y="0"/>
                  </a:moveTo>
                  <a:lnTo>
                    <a:pt x="2072717" y="0"/>
                  </a:lnTo>
                  <a:cubicBezTo>
                    <a:pt x="2085716" y="0"/>
                    <a:pt x="2098182" y="5164"/>
                    <a:pt x="2107374" y="14355"/>
                  </a:cubicBezTo>
                  <a:cubicBezTo>
                    <a:pt x="2116565" y="23547"/>
                    <a:pt x="2121729" y="36013"/>
                    <a:pt x="2121729" y="49012"/>
                  </a:cubicBezTo>
                  <a:lnTo>
                    <a:pt x="2121729" y="810145"/>
                  </a:lnTo>
                  <a:cubicBezTo>
                    <a:pt x="2121729" y="837214"/>
                    <a:pt x="2099786" y="859157"/>
                    <a:pt x="2072717" y="859157"/>
                  </a:cubicBezTo>
                  <a:lnTo>
                    <a:pt x="49012" y="859157"/>
                  </a:lnTo>
                  <a:cubicBezTo>
                    <a:pt x="36013" y="859157"/>
                    <a:pt x="23547" y="853993"/>
                    <a:pt x="14355" y="844802"/>
                  </a:cubicBezTo>
                  <a:cubicBezTo>
                    <a:pt x="5164" y="835610"/>
                    <a:pt x="0" y="823144"/>
                    <a:pt x="0" y="810145"/>
                  </a:cubicBezTo>
                  <a:lnTo>
                    <a:pt x="0" y="49012"/>
                  </a:lnTo>
                  <a:cubicBezTo>
                    <a:pt x="0" y="36013"/>
                    <a:pt x="5164" y="23547"/>
                    <a:pt x="14355" y="14355"/>
                  </a:cubicBezTo>
                  <a:cubicBezTo>
                    <a:pt x="23547" y="5164"/>
                    <a:pt x="36013" y="0"/>
                    <a:pt x="49012" y="0"/>
                  </a:cubicBezTo>
                  <a:close/>
                </a:path>
              </a:pathLst>
            </a:custGeom>
            <a:solidFill>
              <a:srgbClr val="FFFFFF"/>
            </a:solidFill>
          </p:spPr>
        </p:sp>
        <p:sp>
          <p:nvSpPr>
            <p:cNvPr name="TextBox 14" id="14"/>
            <p:cNvSpPr txBox="true"/>
            <p:nvPr/>
          </p:nvSpPr>
          <p:spPr>
            <a:xfrm>
              <a:off x="0" y="-38100"/>
              <a:ext cx="2121729" cy="897257"/>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028700" y="3903428"/>
            <a:ext cx="10468770" cy="2380476"/>
          </a:xfrm>
          <a:prstGeom prst="rect">
            <a:avLst/>
          </a:prstGeom>
        </p:spPr>
        <p:txBody>
          <a:bodyPr anchor="t" rtlCol="false" tIns="0" lIns="0" bIns="0" rIns="0">
            <a:spAutoFit/>
          </a:bodyPr>
          <a:lstStyle/>
          <a:p>
            <a:pPr algn="l">
              <a:lnSpc>
                <a:spcPts val="4767"/>
              </a:lnSpc>
              <a:spcBef>
                <a:spcPct val="0"/>
              </a:spcBef>
            </a:pPr>
            <a:r>
              <a:rPr lang="en-US" sz="3405" spc="425">
                <a:solidFill>
                  <a:srgbClr val="000000"/>
                </a:solidFill>
                <a:latin typeface="Faustina"/>
                <a:ea typeface="Faustina"/>
                <a:cs typeface="Faustina"/>
                <a:sym typeface="Faustina"/>
              </a:rPr>
              <a:t>Q</a:t>
            </a:r>
            <a:r>
              <a:rPr lang="en-US" sz="3405" spc="425">
                <a:solidFill>
                  <a:srgbClr val="000000"/>
                </a:solidFill>
                <a:latin typeface="Faustina"/>
                <a:ea typeface="Faustina"/>
                <a:cs typeface="Faustina"/>
                <a:sym typeface="Faustina"/>
              </a:rPr>
              <a:t>uy tắc dự đoán:</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p</a:t>
            </a:r>
            <a:r>
              <a:rPr lang="en-US" sz="3405" spc="425">
                <a:solidFill>
                  <a:srgbClr val="000000"/>
                </a:solidFill>
                <a:latin typeface="Faustina"/>
                <a:ea typeface="Faustina"/>
                <a:cs typeface="Faustina"/>
                <a:sym typeface="Faustina"/>
              </a:rPr>
              <a:t> ≥ 0.5 → dự đoán lớp 1</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p</a:t>
            </a:r>
            <a:r>
              <a:rPr lang="en-US" sz="3405" spc="425">
                <a:solidFill>
                  <a:srgbClr val="000000"/>
                </a:solidFill>
                <a:latin typeface="Faustina"/>
                <a:ea typeface="Faustina"/>
                <a:cs typeface="Faustina"/>
                <a:sym typeface="Faustina"/>
              </a:rPr>
              <a:t> &lt; 0.5 →</a:t>
            </a:r>
            <a:r>
              <a:rPr lang="en-US" sz="3405" spc="425">
                <a:solidFill>
                  <a:srgbClr val="000000"/>
                </a:solidFill>
                <a:latin typeface="Faustina"/>
                <a:ea typeface="Faustina"/>
                <a:cs typeface="Faustina"/>
                <a:sym typeface="Faustina"/>
              </a:rPr>
              <a:t> </a:t>
            </a:r>
            <a:r>
              <a:rPr lang="en-US" sz="3405" spc="425">
                <a:solidFill>
                  <a:srgbClr val="000000"/>
                </a:solidFill>
                <a:latin typeface="Faustina"/>
                <a:ea typeface="Faustina"/>
                <a:cs typeface="Faustina"/>
                <a:sym typeface="Faustina"/>
              </a:rPr>
              <a:t>dự đoá</a:t>
            </a:r>
            <a:r>
              <a:rPr lang="en-US" sz="3405" spc="425">
                <a:solidFill>
                  <a:srgbClr val="000000"/>
                </a:solidFill>
                <a:latin typeface="Faustina"/>
                <a:ea typeface="Faustina"/>
                <a:cs typeface="Faustina"/>
                <a:sym typeface="Faustina"/>
              </a:rPr>
              <a:t>n</a:t>
            </a:r>
            <a:r>
              <a:rPr lang="en-US" sz="3405" spc="425">
                <a:solidFill>
                  <a:srgbClr val="000000"/>
                </a:solidFill>
                <a:latin typeface="Faustina"/>
                <a:ea typeface="Faustina"/>
                <a:cs typeface="Faustina"/>
                <a:sym typeface="Faustina"/>
              </a:rPr>
              <a:t> lớp 0</a:t>
            </a:r>
          </a:p>
          <a:p>
            <a:pPr algn="l">
              <a:lnSpc>
                <a:spcPts val="4767"/>
              </a:lnSpc>
              <a:spcBef>
                <a:spcPct val="0"/>
              </a:spcBef>
            </a:pPr>
          </a:p>
        </p:txBody>
      </p:sp>
      <p:sp>
        <p:nvSpPr>
          <p:cNvPr name="TextBox 16" id="16"/>
          <p:cNvSpPr txBox="true"/>
          <p:nvPr/>
        </p:nvSpPr>
        <p:spPr>
          <a:xfrm rot="0">
            <a:off x="320249" y="2338125"/>
            <a:ext cx="17967751" cy="646431"/>
          </a:xfrm>
          <a:prstGeom prst="rect">
            <a:avLst/>
          </a:prstGeom>
        </p:spPr>
        <p:txBody>
          <a:bodyPr anchor="t" rtlCol="false" tIns="0" lIns="0" bIns="0" rIns="0">
            <a:spAutoFit/>
          </a:bodyPr>
          <a:lstStyle/>
          <a:p>
            <a:pPr algn="l">
              <a:lnSpc>
                <a:spcPts val="5319"/>
              </a:lnSpc>
              <a:spcBef>
                <a:spcPct val="0"/>
              </a:spcBef>
            </a:pPr>
            <a:r>
              <a:rPr lang="en-US" sz="3799" spc="474">
                <a:solidFill>
                  <a:srgbClr val="FFFFFF"/>
                </a:solidFill>
                <a:latin typeface="Faustina"/>
                <a:ea typeface="Faustina"/>
                <a:cs typeface="Faustina"/>
                <a:sym typeface="Faustina"/>
              </a:rPr>
              <a:t>Sau huấn luyện, mô hình được đánh giá trên dữ liệu chưa từng thấy.</a:t>
            </a:r>
          </a:p>
        </p:txBody>
      </p:sp>
      <p:grpSp>
        <p:nvGrpSpPr>
          <p:cNvPr name="Group 17" id="17"/>
          <p:cNvGrpSpPr/>
          <p:nvPr/>
        </p:nvGrpSpPr>
        <p:grpSpPr>
          <a:xfrm rot="0">
            <a:off x="8732913" y="5143500"/>
            <a:ext cx="8384642" cy="4260590"/>
            <a:chOff x="0" y="0"/>
            <a:chExt cx="2208301" cy="1122131"/>
          </a:xfrm>
        </p:grpSpPr>
        <p:sp>
          <p:nvSpPr>
            <p:cNvPr name="Freeform 18" id="18"/>
            <p:cNvSpPr/>
            <p:nvPr/>
          </p:nvSpPr>
          <p:spPr>
            <a:xfrm flipH="false" flipV="false" rot="0">
              <a:off x="0" y="0"/>
              <a:ext cx="2208301" cy="1122131"/>
            </a:xfrm>
            <a:custGeom>
              <a:avLst/>
              <a:gdLst/>
              <a:ahLst/>
              <a:cxnLst/>
              <a:rect r="r" b="b" t="t" l="l"/>
              <a:pathLst>
                <a:path h="1122131" w="2208301">
                  <a:moveTo>
                    <a:pt x="47091" y="0"/>
                  </a:moveTo>
                  <a:lnTo>
                    <a:pt x="2161210" y="0"/>
                  </a:lnTo>
                  <a:cubicBezTo>
                    <a:pt x="2173699" y="0"/>
                    <a:pt x="2185677" y="4961"/>
                    <a:pt x="2194508" y="13793"/>
                  </a:cubicBezTo>
                  <a:cubicBezTo>
                    <a:pt x="2203340" y="22624"/>
                    <a:pt x="2208301" y="34601"/>
                    <a:pt x="2208301" y="47091"/>
                  </a:cubicBezTo>
                  <a:lnTo>
                    <a:pt x="2208301" y="1075040"/>
                  </a:lnTo>
                  <a:cubicBezTo>
                    <a:pt x="2208301" y="1101047"/>
                    <a:pt x="2187218" y="1122131"/>
                    <a:pt x="2161210" y="1122131"/>
                  </a:cubicBezTo>
                  <a:lnTo>
                    <a:pt x="47091" y="1122131"/>
                  </a:lnTo>
                  <a:cubicBezTo>
                    <a:pt x="21083" y="1122131"/>
                    <a:pt x="0" y="1101047"/>
                    <a:pt x="0" y="1075040"/>
                  </a:cubicBezTo>
                  <a:lnTo>
                    <a:pt x="0" y="47091"/>
                  </a:lnTo>
                  <a:cubicBezTo>
                    <a:pt x="0" y="34601"/>
                    <a:pt x="4961" y="22624"/>
                    <a:pt x="13793" y="13793"/>
                  </a:cubicBezTo>
                  <a:cubicBezTo>
                    <a:pt x="22624" y="4961"/>
                    <a:pt x="34601" y="0"/>
                    <a:pt x="47091" y="0"/>
                  </a:cubicBezTo>
                  <a:close/>
                </a:path>
              </a:pathLst>
            </a:custGeom>
            <a:solidFill>
              <a:srgbClr val="FFFFFF"/>
            </a:solidFill>
          </p:spPr>
        </p:sp>
        <p:sp>
          <p:nvSpPr>
            <p:cNvPr name="TextBox 19" id="19"/>
            <p:cNvSpPr txBox="true"/>
            <p:nvPr/>
          </p:nvSpPr>
          <p:spPr>
            <a:xfrm>
              <a:off x="0" y="-38100"/>
              <a:ext cx="2208301" cy="1160231"/>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9304124" y="5556205"/>
            <a:ext cx="7586178" cy="3702095"/>
          </a:xfrm>
          <a:prstGeom prst="rect">
            <a:avLst/>
          </a:prstGeom>
        </p:spPr>
        <p:txBody>
          <a:bodyPr anchor="t" rtlCol="false" tIns="0" lIns="0" bIns="0" rIns="0">
            <a:spAutoFit/>
          </a:bodyPr>
          <a:lstStyle/>
          <a:p>
            <a:pPr algn="l">
              <a:lnSpc>
                <a:spcPts val="4224"/>
              </a:lnSpc>
              <a:spcBef>
                <a:spcPct val="0"/>
              </a:spcBef>
            </a:pPr>
            <a:r>
              <a:rPr lang="en-US" sz="3017" spc="377">
                <a:solidFill>
                  <a:srgbClr val="000000"/>
                </a:solidFill>
                <a:latin typeface="Faustina"/>
                <a:ea typeface="Faustina"/>
                <a:cs typeface="Faustina"/>
                <a:sym typeface="Faustina"/>
              </a:rPr>
              <a:t>Độ chính xác (acc</a:t>
            </a:r>
            <a:r>
              <a:rPr lang="en-US" sz="3017" spc="377">
                <a:solidFill>
                  <a:srgbClr val="000000"/>
                </a:solidFill>
                <a:latin typeface="Faustina"/>
                <a:ea typeface="Faustina"/>
                <a:cs typeface="Faustina"/>
                <a:sym typeface="Faustina"/>
              </a:rPr>
              <a:t>uracy) đạt mức cao, cho thấy:</a:t>
            </a:r>
          </a:p>
          <a:p>
            <a:pPr algn="l" marL="651411" indent="-325705" lvl="1">
              <a:lnSpc>
                <a:spcPts val="4224"/>
              </a:lnSpc>
              <a:spcBef>
                <a:spcPct val="0"/>
              </a:spcBef>
              <a:buFont typeface="Arial"/>
              <a:buChar char="•"/>
            </a:pPr>
            <a:r>
              <a:rPr lang="en-US" sz="3017" spc="377">
                <a:solidFill>
                  <a:srgbClr val="000000"/>
                </a:solidFill>
                <a:latin typeface="Faustina"/>
                <a:ea typeface="Faustina"/>
                <a:cs typeface="Faustina"/>
                <a:sym typeface="Faustina"/>
              </a:rPr>
              <a:t>Logistic regression đủ mạnh cho bài toán này</a:t>
            </a:r>
          </a:p>
          <a:p>
            <a:pPr algn="l" marL="651411" indent="-325705" lvl="1">
              <a:lnSpc>
                <a:spcPts val="4224"/>
              </a:lnSpc>
              <a:spcBef>
                <a:spcPct val="0"/>
              </a:spcBef>
              <a:buFont typeface="Arial"/>
              <a:buChar char="•"/>
            </a:pPr>
            <a:r>
              <a:rPr lang="en-US" sz="3017" spc="377">
                <a:solidFill>
                  <a:srgbClr val="000000"/>
                </a:solidFill>
                <a:latin typeface="Faustina"/>
                <a:ea typeface="Faustina"/>
                <a:cs typeface="Faustina"/>
                <a:sym typeface="Faustina"/>
              </a:rPr>
              <a:t>Việc</a:t>
            </a:r>
            <a:r>
              <a:rPr lang="en-US" sz="3017" spc="377">
                <a:solidFill>
                  <a:srgbClr val="000000"/>
                </a:solidFill>
                <a:latin typeface="Faustina"/>
                <a:ea typeface="Faustina"/>
                <a:cs typeface="Faustina"/>
                <a:sym typeface="Faustina"/>
              </a:rPr>
              <a:t> triển khai thủ</a:t>
            </a:r>
            <a:r>
              <a:rPr lang="en-US" sz="3017" spc="377">
                <a:solidFill>
                  <a:srgbClr val="000000"/>
                </a:solidFill>
                <a:latin typeface="Faustina"/>
                <a:ea typeface="Faustina"/>
                <a:cs typeface="Faustina"/>
                <a:sym typeface="Faustina"/>
              </a:rPr>
              <a:t> công</a:t>
            </a:r>
            <a:r>
              <a:rPr lang="en-US" sz="3017" spc="377">
                <a:solidFill>
                  <a:srgbClr val="000000"/>
                </a:solidFill>
                <a:latin typeface="Faustina"/>
                <a:ea typeface="Faustina"/>
                <a:cs typeface="Faustina"/>
                <a:sym typeface="Faustina"/>
              </a:rPr>
              <a:t> khô</a:t>
            </a:r>
            <a:r>
              <a:rPr lang="en-US" sz="3017" spc="377">
                <a:solidFill>
                  <a:srgbClr val="000000"/>
                </a:solidFill>
                <a:latin typeface="Faustina"/>
                <a:ea typeface="Faustina"/>
                <a:cs typeface="Faustina"/>
                <a:sym typeface="Faustina"/>
              </a:rPr>
              <a:t>ng</a:t>
            </a:r>
            <a:r>
              <a:rPr lang="en-US" sz="3017" spc="377">
                <a:solidFill>
                  <a:srgbClr val="000000"/>
                </a:solidFill>
                <a:latin typeface="Faustina"/>
                <a:ea typeface="Faustina"/>
                <a:cs typeface="Faustina"/>
                <a:sym typeface="Faustina"/>
              </a:rPr>
              <a:t> làm giảm chất lượng mô hình</a:t>
            </a:r>
          </a:p>
          <a:p>
            <a:pPr algn="l">
              <a:lnSpc>
                <a:spcPts val="4224"/>
              </a:lnSpc>
              <a:spcBef>
                <a:spcPct val="0"/>
              </a:spcBef>
            </a:pP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6557428" y="5548541"/>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268832" y="727075"/>
            <a:ext cx="13803954" cy="3243028"/>
          </a:xfrm>
          <a:prstGeom prst="rect">
            <a:avLst/>
          </a:prstGeom>
        </p:spPr>
        <p:txBody>
          <a:bodyPr anchor="t" rtlCol="false" tIns="0" lIns="0" bIns="0" rIns="0">
            <a:spAutoFit/>
          </a:bodyPr>
          <a:lstStyle/>
          <a:p>
            <a:pPr algn="l">
              <a:lnSpc>
                <a:spcPts val="8382"/>
              </a:lnSpc>
            </a:pPr>
            <a:r>
              <a:rPr lang="en-US" b="true" sz="8731" spc="-445">
                <a:solidFill>
                  <a:srgbClr val="FFFFFF"/>
                </a:solidFill>
                <a:latin typeface="Noto Sans Bold"/>
                <a:ea typeface="Noto Sans Bold"/>
                <a:cs typeface="Noto Sans Bold"/>
                <a:sym typeface="Noto Sans Bold"/>
              </a:rPr>
              <a:t>So sánh Dự đoán và Grou</a:t>
            </a:r>
            <a:r>
              <a:rPr lang="en-US" b="true" sz="8731" spc="-445" strike="noStrike" u="none">
                <a:solidFill>
                  <a:srgbClr val="FFFFFF"/>
                </a:solidFill>
                <a:latin typeface="Noto Sans Bold"/>
                <a:ea typeface="Noto Sans Bold"/>
                <a:cs typeface="Noto Sans Bold"/>
                <a:sym typeface="Noto Sans Bold"/>
              </a:rPr>
              <a:t>nd Trut</a:t>
            </a:r>
            <a:r>
              <a:rPr lang="en-US" b="true" sz="8731" spc="-445" strike="noStrike" u="none">
                <a:solidFill>
                  <a:srgbClr val="FFFFFF"/>
                </a:solidFill>
                <a:latin typeface="Noto Sans Bold"/>
                <a:ea typeface="Noto Sans Bold"/>
                <a:cs typeface="Noto Sans Bold"/>
                <a:sym typeface="Noto Sans Bold"/>
              </a:rPr>
              <a:t>h</a:t>
            </a:r>
          </a:p>
          <a:p>
            <a:pPr algn="ctr">
              <a:lnSpc>
                <a:spcPts val="8382"/>
              </a:lnSpc>
            </a:pPr>
          </a:p>
        </p:txBody>
      </p:sp>
      <p:grpSp>
        <p:nvGrpSpPr>
          <p:cNvPr name="Group 12" id="12"/>
          <p:cNvGrpSpPr/>
          <p:nvPr/>
        </p:nvGrpSpPr>
        <p:grpSpPr>
          <a:xfrm rot="0">
            <a:off x="9689314" y="2628027"/>
            <a:ext cx="8055940" cy="3262111"/>
            <a:chOff x="0" y="0"/>
            <a:chExt cx="2121729" cy="859157"/>
          </a:xfrm>
        </p:grpSpPr>
        <p:sp>
          <p:nvSpPr>
            <p:cNvPr name="Freeform 13" id="13"/>
            <p:cNvSpPr/>
            <p:nvPr/>
          </p:nvSpPr>
          <p:spPr>
            <a:xfrm flipH="false" flipV="false" rot="0">
              <a:off x="0" y="0"/>
              <a:ext cx="2121729" cy="859157"/>
            </a:xfrm>
            <a:custGeom>
              <a:avLst/>
              <a:gdLst/>
              <a:ahLst/>
              <a:cxnLst/>
              <a:rect r="r" b="b" t="t" l="l"/>
              <a:pathLst>
                <a:path h="859157" w="2121729">
                  <a:moveTo>
                    <a:pt x="49012" y="0"/>
                  </a:moveTo>
                  <a:lnTo>
                    <a:pt x="2072717" y="0"/>
                  </a:lnTo>
                  <a:cubicBezTo>
                    <a:pt x="2085716" y="0"/>
                    <a:pt x="2098182" y="5164"/>
                    <a:pt x="2107374" y="14355"/>
                  </a:cubicBezTo>
                  <a:cubicBezTo>
                    <a:pt x="2116565" y="23547"/>
                    <a:pt x="2121729" y="36013"/>
                    <a:pt x="2121729" y="49012"/>
                  </a:cubicBezTo>
                  <a:lnTo>
                    <a:pt x="2121729" y="810145"/>
                  </a:lnTo>
                  <a:cubicBezTo>
                    <a:pt x="2121729" y="837214"/>
                    <a:pt x="2099786" y="859157"/>
                    <a:pt x="2072717" y="859157"/>
                  </a:cubicBezTo>
                  <a:lnTo>
                    <a:pt x="49012" y="859157"/>
                  </a:lnTo>
                  <a:cubicBezTo>
                    <a:pt x="36013" y="859157"/>
                    <a:pt x="23547" y="853993"/>
                    <a:pt x="14355" y="844802"/>
                  </a:cubicBezTo>
                  <a:cubicBezTo>
                    <a:pt x="5164" y="835610"/>
                    <a:pt x="0" y="823144"/>
                    <a:pt x="0" y="810145"/>
                  </a:cubicBezTo>
                  <a:lnTo>
                    <a:pt x="0" y="49012"/>
                  </a:lnTo>
                  <a:cubicBezTo>
                    <a:pt x="0" y="36013"/>
                    <a:pt x="5164" y="23547"/>
                    <a:pt x="14355" y="14355"/>
                  </a:cubicBezTo>
                  <a:cubicBezTo>
                    <a:pt x="23547" y="5164"/>
                    <a:pt x="36013" y="0"/>
                    <a:pt x="49012" y="0"/>
                  </a:cubicBezTo>
                  <a:close/>
                </a:path>
              </a:pathLst>
            </a:custGeom>
            <a:solidFill>
              <a:srgbClr val="FFFFFF"/>
            </a:solidFill>
          </p:spPr>
        </p:sp>
        <p:sp>
          <p:nvSpPr>
            <p:cNvPr name="TextBox 14" id="14"/>
            <p:cNvSpPr txBox="true"/>
            <p:nvPr/>
          </p:nvSpPr>
          <p:spPr>
            <a:xfrm>
              <a:off x="0" y="-38100"/>
              <a:ext cx="2121729" cy="897257"/>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0319960" y="2561352"/>
            <a:ext cx="7505651" cy="3580626"/>
          </a:xfrm>
          <a:prstGeom prst="rect">
            <a:avLst/>
          </a:prstGeom>
        </p:spPr>
        <p:txBody>
          <a:bodyPr anchor="t" rtlCol="false" tIns="0" lIns="0" bIns="0" rIns="0">
            <a:spAutoFit/>
          </a:bodyPr>
          <a:lstStyle/>
          <a:p>
            <a:pPr algn="l">
              <a:lnSpc>
                <a:spcPts val="4767"/>
              </a:lnSpc>
              <a:spcBef>
                <a:spcPct val="0"/>
              </a:spcBef>
            </a:pPr>
            <a:r>
              <a:rPr lang="en-US" sz="3405" spc="425">
                <a:solidFill>
                  <a:srgbClr val="000000"/>
                </a:solidFill>
                <a:latin typeface="Faustina"/>
                <a:ea typeface="Faustina"/>
                <a:cs typeface="Faustina"/>
                <a:sym typeface="Faustina"/>
              </a:rPr>
              <a:t>Ngoài acc</a:t>
            </a:r>
            <a:r>
              <a:rPr lang="en-US" sz="3405" spc="425">
                <a:solidFill>
                  <a:srgbClr val="000000"/>
                </a:solidFill>
                <a:latin typeface="Faustina"/>
                <a:ea typeface="Faustina"/>
                <a:cs typeface="Faustina"/>
                <a:sym typeface="Faustina"/>
              </a:rPr>
              <a:t>uracy, tôi kiểm tra trực tiếp:</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Xác suất dự đoán</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Nhãn</a:t>
            </a:r>
            <a:r>
              <a:rPr lang="en-US" sz="3405" spc="425">
                <a:solidFill>
                  <a:srgbClr val="000000"/>
                </a:solidFill>
                <a:latin typeface="Faustina"/>
                <a:ea typeface="Faustina"/>
                <a:cs typeface="Faustina"/>
                <a:sym typeface="Faustina"/>
              </a:rPr>
              <a:t> </a:t>
            </a:r>
            <a:r>
              <a:rPr lang="en-US" sz="3405" spc="425">
                <a:solidFill>
                  <a:srgbClr val="000000"/>
                </a:solidFill>
                <a:latin typeface="Faustina"/>
                <a:ea typeface="Faustina"/>
                <a:cs typeface="Faustina"/>
                <a:sym typeface="Faustina"/>
              </a:rPr>
              <a:t>dự đoá</a:t>
            </a:r>
            <a:r>
              <a:rPr lang="en-US" sz="3405" spc="425">
                <a:solidFill>
                  <a:srgbClr val="000000"/>
                </a:solidFill>
                <a:latin typeface="Faustina"/>
                <a:ea typeface="Faustina"/>
                <a:cs typeface="Faustina"/>
                <a:sym typeface="Faustina"/>
              </a:rPr>
              <a:t>n</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Nhãn</a:t>
            </a:r>
            <a:r>
              <a:rPr lang="en-US" sz="3405" spc="425">
                <a:solidFill>
                  <a:srgbClr val="000000"/>
                </a:solidFill>
                <a:latin typeface="Faustina"/>
                <a:ea typeface="Faustina"/>
                <a:cs typeface="Faustina"/>
                <a:sym typeface="Faustina"/>
              </a:rPr>
              <a:t> thực tế</a:t>
            </a:r>
          </a:p>
          <a:p>
            <a:pPr algn="l">
              <a:lnSpc>
                <a:spcPts val="4767"/>
              </a:lnSpc>
              <a:spcBef>
                <a:spcPct val="0"/>
              </a:spcBef>
            </a:pPr>
          </a:p>
        </p:txBody>
      </p:sp>
      <p:grpSp>
        <p:nvGrpSpPr>
          <p:cNvPr name="Group 16" id="16"/>
          <p:cNvGrpSpPr/>
          <p:nvPr/>
        </p:nvGrpSpPr>
        <p:grpSpPr>
          <a:xfrm rot="0">
            <a:off x="759358" y="5143500"/>
            <a:ext cx="8384642" cy="4260590"/>
            <a:chOff x="0" y="0"/>
            <a:chExt cx="2208301" cy="1122131"/>
          </a:xfrm>
        </p:grpSpPr>
        <p:sp>
          <p:nvSpPr>
            <p:cNvPr name="Freeform 17" id="17"/>
            <p:cNvSpPr/>
            <p:nvPr/>
          </p:nvSpPr>
          <p:spPr>
            <a:xfrm flipH="false" flipV="false" rot="0">
              <a:off x="0" y="0"/>
              <a:ext cx="2208301" cy="1122131"/>
            </a:xfrm>
            <a:custGeom>
              <a:avLst/>
              <a:gdLst/>
              <a:ahLst/>
              <a:cxnLst/>
              <a:rect r="r" b="b" t="t" l="l"/>
              <a:pathLst>
                <a:path h="1122131" w="2208301">
                  <a:moveTo>
                    <a:pt x="47091" y="0"/>
                  </a:moveTo>
                  <a:lnTo>
                    <a:pt x="2161210" y="0"/>
                  </a:lnTo>
                  <a:cubicBezTo>
                    <a:pt x="2173699" y="0"/>
                    <a:pt x="2185677" y="4961"/>
                    <a:pt x="2194508" y="13793"/>
                  </a:cubicBezTo>
                  <a:cubicBezTo>
                    <a:pt x="2203340" y="22624"/>
                    <a:pt x="2208301" y="34601"/>
                    <a:pt x="2208301" y="47091"/>
                  </a:cubicBezTo>
                  <a:lnTo>
                    <a:pt x="2208301" y="1075040"/>
                  </a:lnTo>
                  <a:cubicBezTo>
                    <a:pt x="2208301" y="1101047"/>
                    <a:pt x="2187218" y="1122131"/>
                    <a:pt x="2161210" y="1122131"/>
                  </a:cubicBezTo>
                  <a:lnTo>
                    <a:pt x="47091" y="1122131"/>
                  </a:lnTo>
                  <a:cubicBezTo>
                    <a:pt x="21083" y="1122131"/>
                    <a:pt x="0" y="1101047"/>
                    <a:pt x="0" y="1075040"/>
                  </a:cubicBezTo>
                  <a:lnTo>
                    <a:pt x="0" y="47091"/>
                  </a:lnTo>
                  <a:cubicBezTo>
                    <a:pt x="0" y="34601"/>
                    <a:pt x="4961" y="22624"/>
                    <a:pt x="13793" y="13793"/>
                  </a:cubicBezTo>
                  <a:cubicBezTo>
                    <a:pt x="22624" y="4961"/>
                    <a:pt x="34601" y="0"/>
                    <a:pt x="47091" y="0"/>
                  </a:cubicBezTo>
                  <a:close/>
                </a:path>
              </a:pathLst>
            </a:custGeom>
            <a:solidFill>
              <a:srgbClr val="FFFFFF"/>
            </a:solidFill>
          </p:spPr>
        </p:sp>
        <p:sp>
          <p:nvSpPr>
            <p:cNvPr name="TextBox 18" id="18"/>
            <p:cNvSpPr txBox="true"/>
            <p:nvPr/>
          </p:nvSpPr>
          <p:spPr>
            <a:xfrm>
              <a:off x="0" y="-38100"/>
              <a:ext cx="2208301" cy="1160231"/>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028700" y="5279867"/>
            <a:ext cx="7238838" cy="3978433"/>
          </a:xfrm>
          <a:prstGeom prst="rect">
            <a:avLst/>
          </a:prstGeom>
        </p:spPr>
        <p:txBody>
          <a:bodyPr anchor="t" rtlCol="false" tIns="0" lIns="0" bIns="0" rIns="0">
            <a:spAutoFit/>
          </a:bodyPr>
          <a:lstStyle/>
          <a:p>
            <a:pPr algn="l">
              <a:lnSpc>
                <a:spcPts val="4544"/>
              </a:lnSpc>
              <a:spcBef>
                <a:spcPct val="0"/>
              </a:spcBef>
            </a:pPr>
            <a:r>
              <a:rPr lang="en-US" sz="3245" spc="405">
                <a:solidFill>
                  <a:srgbClr val="000000"/>
                </a:solidFill>
                <a:latin typeface="Faustina"/>
                <a:ea typeface="Faustina"/>
                <a:cs typeface="Faustina"/>
                <a:sym typeface="Faustina"/>
              </a:rPr>
              <a:t>Việc nà</a:t>
            </a:r>
            <a:r>
              <a:rPr lang="en-US" sz="3245" spc="405">
                <a:solidFill>
                  <a:srgbClr val="000000"/>
                </a:solidFill>
                <a:latin typeface="Faustina"/>
                <a:ea typeface="Faustina"/>
                <a:cs typeface="Faustina"/>
                <a:sym typeface="Faustina"/>
              </a:rPr>
              <a:t>y giúp:</a:t>
            </a:r>
          </a:p>
          <a:p>
            <a:pPr algn="l" marL="700797" indent="-350398" lvl="1">
              <a:lnSpc>
                <a:spcPts val="4544"/>
              </a:lnSpc>
              <a:spcBef>
                <a:spcPct val="0"/>
              </a:spcBef>
              <a:buFont typeface="Arial"/>
              <a:buChar char="•"/>
            </a:pPr>
            <a:r>
              <a:rPr lang="en-US" sz="3245" spc="405">
                <a:solidFill>
                  <a:srgbClr val="000000"/>
                </a:solidFill>
                <a:latin typeface="Faustina"/>
                <a:ea typeface="Faustina"/>
                <a:cs typeface="Faustina"/>
                <a:sym typeface="Faustina"/>
              </a:rPr>
              <a:t>Hiểu hành vi mô hình</a:t>
            </a:r>
          </a:p>
          <a:p>
            <a:pPr algn="l" marL="700797" indent="-350398" lvl="1">
              <a:lnSpc>
                <a:spcPts val="4544"/>
              </a:lnSpc>
              <a:spcBef>
                <a:spcPct val="0"/>
              </a:spcBef>
              <a:buFont typeface="Arial"/>
              <a:buChar char="•"/>
            </a:pPr>
            <a:r>
              <a:rPr lang="en-US" sz="3245" spc="405">
                <a:solidFill>
                  <a:srgbClr val="000000"/>
                </a:solidFill>
                <a:latin typeface="Faustina"/>
                <a:ea typeface="Faustina"/>
                <a:cs typeface="Faustina"/>
                <a:sym typeface="Faustina"/>
              </a:rPr>
              <a:t>Phát h</a:t>
            </a:r>
            <a:r>
              <a:rPr lang="en-US" sz="3245" spc="405">
                <a:solidFill>
                  <a:srgbClr val="000000"/>
                </a:solidFill>
                <a:latin typeface="Faustina"/>
                <a:ea typeface="Faustina"/>
                <a:cs typeface="Faustina"/>
                <a:sym typeface="Faustina"/>
              </a:rPr>
              <a:t>iện các</a:t>
            </a:r>
            <a:r>
              <a:rPr lang="en-US" sz="3245" spc="405">
                <a:solidFill>
                  <a:srgbClr val="000000"/>
                </a:solidFill>
                <a:latin typeface="Faustina"/>
                <a:ea typeface="Faustina"/>
                <a:cs typeface="Faustina"/>
                <a:sym typeface="Faustina"/>
              </a:rPr>
              <a:t> trường hợp dự</a:t>
            </a:r>
            <a:r>
              <a:rPr lang="en-US" sz="3245" spc="405">
                <a:solidFill>
                  <a:srgbClr val="000000"/>
                </a:solidFill>
                <a:latin typeface="Faustina"/>
                <a:ea typeface="Faustina"/>
                <a:cs typeface="Faustina"/>
                <a:sym typeface="Faustina"/>
              </a:rPr>
              <a:t> đoán “lưng</a:t>
            </a:r>
            <a:r>
              <a:rPr lang="en-US" sz="3245" spc="405">
                <a:solidFill>
                  <a:srgbClr val="000000"/>
                </a:solidFill>
                <a:latin typeface="Faustina"/>
                <a:ea typeface="Faustina"/>
                <a:cs typeface="Faustina"/>
                <a:sym typeface="Faustina"/>
              </a:rPr>
              <a:t> chừ</a:t>
            </a:r>
            <a:r>
              <a:rPr lang="en-US" sz="3245" spc="405">
                <a:solidFill>
                  <a:srgbClr val="000000"/>
                </a:solidFill>
                <a:latin typeface="Faustina"/>
                <a:ea typeface="Faustina"/>
                <a:cs typeface="Faustina"/>
                <a:sym typeface="Faustina"/>
              </a:rPr>
              <a:t>ng”</a:t>
            </a:r>
          </a:p>
          <a:p>
            <a:pPr algn="l" marL="700797" indent="-350398" lvl="1">
              <a:lnSpc>
                <a:spcPts val="4544"/>
              </a:lnSpc>
              <a:spcBef>
                <a:spcPct val="0"/>
              </a:spcBef>
              <a:buFont typeface="Arial"/>
              <a:buChar char="•"/>
            </a:pPr>
            <a:r>
              <a:rPr lang="en-US" sz="3245" spc="405">
                <a:solidFill>
                  <a:srgbClr val="000000"/>
                </a:solidFill>
                <a:latin typeface="Faustina"/>
                <a:ea typeface="Faustina"/>
                <a:cs typeface="Faustina"/>
                <a:sym typeface="Faustina"/>
              </a:rPr>
              <a:t>Tránh</a:t>
            </a:r>
            <a:r>
              <a:rPr lang="en-US" sz="3245" spc="405">
                <a:solidFill>
                  <a:srgbClr val="000000"/>
                </a:solidFill>
                <a:latin typeface="Faustina"/>
                <a:ea typeface="Faustina"/>
                <a:cs typeface="Faustina"/>
                <a:sym typeface="Faustina"/>
              </a:rPr>
              <a:t> đánh giá mù quáng chỉ dựa vào một con số</a:t>
            </a:r>
          </a:p>
          <a:p>
            <a:pPr algn="l">
              <a:lnSpc>
                <a:spcPts val="4544"/>
              </a:lnSpc>
              <a:spcBef>
                <a:spcPct val="0"/>
              </a:spcBef>
            </a:pP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6557428" y="5548541"/>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3455346" y="867985"/>
            <a:ext cx="13803954" cy="2184054"/>
          </a:xfrm>
          <a:prstGeom prst="rect">
            <a:avLst/>
          </a:prstGeom>
        </p:spPr>
        <p:txBody>
          <a:bodyPr anchor="t" rtlCol="false" tIns="0" lIns="0" bIns="0" rIns="0">
            <a:spAutoFit/>
          </a:bodyPr>
          <a:lstStyle/>
          <a:p>
            <a:pPr algn="l">
              <a:lnSpc>
                <a:spcPts val="8382"/>
              </a:lnSpc>
            </a:pPr>
            <a:r>
              <a:rPr lang="en-US" b="true" sz="8731" spc="-445">
                <a:solidFill>
                  <a:srgbClr val="FFFFFF"/>
                </a:solidFill>
                <a:latin typeface="Noto Sans Bold"/>
                <a:ea typeface="Noto Sans Bold"/>
                <a:cs typeface="Noto Sans Bold"/>
                <a:sym typeface="Noto Sans Bold"/>
              </a:rPr>
              <a:t>Kết luận &amp; Bài họ</a:t>
            </a:r>
            <a:r>
              <a:rPr lang="en-US" b="true" sz="8731" spc="-445" strike="noStrike" u="none">
                <a:solidFill>
                  <a:srgbClr val="FFFFFF"/>
                </a:solidFill>
                <a:latin typeface="Noto Sans Bold"/>
                <a:ea typeface="Noto Sans Bold"/>
                <a:cs typeface="Noto Sans Bold"/>
                <a:sym typeface="Noto Sans Bold"/>
              </a:rPr>
              <a:t>c rút ra</a:t>
            </a:r>
          </a:p>
          <a:p>
            <a:pPr algn="ctr">
              <a:lnSpc>
                <a:spcPts val="8382"/>
              </a:lnSpc>
            </a:pPr>
          </a:p>
        </p:txBody>
      </p:sp>
      <p:grpSp>
        <p:nvGrpSpPr>
          <p:cNvPr name="Group 12" id="12"/>
          <p:cNvGrpSpPr/>
          <p:nvPr/>
        </p:nvGrpSpPr>
        <p:grpSpPr>
          <a:xfrm rot="0">
            <a:off x="3149681" y="2717889"/>
            <a:ext cx="12857039" cy="6748785"/>
            <a:chOff x="0" y="0"/>
            <a:chExt cx="3386216" cy="1777458"/>
          </a:xfrm>
        </p:grpSpPr>
        <p:sp>
          <p:nvSpPr>
            <p:cNvPr name="Freeform 13" id="13"/>
            <p:cNvSpPr/>
            <p:nvPr/>
          </p:nvSpPr>
          <p:spPr>
            <a:xfrm flipH="false" flipV="false" rot="0">
              <a:off x="0" y="0"/>
              <a:ext cx="3386216" cy="1777458"/>
            </a:xfrm>
            <a:custGeom>
              <a:avLst/>
              <a:gdLst/>
              <a:ahLst/>
              <a:cxnLst/>
              <a:rect r="r" b="b" t="t" l="l"/>
              <a:pathLst>
                <a:path h="1777458" w="3386216">
                  <a:moveTo>
                    <a:pt x="30710" y="0"/>
                  </a:moveTo>
                  <a:lnTo>
                    <a:pt x="3355506" y="0"/>
                  </a:lnTo>
                  <a:cubicBezTo>
                    <a:pt x="3363651" y="0"/>
                    <a:pt x="3371462" y="3235"/>
                    <a:pt x="3377221" y="8995"/>
                  </a:cubicBezTo>
                  <a:cubicBezTo>
                    <a:pt x="3382981" y="14754"/>
                    <a:pt x="3386216" y="22565"/>
                    <a:pt x="3386216" y="30710"/>
                  </a:cubicBezTo>
                  <a:lnTo>
                    <a:pt x="3386216" y="1746748"/>
                  </a:lnTo>
                  <a:cubicBezTo>
                    <a:pt x="3386216" y="1754893"/>
                    <a:pt x="3382981" y="1762704"/>
                    <a:pt x="3377221" y="1768463"/>
                  </a:cubicBezTo>
                  <a:cubicBezTo>
                    <a:pt x="3371462" y="1774223"/>
                    <a:pt x="3363651" y="1777458"/>
                    <a:pt x="3355506" y="1777458"/>
                  </a:cubicBezTo>
                  <a:lnTo>
                    <a:pt x="30710" y="1777458"/>
                  </a:lnTo>
                  <a:cubicBezTo>
                    <a:pt x="22565" y="1777458"/>
                    <a:pt x="14754" y="1774223"/>
                    <a:pt x="8995" y="1768463"/>
                  </a:cubicBezTo>
                  <a:cubicBezTo>
                    <a:pt x="3235" y="1762704"/>
                    <a:pt x="0" y="1754893"/>
                    <a:pt x="0" y="1746748"/>
                  </a:cubicBezTo>
                  <a:lnTo>
                    <a:pt x="0" y="30710"/>
                  </a:lnTo>
                  <a:cubicBezTo>
                    <a:pt x="0" y="22565"/>
                    <a:pt x="3235" y="14754"/>
                    <a:pt x="8995" y="8995"/>
                  </a:cubicBezTo>
                  <a:cubicBezTo>
                    <a:pt x="14754" y="3235"/>
                    <a:pt x="22565" y="0"/>
                    <a:pt x="30710" y="0"/>
                  </a:cubicBezTo>
                  <a:close/>
                </a:path>
              </a:pathLst>
            </a:custGeom>
            <a:solidFill>
              <a:srgbClr val="FFFFFF"/>
            </a:solidFill>
          </p:spPr>
        </p:sp>
        <p:sp>
          <p:nvSpPr>
            <p:cNvPr name="TextBox 14" id="14"/>
            <p:cNvSpPr txBox="true"/>
            <p:nvPr/>
          </p:nvSpPr>
          <p:spPr>
            <a:xfrm>
              <a:off x="0" y="-38100"/>
              <a:ext cx="3386216" cy="1815558"/>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3344669" y="3277374"/>
            <a:ext cx="12290192" cy="5980926"/>
          </a:xfrm>
          <a:prstGeom prst="rect">
            <a:avLst/>
          </a:prstGeom>
        </p:spPr>
        <p:txBody>
          <a:bodyPr anchor="t" rtlCol="false" tIns="0" lIns="0" bIns="0" rIns="0">
            <a:spAutoFit/>
          </a:bodyPr>
          <a:lstStyle/>
          <a:p>
            <a:pPr algn="l">
              <a:lnSpc>
                <a:spcPts val="4767"/>
              </a:lnSpc>
              <a:spcBef>
                <a:spcPct val="0"/>
              </a:spcBef>
            </a:pPr>
            <a:r>
              <a:rPr lang="en-US" sz="3405" spc="425">
                <a:solidFill>
                  <a:srgbClr val="000000"/>
                </a:solidFill>
                <a:latin typeface="Faustina"/>
                <a:ea typeface="Faustina"/>
                <a:cs typeface="Faustina"/>
                <a:sym typeface="Faustina"/>
              </a:rPr>
              <a:t>Từ pr</a:t>
            </a:r>
            <a:r>
              <a:rPr lang="en-US" sz="3405" spc="425">
                <a:solidFill>
                  <a:srgbClr val="000000"/>
                </a:solidFill>
                <a:latin typeface="Faustina"/>
                <a:ea typeface="Faustina"/>
                <a:cs typeface="Faustina"/>
                <a:sym typeface="Faustina"/>
              </a:rPr>
              <a:t>oject này, có</a:t>
            </a:r>
            <a:r>
              <a:rPr lang="en-US" sz="3405" spc="425">
                <a:solidFill>
                  <a:srgbClr val="000000"/>
                </a:solidFill>
                <a:latin typeface="Faustina"/>
                <a:ea typeface="Faustina"/>
                <a:cs typeface="Faustina"/>
                <a:sym typeface="Faustina"/>
              </a:rPr>
              <a:t> thể rút ra các điểm then chốt:</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Loss lu</a:t>
            </a:r>
            <a:r>
              <a:rPr lang="en-US" sz="3405" spc="425">
                <a:solidFill>
                  <a:srgbClr val="000000"/>
                </a:solidFill>
                <a:latin typeface="Faustina"/>
                <a:ea typeface="Faustina"/>
                <a:cs typeface="Faustina"/>
                <a:sym typeface="Faustina"/>
              </a:rPr>
              <a:t>ô</a:t>
            </a:r>
            <a:r>
              <a:rPr lang="en-US" sz="3405" spc="425">
                <a:solidFill>
                  <a:srgbClr val="000000"/>
                </a:solidFill>
                <a:latin typeface="Faustina"/>
                <a:ea typeface="Faustina"/>
                <a:cs typeface="Faustina"/>
                <a:sym typeface="Faustina"/>
              </a:rPr>
              <a:t>n là scalar, tham số là vector</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Gradient đến từ chain rule trong không gian ma trận</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Xᵀ(p − </a:t>
            </a:r>
            <a:r>
              <a:rPr lang="en-US" sz="3405" spc="425">
                <a:solidFill>
                  <a:srgbClr val="000000"/>
                </a:solidFill>
                <a:latin typeface="Faustina"/>
                <a:ea typeface="Faustina"/>
                <a:cs typeface="Faustina"/>
                <a:sym typeface="Faustina"/>
              </a:rPr>
              <a:t>y) là cấu trúc trung tâm</a:t>
            </a:r>
            <a:r>
              <a:rPr lang="en-US" sz="3405" spc="425">
                <a:solidFill>
                  <a:srgbClr val="000000"/>
                </a:solidFill>
                <a:latin typeface="Faustina"/>
                <a:ea typeface="Faustina"/>
                <a:cs typeface="Faustina"/>
                <a:sym typeface="Faustina"/>
              </a:rPr>
              <a:t> của ML</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Logistic</a:t>
            </a:r>
            <a:r>
              <a:rPr lang="en-US" sz="3405" spc="425">
                <a:solidFill>
                  <a:srgbClr val="000000"/>
                </a:solidFill>
                <a:latin typeface="Faustina"/>
                <a:ea typeface="Faustina"/>
                <a:cs typeface="Faustina"/>
                <a:sym typeface="Faustina"/>
              </a:rPr>
              <a:t> regression là ne</a:t>
            </a:r>
            <a:r>
              <a:rPr lang="en-US" sz="3405" spc="425">
                <a:solidFill>
                  <a:srgbClr val="000000"/>
                </a:solidFill>
                <a:latin typeface="Faustina"/>
                <a:ea typeface="Faustina"/>
                <a:cs typeface="Faustina"/>
                <a:sym typeface="Faustina"/>
              </a:rPr>
              <a:t>u</a:t>
            </a:r>
            <a:r>
              <a:rPr lang="en-US" sz="3405" spc="425">
                <a:solidFill>
                  <a:srgbClr val="000000"/>
                </a:solidFill>
                <a:latin typeface="Faustina"/>
                <a:ea typeface="Faustina"/>
                <a:cs typeface="Faustina"/>
                <a:sym typeface="Faustina"/>
              </a:rPr>
              <a:t>r</a:t>
            </a:r>
            <a:r>
              <a:rPr lang="en-US" sz="3405" spc="425">
                <a:solidFill>
                  <a:srgbClr val="000000"/>
                </a:solidFill>
                <a:latin typeface="Faustina"/>
                <a:ea typeface="Faustina"/>
                <a:cs typeface="Faustina"/>
                <a:sym typeface="Faustina"/>
              </a:rPr>
              <a:t>a</a:t>
            </a:r>
            <a:r>
              <a:rPr lang="en-US" sz="3405" spc="425">
                <a:solidFill>
                  <a:srgbClr val="000000"/>
                </a:solidFill>
                <a:latin typeface="Faustina"/>
                <a:ea typeface="Faustina"/>
                <a:cs typeface="Faustina"/>
                <a:sym typeface="Faustina"/>
              </a:rPr>
              <a:t>l</a:t>
            </a:r>
            <a:r>
              <a:rPr lang="en-US" sz="3405" spc="425">
                <a:solidFill>
                  <a:srgbClr val="000000"/>
                </a:solidFill>
                <a:latin typeface="Faustina"/>
                <a:ea typeface="Faustina"/>
                <a:cs typeface="Faustina"/>
                <a:sym typeface="Faustina"/>
              </a:rPr>
              <a:t> </a:t>
            </a:r>
            <a:r>
              <a:rPr lang="en-US" sz="3405" spc="425">
                <a:solidFill>
                  <a:srgbClr val="000000"/>
                </a:solidFill>
                <a:latin typeface="Faustina"/>
                <a:ea typeface="Faustina"/>
                <a:cs typeface="Faustina"/>
                <a:sym typeface="Faustina"/>
              </a:rPr>
              <a:t>ne</a:t>
            </a:r>
            <a:r>
              <a:rPr lang="en-US" sz="3405" spc="425">
                <a:solidFill>
                  <a:srgbClr val="000000"/>
                </a:solidFill>
                <a:latin typeface="Faustina"/>
                <a:ea typeface="Faustina"/>
                <a:cs typeface="Faustina"/>
                <a:sym typeface="Faustina"/>
              </a:rPr>
              <a:t>t</a:t>
            </a:r>
            <a:r>
              <a:rPr lang="en-US" sz="3405" spc="425">
                <a:solidFill>
                  <a:srgbClr val="000000"/>
                </a:solidFill>
                <a:latin typeface="Faustina"/>
                <a:ea typeface="Faustina"/>
                <a:cs typeface="Faustina"/>
                <a:sym typeface="Faustina"/>
              </a:rPr>
              <a:t>wo</a:t>
            </a:r>
            <a:r>
              <a:rPr lang="en-US" sz="3405" spc="425">
                <a:solidFill>
                  <a:srgbClr val="000000"/>
                </a:solidFill>
                <a:latin typeface="Faustina"/>
                <a:ea typeface="Faustina"/>
                <a:cs typeface="Faustina"/>
                <a:sym typeface="Faustina"/>
              </a:rPr>
              <a:t>r</a:t>
            </a:r>
            <a:r>
              <a:rPr lang="en-US" sz="3405" spc="425">
                <a:solidFill>
                  <a:srgbClr val="000000"/>
                </a:solidFill>
                <a:latin typeface="Faustina"/>
                <a:ea typeface="Faustina"/>
                <a:cs typeface="Faustina"/>
                <a:sym typeface="Faustina"/>
              </a:rPr>
              <a:t>k đơ</a:t>
            </a:r>
            <a:r>
              <a:rPr lang="en-US" sz="3405" spc="425">
                <a:solidFill>
                  <a:srgbClr val="000000"/>
                </a:solidFill>
                <a:latin typeface="Faustina"/>
                <a:ea typeface="Faustina"/>
                <a:cs typeface="Faustina"/>
                <a:sym typeface="Faustina"/>
              </a:rPr>
              <a:t>n</a:t>
            </a:r>
            <a:r>
              <a:rPr lang="en-US" sz="3405" spc="425">
                <a:solidFill>
                  <a:srgbClr val="000000"/>
                </a:solidFill>
                <a:latin typeface="Faustina"/>
                <a:ea typeface="Faustina"/>
                <a:cs typeface="Faustina"/>
                <a:sym typeface="Faustina"/>
              </a:rPr>
              <a:t> </a:t>
            </a:r>
            <a:r>
              <a:rPr lang="en-US" sz="3405" spc="425">
                <a:solidFill>
                  <a:srgbClr val="000000"/>
                </a:solidFill>
                <a:latin typeface="Faustina"/>
                <a:ea typeface="Faustina"/>
                <a:cs typeface="Faustina"/>
                <a:sym typeface="Faustina"/>
              </a:rPr>
              <a:t>g</a:t>
            </a:r>
            <a:r>
              <a:rPr lang="en-US" sz="3405" spc="425">
                <a:solidFill>
                  <a:srgbClr val="000000"/>
                </a:solidFill>
                <a:latin typeface="Faustina"/>
                <a:ea typeface="Faustina"/>
                <a:cs typeface="Faustina"/>
                <a:sym typeface="Faustina"/>
              </a:rPr>
              <a:t>iản</a:t>
            </a:r>
            <a:r>
              <a:rPr lang="en-US" sz="3405" spc="425">
                <a:solidFill>
                  <a:srgbClr val="000000"/>
                </a:solidFill>
                <a:latin typeface="Faustina"/>
                <a:ea typeface="Faustina"/>
                <a:cs typeface="Faustina"/>
                <a:sym typeface="Faustina"/>
              </a:rPr>
              <a:t> nhất</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Toán học của mô hình “cơ bản” chính là nền tảng của deep learning</a:t>
            </a:r>
          </a:p>
          <a:p>
            <a:pPr algn="l">
              <a:lnSpc>
                <a:spcPts val="4767"/>
              </a:lnSpc>
              <a:spcBef>
                <a:spcPct val="0"/>
              </a:spcBef>
            </a:pP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6557428" y="5548541"/>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827674" y="756169"/>
            <a:ext cx="13803954" cy="3243028"/>
          </a:xfrm>
          <a:prstGeom prst="rect">
            <a:avLst/>
          </a:prstGeom>
        </p:spPr>
        <p:txBody>
          <a:bodyPr anchor="t" rtlCol="false" tIns="0" lIns="0" bIns="0" rIns="0">
            <a:spAutoFit/>
          </a:bodyPr>
          <a:lstStyle/>
          <a:p>
            <a:pPr algn="l">
              <a:lnSpc>
                <a:spcPts val="8382"/>
              </a:lnSpc>
            </a:pPr>
            <a:r>
              <a:rPr lang="en-US" b="true" sz="8731" spc="-445">
                <a:solidFill>
                  <a:srgbClr val="FFFFFF"/>
                </a:solidFill>
                <a:latin typeface="Noto Sans Bold"/>
                <a:ea typeface="Noto Sans Bold"/>
                <a:cs typeface="Noto Sans Bold"/>
                <a:sym typeface="Noto Sans Bold"/>
              </a:rPr>
              <a:t>Triển khai Demo trự</a:t>
            </a:r>
            <a:r>
              <a:rPr lang="en-US" b="true" sz="8731" spc="-445" strike="noStrike" u="none">
                <a:solidFill>
                  <a:srgbClr val="FFFFFF"/>
                </a:solidFill>
                <a:latin typeface="Noto Sans Bold"/>
                <a:ea typeface="Noto Sans Bold"/>
                <a:cs typeface="Noto Sans Bold"/>
                <a:sym typeface="Noto Sans Bold"/>
              </a:rPr>
              <a:t>c tuyến</a:t>
            </a:r>
          </a:p>
          <a:p>
            <a:pPr algn="ctr">
              <a:lnSpc>
                <a:spcPts val="8382"/>
              </a:lnSpc>
            </a:pPr>
          </a:p>
        </p:txBody>
      </p:sp>
      <p:grpSp>
        <p:nvGrpSpPr>
          <p:cNvPr name="Group 12" id="12"/>
          <p:cNvGrpSpPr/>
          <p:nvPr/>
        </p:nvGrpSpPr>
        <p:grpSpPr>
          <a:xfrm rot="0">
            <a:off x="827674" y="3226819"/>
            <a:ext cx="12857039" cy="6748785"/>
            <a:chOff x="0" y="0"/>
            <a:chExt cx="3386216" cy="1777458"/>
          </a:xfrm>
        </p:grpSpPr>
        <p:sp>
          <p:nvSpPr>
            <p:cNvPr name="Freeform 13" id="13"/>
            <p:cNvSpPr/>
            <p:nvPr/>
          </p:nvSpPr>
          <p:spPr>
            <a:xfrm flipH="false" flipV="false" rot="0">
              <a:off x="0" y="0"/>
              <a:ext cx="3386216" cy="1777458"/>
            </a:xfrm>
            <a:custGeom>
              <a:avLst/>
              <a:gdLst/>
              <a:ahLst/>
              <a:cxnLst/>
              <a:rect r="r" b="b" t="t" l="l"/>
              <a:pathLst>
                <a:path h="1777458" w="3386216">
                  <a:moveTo>
                    <a:pt x="30710" y="0"/>
                  </a:moveTo>
                  <a:lnTo>
                    <a:pt x="3355506" y="0"/>
                  </a:lnTo>
                  <a:cubicBezTo>
                    <a:pt x="3363651" y="0"/>
                    <a:pt x="3371462" y="3235"/>
                    <a:pt x="3377221" y="8995"/>
                  </a:cubicBezTo>
                  <a:cubicBezTo>
                    <a:pt x="3382981" y="14754"/>
                    <a:pt x="3386216" y="22565"/>
                    <a:pt x="3386216" y="30710"/>
                  </a:cubicBezTo>
                  <a:lnTo>
                    <a:pt x="3386216" y="1746748"/>
                  </a:lnTo>
                  <a:cubicBezTo>
                    <a:pt x="3386216" y="1754893"/>
                    <a:pt x="3382981" y="1762704"/>
                    <a:pt x="3377221" y="1768463"/>
                  </a:cubicBezTo>
                  <a:cubicBezTo>
                    <a:pt x="3371462" y="1774223"/>
                    <a:pt x="3363651" y="1777458"/>
                    <a:pt x="3355506" y="1777458"/>
                  </a:cubicBezTo>
                  <a:lnTo>
                    <a:pt x="30710" y="1777458"/>
                  </a:lnTo>
                  <a:cubicBezTo>
                    <a:pt x="22565" y="1777458"/>
                    <a:pt x="14754" y="1774223"/>
                    <a:pt x="8995" y="1768463"/>
                  </a:cubicBezTo>
                  <a:cubicBezTo>
                    <a:pt x="3235" y="1762704"/>
                    <a:pt x="0" y="1754893"/>
                    <a:pt x="0" y="1746748"/>
                  </a:cubicBezTo>
                  <a:lnTo>
                    <a:pt x="0" y="30710"/>
                  </a:lnTo>
                  <a:cubicBezTo>
                    <a:pt x="0" y="22565"/>
                    <a:pt x="3235" y="14754"/>
                    <a:pt x="8995" y="8995"/>
                  </a:cubicBezTo>
                  <a:cubicBezTo>
                    <a:pt x="14754" y="3235"/>
                    <a:pt x="22565" y="0"/>
                    <a:pt x="30710" y="0"/>
                  </a:cubicBezTo>
                  <a:close/>
                </a:path>
              </a:pathLst>
            </a:custGeom>
            <a:solidFill>
              <a:srgbClr val="FFFFFF"/>
            </a:solidFill>
          </p:spPr>
        </p:sp>
        <p:sp>
          <p:nvSpPr>
            <p:cNvPr name="TextBox 14" id="14"/>
            <p:cNvSpPr txBox="true"/>
            <p:nvPr/>
          </p:nvSpPr>
          <p:spPr>
            <a:xfrm>
              <a:off x="0" y="-38100"/>
              <a:ext cx="3386216" cy="1815558"/>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111098" y="3705999"/>
            <a:ext cx="12290192" cy="6581001"/>
          </a:xfrm>
          <a:prstGeom prst="rect">
            <a:avLst/>
          </a:prstGeom>
        </p:spPr>
        <p:txBody>
          <a:bodyPr anchor="t" rtlCol="false" tIns="0" lIns="0" bIns="0" rIns="0">
            <a:spAutoFit/>
          </a:bodyPr>
          <a:lstStyle/>
          <a:p>
            <a:pPr algn="l">
              <a:lnSpc>
                <a:spcPts val="4767"/>
              </a:lnSpc>
              <a:spcBef>
                <a:spcPct val="0"/>
              </a:spcBef>
            </a:pPr>
            <a:r>
              <a:rPr lang="en-US" sz="3405" spc="425">
                <a:solidFill>
                  <a:srgbClr val="000000"/>
                </a:solidFill>
                <a:latin typeface="Faustina"/>
                <a:ea typeface="Faustina"/>
                <a:cs typeface="Faustina"/>
                <a:sym typeface="Faustina"/>
              </a:rPr>
              <a:t>Để hoàn thiện pr</a:t>
            </a:r>
            <a:r>
              <a:rPr lang="en-US" sz="3405" spc="425">
                <a:solidFill>
                  <a:srgbClr val="000000"/>
                </a:solidFill>
                <a:latin typeface="Faustina"/>
                <a:ea typeface="Faustina"/>
                <a:cs typeface="Faustina"/>
                <a:sym typeface="Faustina"/>
              </a:rPr>
              <a:t>oject, mô hình được</a:t>
            </a:r>
            <a:r>
              <a:rPr lang="en-US" sz="3405" spc="425">
                <a:solidFill>
                  <a:srgbClr val="000000"/>
                </a:solidFill>
                <a:latin typeface="Faustina"/>
                <a:ea typeface="Faustina"/>
                <a:cs typeface="Faustina"/>
                <a:sym typeface="Faustina"/>
              </a:rPr>
              <a:t> triển khai dưới dạng</a:t>
            </a:r>
            <a:r>
              <a:rPr lang="en-US" b="true" sz="3405" spc="425">
                <a:solidFill>
                  <a:srgbClr val="000000"/>
                </a:solidFill>
                <a:latin typeface="Faustina Bold"/>
                <a:ea typeface="Faustina Bold"/>
                <a:cs typeface="Faustina Bold"/>
                <a:sym typeface="Faustina Bold"/>
              </a:rPr>
              <a:t> Gradio Web App</a:t>
            </a:r>
            <a:r>
              <a:rPr lang="en-US" sz="3405" spc="425">
                <a:solidFill>
                  <a:srgbClr val="000000"/>
                </a:solidFill>
                <a:latin typeface="Faustina"/>
                <a:ea typeface="Faustina"/>
                <a:cs typeface="Faustina"/>
                <a:sym typeface="Faustina"/>
              </a:rPr>
              <a:t> và host trên </a:t>
            </a:r>
            <a:r>
              <a:rPr lang="en-US" b="true" sz="3405" spc="425">
                <a:solidFill>
                  <a:srgbClr val="000000"/>
                </a:solidFill>
                <a:latin typeface="Faustina Bold"/>
                <a:ea typeface="Faustina Bold"/>
                <a:cs typeface="Faustina Bold"/>
                <a:sym typeface="Faustina Bold"/>
              </a:rPr>
              <a:t>Hugging Face Spaces</a:t>
            </a:r>
            <a:r>
              <a:rPr lang="en-US" sz="3405" spc="425">
                <a:solidFill>
                  <a:srgbClr val="000000"/>
                </a:solidFill>
                <a:latin typeface="Faustina"/>
                <a:ea typeface="Faustina"/>
                <a:cs typeface="Faustina"/>
                <a:sym typeface="Faustina"/>
              </a:rPr>
              <a:t>, cho phép:</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Nhập dữ liệu trực tiếp</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Qu</a:t>
            </a:r>
            <a:r>
              <a:rPr lang="en-US" sz="3405" spc="425">
                <a:solidFill>
                  <a:srgbClr val="000000"/>
                </a:solidFill>
                <a:latin typeface="Faustina"/>
                <a:ea typeface="Faustina"/>
                <a:cs typeface="Faustina"/>
                <a:sym typeface="Faustina"/>
              </a:rPr>
              <a:t>an sát xác suất và nhãn dự đoán</a:t>
            </a:r>
          </a:p>
          <a:p>
            <a:pPr algn="l" marL="735243" indent="-367622" lvl="1">
              <a:lnSpc>
                <a:spcPts val="4767"/>
              </a:lnSpc>
              <a:spcBef>
                <a:spcPct val="0"/>
              </a:spcBef>
              <a:buFont typeface="Arial"/>
              <a:buChar char="•"/>
            </a:pPr>
            <a:r>
              <a:rPr lang="en-US" sz="3405" spc="425">
                <a:solidFill>
                  <a:srgbClr val="000000"/>
                </a:solidFill>
                <a:latin typeface="Faustina"/>
                <a:ea typeface="Faustina"/>
                <a:cs typeface="Faustina"/>
                <a:sym typeface="Faustina"/>
              </a:rPr>
              <a:t>Trải nghiệm mô hình theo cách trực quan</a:t>
            </a:r>
          </a:p>
          <a:p>
            <a:pPr algn="l">
              <a:lnSpc>
                <a:spcPts val="4767"/>
              </a:lnSpc>
              <a:spcBef>
                <a:spcPct val="0"/>
              </a:spcBef>
            </a:pPr>
            <a:r>
              <a:rPr lang="en-US" sz="3405" spc="425">
                <a:solidFill>
                  <a:srgbClr val="000000"/>
                </a:solidFill>
                <a:latin typeface="Faustina"/>
                <a:ea typeface="Faustina"/>
                <a:cs typeface="Faustina"/>
                <a:sym typeface="Faustina"/>
              </a:rPr>
              <a:t>Đâ</a:t>
            </a:r>
            <a:r>
              <a:rPr lang="en-US" sz="3405" spc="425">
                <a:solidFill>
                  <a:srgbClr val="000000"/>
                </a:solidFill>
                <a:latin typeface="Faustina"/>
                <a:ea typeface="Faustina"/>
                <a:cs typeface="Faustina"/>
                <a:sym typeface="Faustina"/>
              </a:rPr>
              <a:t>y là bước quan trọng </a:t>
            </a:r>
            <a:r>
              <a:rPr lang="en-US" sz="3405" spc="425">
                <a:solidFill>
                  <a:srgbClr val="000000"/>
                </a:solidFill>
                <a:latin typeface="Faustina"/>
                <a:ea typeface="Faustina"/>
                <a:cs typeface="Faustina"/>
                <a:sym typeface="Faustina"/>
              </a:rPr>
              <a:t>giúp</a:t>
            </a:r>
            <a:r>
              <a:rPr lang="en-US" sz="3405" spc="425">
                <a:solidFill>
                  <a:srgbClr val="000000"/>
                </a:solidFill>
                <a:latin typeface="Faustina"/>
                <a:ea typeface="Faustina"/>
                <a:cs typeface="Faustina"/>
                <a:sym typeface="Faustina"/>
              </a:rPr>
              <a:t> projec</a:t>
            </a:r>
            <a:r>
              <a:rPr lang="en-US" sz="3405" spc="425">
                <a:solidFill>
                  <a:srgbClr val="000000"/>
                </a:solidFill>
                <a:latin typeface="Faustina"/>
                <a:ea typeface="Faustina"/>
                <a:cs typeface="Faustina"/>
                <a:sym typeface="Faustina"/>
              </a:rPr>
              <a:t>t </a:t>
            </a:r>
            <a:r>
              <a:rPr lang="en-US" sz="3405" spc="425">
                <a:solidFill>
                  <a:srgbClr val="000000"/>
                </a:solidFill>
                <a:latin typeface="Faustina"/>
                <a:ea typeface="Faustina"/>
                <a:cs typeface="Faustina"/>
                <a:sym typeface="Faustina"/>
              </a:rPr>
              <a:t>không chỉ đú</a:t>
            </a:r>
            <a:r>
              <a:rPr lang="en-US" sz="3405" spc="425">
                <a:solidFill>
                  <a:srgbClr val="000000"/>
                </a:solidFill>
                <a:latin typeface="Faustina"/>
                <a:ea typeface="Faustina"/>
                <a:cs typeface="Faustina"/>
                <a:sym typeface="Faustina"/>
              </a:rPr>
              <a:t>ng về mặt</a:t>
            </a:r>
            <a:r>
              <a:rPr lang="en-US" sz="3405" spc="425">
                <a:solidFill>
                  <a:srgbClr val="000000"/>
                </a:solidFill>
                <a:latin typeface="Faustina"/>
                <a:ea typeface="Faustina"/>
                <a:cs typeface="Faustina"/>
                <a:sym typeface="Faustina"/>
              </a:rPr>
              <a:t> học thuật, mà còn hoàn chỉnh về mặt ứng dụng và trình diễn.</a:t>
            </a:r>
          </a:p>
          <a:p>
            <a:pPr algn="l">
              <a:lnSpc>
                <a:spcPts val="4767"/>
              </a:lnSpc>
              <a:spcBef>
                <a:spcPct val="0"/>
              </a:spcBef>
            </a:pPr>
          </a:p>
          <a:p>
            <a:pPr algn="l">
              <a:lnSpc>
                <a:spcPts val="4767"/>
              </a:lnSpc>
              <a:spcBef>
                <a:spcPct val="0"/>
              </a:spcBef>
            </a:pP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6557428" y="5548541"/>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2449004" y="1042765"/>
            <a:ext cx="13803954" cy="2184054"/>
          </a:xfrm>
          <a:prstGeom prst="rect">
            <a:avLst/>
          </a:prstGeom>
        </p:spPr>
        <p:txBody>
          <a:bodyPr anchor="t" rtlCol="false" tIns="0" lIns="0" bIns="0" rIns="0">
            <a:spAutoFit/>
          </a:bodyPr>
          <a:lstStyle/>
          <a:p>
            <a:pPr algn="l">
              <a:lnSpc>
                <a:spcPts val="8382"/>
              </a:lnSpc>
            </a:pPr>
            <a:r>
              <a:rPr lang="en-US" b="true" sz="8731" spc="-445">
                <a:solidFill>
                  <a:srgbClr val="FFFFFF"/>
                </a:solidFill>
                <a:latin typeface="Noto Sans Bold"/>
                <a:ea typeface="Noto Sans Bold"/>
                <a:cs typeface="Noto Sans Bold"/>
                <a:sym typeface="Noto Sans Bold"/>
              </a:rPr>
              <a:t>Hướng phát triển</a:t>
            </a:r>
            <a:r>
              <a:rPr lang="en-US" b="true" sz="8731" spc="-445" strike="noStrike" u="none">
                <a:solidFill>
                  <a:srgbClr val="FFFFFF"/>
                </a:solidFill>
                <a:latin typeface="Noto Sans Bold"/>
                <a:ea typeface="Noto Sans Bold"/>
                <a:cs typeface="Noto Sans Bold"/>
                <a:sym typeface="Noto Sans Bold"/>
              </a:rPr>
              <a:t> tiếp theo</a:t>
            </a:r>
          </a:p>
          <a:p>
            <a:pPr algn="ctr">
              <a:lnSpc>
                <a:spcPts val="8382"/>
              </a:lnSpc>
            </a:pPr>
          </a:p>
        </p:txBody>
      </p:sp>
      <p:grpSp>
        <p:nvGrpSpPr>
          <p:cNvPr name="Group 12" id="12"/>
          <p:cNvGrpSpPr/>
          <p:nvPr/>
        </p:nvGrpSpPr>
        <p:grpSpPr>
          <a:xfrm rot="0">
            <a:off x="2715481" y="2755332"/>
            <a:ext cx="12857039" cy="6748785"/>
            <a:chOff x="0" y="0"/>
            <a:chExt cx="3386216" cy="1777458"/>
          </a:xfrm>
        </p:grpSpPr>
        <p:sp>
          <p:nvSpPr>
            <p:cNvPr name="Freeform 13" id="13"/>
            <p:cNvSpPr/>
            <p:nvPr/>
          </p:nvSpPr>
          <p:spPr>
            <a:xfrm flipH="false" flipV="false" rot="0">
              <a:off x="0" y="0"/>
              <a:ext cx="3386216" cy="1777458"/>
            </a:xfrm>
            <a:custGeom>
              <a:avLst/>
              <a:gdLst/>
              <a:ahLst/>
              <a:cxnLst/>
              <a:rect r="r" b="b" t="t" l="l"/>
              <a:pathLst>
                <a:path h="1777458" w="3386216">
                  <a:moveTo>
                    <a:pt x="30710" y="0"/>
                  </a:moveTo>
                  <a:lnTo>
                    <a:pt x="3355506" y="0"/>
                  </a:lnTo>
                  <a:cubicBezTo>
                    <a:pt x="3363651" y="0"/>
                    <a:pt x="3371462" y="3235"/>
                    <a:pt x="3377221" y="8995"/>
                  </a:cubicBezTo>
                  <a:cubicBezTo>
                    <a:pt x="3382981" y="14754"/>
                    <a:pt x="3386216" y="22565"/>
                    <a:pt x="3386216" y="30710"/>
                  </a:cubicBezTo>
                  <a:lnTo>
                    <a:pt x="3386216" y="1746748"/>
                  </a:lnTo>
                  <a:cubicBezTo>
                    <a:pt x="3386216" y="1754893"/>
                    <a:pt x="3382981" y="1762704"/>
                    <a:pt x="3377221" y="1768463"/>
                  </a:cubicBezTo>
                  <a:cubicBezTo>
                    <a:pt x="3371462" y="1774223"/>
                    <a:pt x="3363651" y="1777458"/>
                    <a:pt x="3355506" y="1777458"/>
                  </a:cubicBezTo>
                  <a:lnTo>
                    <a:pt x="30710" y="1777458"/>
                  </a:lnTo>
                  <a:cubicBezTo>
                    <a:pt x="22565" y="1777458"/>
                    <a:pt x="14754" y="1774223"/>
                    <a:pt x="8995" y="1768463"/>
                  </a:cubicBezTo>
                  <a:cubicBezTo>
                    <a:pt x="3235" y="1762704"/>
                    <a:pt x="0" y="1754893"/>
                    <a:pt x="0" y="1746748"/>
                  </a:cubicBezTo>
                  <a:lnTo>
                    <a:pt x="0" y="30710"/>
                  </a:lnTo>
                  <a:cubicBezTo>
                    <a:pt x="0" y="22565"/>
                    <a:pt x="3235" y="14754"/>
                    <a:pt x="8995" y="8995"/>
                  </a:cubicBezTo>
                  <a:cubicBezTo>
                    <a:pt x="14754" y="3235"/>
                    <a:pt x="22565" y="0"/>
                    <a:pt x="30710" y="0"/>
                  </a:cubicBezTo>
                  <a:close/>
                </a:path>
              </a:pathLst>
            </a:custGeom>
            <a:solidFill>
              <a:srgbClr val="FFFFFF"/>
            </a:solidFill>
          </p:spPr>
        </p:sp>
        <p:sp>
          <p:nvSpPr>
            <p:cNvPr name="TextBox 14" id="14"/>
            <p:cNvSpPr txBox="true"/>
            <p:nvPr/>
          </p:nvSpPr>
          <p:spPr>
            <a:xfrm>
              <a:off x="0" y="-38100"/>
              <a:ext cx="3386216" cy="1815558"/>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3167663" y="3311046"/>
            <a:ext cx="12366635" cy="5717645"/>
          </a:xfrm>
          <a:prstGeom prst="rect">
            <a:avLst/>
          </a:prstGeom>
        </p:spPr>
        <p:txBody>
          <a:bodyPr anchor="t" rtlCol="false" tIns="0" lIns="0" bIns="0" rIns="0">
            <a:spAutoFit/>
          </a:bodyPr>
          <a:lstStyle/>
          <a:p>
            <a:pPr algn="l">
              <a:lnSpc>
                <a:spcPts val="5061"/>
              </a:lnSpc>
              <a:spcBef>
                <a:spcPct val="0"/>
              </a:spcBef>
            </a:pPr>
            <a:r>
              <a:rPr lang="en-US" sz="3615" spc="451">
                <a:solidFill>
                  <a:srgbClr val="000000"/>
                </a:solidFill>
                <a:latin typeface="Faustina"/>
                <a:ea typeface="Faustina"/>
                <a:cs typeface="Faustina"/>
                <a:sym typeface="Faustina"/>
              </a:rPr>
              <a:t>Các hướng mở rộng tự nhiên từ pr</a:t>
            </a:r>
            <a:r>
              <a:rPr lang="en-US" sz="3615" spc="451">
                <a:solidFill>
                  <a:srgbClr val="000000"/>
                </a:solidFill>
                <a:latin typeface="Faustina"/>
                <a:ea typeface="Faustina"/>
                <a:cs typeface="Faustina"/>
                <a:sym typeface="Faustina"/>
              </a:rPr>
              <a:t>oject này:</a:t>
            </a:r>
          </a:p>
          <a:p>
            <a:pPr algn="l" marL="780522" indent="-390261" lvl="1">
              <a:lnSpc>
                <a:spcPts val="5061"/>
              </a:lnSpc>
              <a:spcBef>
                <a:spcPct val="0"/>
              </a:spcBef>
              <a:buFont typeface="Arial"/>
              <a:buChar char="•"/>
            </a:pPr>
            <a:r>
              <a:rPr lang="en-US" sz="3615" spc="451">
                <a:solidFill>
                  <a:srgbClr val="000000"/>
                </a:solidFill>
                <a:latin typeface="Faustina"/>
                <a:ea typeface="Faustina"/>
                <a:cs typeface="Faustina"/>
                <a:sym typeface="Faustina"/>
              </a:rPr>
              <a:t>Softmax class</a:t>
            </a:r>
            <a:r>
              <a:rPr lang="en-US" sz="3615" spc="451">
                <a:solidFill>
                  <a:srgbClr val="000000"/>
                </a:solidFill>
                <a:latin typeface="Faustina"/>
                <a:ea typeface="Faustina"/>
                <a:cs typeface="Faustina"/>
                <a:sym typeface="Faustina"/>
              </a:rPr>
              <a:t>ifier (đa lớp)</a:t>
            </a:r>
          </a:p>
          <a:p>
            <a:pPr algn="l" marL="780522" indent="-390261" lvl="1">
              <a:lnSpc>
                <a:spcPts val="5061"/>
              </a:lnSpc>
              <a:spcBef>
                <a:spcPct val="0"/>
              </a:spcBef>
              <a:buFont typeface="Arial"/>
              <a:buChar char="•"/>
            </a:pPr>
            <a:r>
              <a:rPr lang="en-US" sz="3615" spc="451">
                <a:solidFill>
                  <a:srgbClr val="000000"/>
                </a:solidFill>
                <a:latin typeface="Faustina"/>
                <a:ea typeface="Faustina"/>
                <a:cs typeface="Faustina"/>
                <a:sym typeface="Faustina"/>
              </a:rPr>
              <a:t>Suy diễn</a:t>
            </a:r>
            <a:r>
              <a:rPr lang="en-US" sz="3615" spc="451">
                <a:solidFill>
                  <a:srgbClr val="000000"/>
                </a:solidFill>
                <a:latin typeface="Faustina"/>
                <a:ea typeface="Faustina"/>
                <a:cs typeface="Faustina"/>
                <a:sym typeface="Faustina"/>
              </a:rPr>
              <a:t> </a:t>
            </a:r>
            <a:r>
              <a:rPr lang="en-US" sz="3615" spc="451">
                <a:solidFill>
                  <a:srgbClr val="000000"/>
                </a:solidFill>
                <a:latin typeface="Faustina"/>
                <a:ea typeface="Faustina"/>
                <a:cs typeface="Faustina"/>
                <a:sym typeface="Faustina"/>
              </a:rPr>
              <a:t>g</a:t>
            </a:r>
            <a:r>
              <a:rPr lang="en-US" sz="3615" spc="451">
                <a:solidFill>
                  <a:srgbClr val="000000"/>
                </a:solidFill>
                <a:latin typeface="Faustina"/>
                <a:ea typeface="Faustina"/>
                <a:cs typeface="Faustina"/>
                <a:sym typeface="Faustina"/>
              </a:rPr>
              <a:t>radie</a:t>
            </a:r>
            <a:r>
              <a:rPr lang="en-US" sz="3615" spc="451">
                <a:solidFill>
                  <a:srgbClr val="000000"/>
                </a:solidFill>
                <a:latin typeface="Faustina"/>
                <a:ea typeface="Faustina"/>
                <a:cs typeface="Faustina"/>
                <a:sym typeface="Faustina"/>
              </a:rPr>
              <a:t>nt bằn</a:t>
            </a:r>
            <a:r>
              <a:rPr lang="en-US" sz="3615" spc="451">
                <a:solidFill>
                  <a:srgbClr val="000000"/>
                </a:solidFill>
                <a:latin typeface="Faustina"/>
                <a:ea typeface="Faustina"/>
                <a:cs typeface="Faustina"/>
                <a:sym typeface="Faustina"/>
              </a:rPr>
              <a:t>g</a:t>
            </a:r>
            <a:r>
              <a:rPr lang="en-US" sz="3615" spc="451">
                <a:solidFill>
                  <a:srgbClr val="000000"/>
                </a:solidFill>
                <a:latin typeface="Faustina"/>
                <a:ea typeface="Faustina"/>
                <a:cs typeface="Faustina"/>
                <a:sym typeface="Faustina"/>
              </a:rPr>
              <a:t> d</a:t>
            </a:r>
            <a:r>
              <a:rPr lang="en-US" sz="3615" spc="451">
                <a:solidFill>
                  <a:srgbClr val="000000"/>
                </a:solidFill>
                <a:latin typeface="Faustina"/>
                <a:ea typeface="Faustina"/>
                <a:cs typeface="Faustina"/>
                <a:sym typeface="Faustina"/>
              </a:rPr>
              <a:t>i</a:t>
            </a:r>
            <a:r>
              <a:rPr lang="en-US" sz="3615" spc="451">
                <a:solidFill>
                  <a:srgbClr val="000000"/>
                </a:solidFill>
                <a:latin typeface="Faustina"/>
                <a:ea typeface="Faustina"/>
                <a:cs typeface="Faustina"/>
                <a:sym typeface="Faustina"/>
              </a:rPr>
              <a:t>ffere</a:t>
            </a:r>
            <a:r>
              <a:rPr lang="en-US" sz="3615" spc="451">
                <a:solidFill>
                  <a:srgbClr val="000000"/>
                </a:solidFill>
                <a:latin typeface="Faustina"/>
                <a:ea typeface="Faustina"/>
                <a:cs typeface="Faustina"/>
                <a:sym typeface="Faustina"/>
              </a:rPr>
              <a:t>n</a:t>
            </a:r>
            <a:r>
              <a:rPr lang="en-US" sz="3615" spc="451">
                <a:solidFill>
                  <a:srgbClr val="000000"/>
                </a:solidFill>
                <a:latin typeface="Faustina"/>
                <a:ea typeface="Faustina"/>
                <a:cs typeface="Faustina"/>
                <a:sym typeface="Faustina"/>
              </a:rPr>
              <a:t>ti</a:t>
            </a:r>
            <a:r>
              <a:rPr lang="en-US" sz="3615" spc="451">
                <a:solidFill>
                  <a:srgbClr val="000000"/>
                </a:solidFill>
                <a:latin typeface="Faustina"/>
                <a:ea typeface="Faustina"/>
                <a:cs typeface="Faustina"/>
                <a:sym typeface="Faustina"/>
              </a:rPr>
              <a:t>a</a:t>
            </a:r>
            <a:r>
              <a:rPr lang="en-US" sz="3615" spc="451">
                <a:solidFill>
                  <a:srgbClr val="000000"/>
                </a:solidFill>
                <a:latin typeface="Faustina"/>
                <a:ea typeface="Faustina"/>
                <a:cs typeface="Faustina"/>
                <a:sym typeface="Faustina"/>
              </a:rPr>
              <a:t>l</a:t>
            </a:r>
            <a:r>
              <a:rPr lang="en-US" sz="3615" spc="451">
                <a:solidFill>
                  <a:srgbClr val="000000"/>
                </a:solidFill>
                <a:latin typeface="Faustina"/>
                <a:ea typeface="Faustina"/>
                <a:cs typeface="Faustina"/>
                <a:sym typeface="Faustina"/>
              </a:rPr>
              <a:t> </a:t>
            </a:r>
            <a:r>
              <a:rPr lang="en-US" sz="3615" spc="451">
                <a:solidFill>
                  <a:srgbClr val="000000"/>
                </a:solidFill>
                <a:latin typeface="Faustina"/>
                <a:ea typeface="Faustina"/>
                <a:cs typeface="Faustina"/>
                <a:sym typeface="Faustina"/>
              </a:rPr>
              <a:t>/ tr</a:t>
            </a:r>
            <a:r>
              <a:rPr lang="en-US" sz="3615" spc="451">
                <a:solidFill>
                  <a:srgbClr val="000000"/>
                </a:solidFill>
                <a:latin typeface="Faustina"/>
                <a:ea typeface="Faustina"/>
                <a:cs typeface="Faustina"/>
                <a:sym typeface="Faustina"/>
              </a:rPr>
              <a:t>ace</a:t>
            </a:r>
            <a:r>
              <a:rPr lang="en-US" sz="3615" spc="451">
                <a:solidFill>
                  <a:srgbClr val="000000"/>
                </a:solidFill>
                <a:latin typeface="Faustina"/>
                <a:ea typeface="Faustina"/>
                <a:cs typeface="Faustina"/>
                <a:sym typeface="Faustina"/>
              </a:rPr>
              <a:t> trick</a:t>
            </a:r>
          </a:p>
          <a:p>
            <a:pPr algn="l" marL="780522" indent="-390261" lvl="1">
              <a:lnSpc>
                <a:spcPts val="5061"/>
              </a:lnSpc>
              <a:spcBef>
                <a:spcPct val="0"/>
              </a:spcBef>
              <a:buFont typeface="Arial"/>
              <a:buChar char="•"/>
            </a:pPr>
            <a:r>
              <a:rPr lang="en-US" sz="3615" spc="451">
                <a:solidFill>
                  <a:srgbClr val="000000"/>
                </a:solidFill>
                <a:latin typeface="Faustina"/>
                <a:ea typeface="Faustina"/>
                <a:cs typeface="Faustina"/>
                <a:sym typeface="Faustina"/>
              </a:rPr>
              <a:t>Kiểm tra gradient bằng numerical gradient checking</a:t>
            </a:r>
          </a:p>
          <a:p>
            <a:pPr algn="l" marL="780522" indent="-390261" lvl="1">
              <a:lnSpc>
                <a:spcPts val="5061"/>
              </a:lnSpc>
              <a:spcBef>
                <a:spcPct val="0"/>
              </a:spcBef>
              <a:buFont typeface="Arial"/>
              <a:buChar char="•"/>
            </a:pPr>
            <a:r>
              <a:rPr lang="en-US" sz="3615" spc="451">
                <a:solidFill>
                  <a:srgbClr val="000000"/>
                </a:solidFill>
                <a:latin typeface="Faustina"/>
                <a:ea typeface="Faustina"/>
                <a:cs typeface="Faustina"/>
                <a:sym typeface="Faustina"/>
              </a:rPr>
              <a:t>Thêm regularization (L2) và dẫn xuất </a:t>
            </a:r>
            <a:r>
              <a:rPr lang="en-US" sz="3615" spc="451">
                <a:solidFill>
                  <a:srgbClr val="000000"/>
                </a:solidFill>
                <a:latin typeface="Faustina"/>
                <a:ea typeface="Faustina"/>
                <a:cs typeface="Faustina"/>
                <a:sym typeface="Faustina"/>
              </a:rPr>
              <a:t>gradi</a:t>
            </a:r>
            <a:r>
              <a:rPr lang="en-US" sz="3615" spc="451">
                <a:solidFill>
                  <a:srgbClr val="000000"/>
                </a:solidFill>
                <a:latin typeface="Faustina"/>
                <a:ea typeface="Faustina"/>
                <a:cs typeface="Faustina"/>
                <a:sym typeface="Faustina"/>
              </a:rPr>
              <a:t>ent</a:t>
            </a:r>
          </a:p>
          <a:p>
            <a:pPr algn="l" marL="780522" indent="-390261" lvl="1">
              <a:lnSpc>
                <a:spcPts val="5061"/>
              </a:lnSpc>
              <a:spcBef>
                <a:spcPct val="0"/>
              </a:spcBef>
              <a:buFont typeface="Arial"/>
              <a:buChar char="•"/>
            </a:pPr>
            <a:r>
              <a:rPr lang="en-US" sz="3615" spc="451">
                <a:solidFill>
                  <a:srgbClr val="000000"/>
                </a:solidFill>
                <a:latin typeface="Faustina"/>
                <a:ea typeface="Faustina"/>
                <a:cs typeface="Faustina"/>
                <a:sym typeface="Faustina"/>
              </a:rPr>
              <a:t>Kế</a:t>
            </a:r>
            <a:r>
              <a:rPr lang="en-US" sz="3615" spc="451">
                <a:solidFill>
                  <a:srgbClr val="000000"/>
                </a:solidFill>
                <a:latin typeface="Faustina"/>
                <a:ea typeface="Faustina"/>
                <a:cs typeface="Faustina"/>
                <a:sym typeface="Faustina"/>
              </a:rPr>
              <a:t>t </a:t>
            </a:r>
            <a:r>
              <a:rPr lang="en-US" sz="3615" spc="451">
                <a:solidFill>
                  <a:srgbClr val="000000"/>
                </a:solidFill>
                <a:latin typeface="Faustina"/>
                <a:ea typeface="Faustina"/>
                <a:cs typeface="Faustina"/>
                <a:sym typeface="Faustina"/>
              </a:rPr>
              <a:t>nối với </a:t>
            </a:r>
            <a:r>
              <a:rPr lang="en-US" sz="3615" spc="451">
                <a:solidFill>
                  <a:srgbClr val="000000"/>
                </a:solidFill>
                <a:latin typeface="Faustina"/>
                <a:ea typeface="Faustina"/>
                <a:cs typeface="Faustina"/>
                <a:sym typeface="Faustina"/>
              </a:rPr>
              <a:t>ne</a:t>
            </a:r>
            <a:r>
              <a:rPr lang="en-US" sz="3615" spc="451">
                <a:solidFill>
                  <a:srgbClr val="000000"/>
                </a:solidFill>
                <a:latin typeface="Faustina"/>
                <a:ea typeface="Faustina"/>
                <a:cs typeface="Faustina"/>
                <a:sym typeface="Faustina"/>
              </a:rPr>
              <a:t>ural networks nhiều tầng</a:t>
            </a:r>
          </a:p>
          <a:p>
            <a:pPr algn="l">
              <a:lnSpc>
                <a:spcPts val="5061"/>
              </a:lnSpc>
              <a:spcBef>
                <a:spcPct val="0"/>
              </a:spcBef>
            </a:pP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444"/>
            </a:stretch>
          </a:blipFill>
        </p:spPr>
      </p:sp>
      <p:grpSp>
        <p:nvGrpSpPr>
          <p:cNvPr name="Group 3" id="3"/>
          <p:cNvGrpSpPr/>
          <p:nvPr/>
        </p:nvGrpSpPr>
        <p:grpSpPr>
          <a:xfrm rot="6241280">
            <a:off x="-3191326" y="4206128"/>
            <a:ext cx="12105853" cy="121058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grpSp>
        <p:nvGrpSpPr>
          <p:cNvPr name="Group 6" id="6"/>
          <p:cNvGrpSpPr/>
          <p:nvPr/>
        </p:nvGrpSpPr>
        <p:grpSpPr>
          <a:xfrm rot="-8761193">
            <a:off x="14415098" y="-3066592"/>
            <a:ext cx="5404915" cy="54049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88B">
                    <a:alpha val="100000"/>
                  </a:srgbClr>
                </a:gs>
                <a:gs pos="50000">
                  <a:srgbClr val="002E53">
                    <a:alpha val="100000"/>
                  </a:srgbClr>
                </a:gs>
                <a:gs pos="100000">
                  <a:srgbClr val="00264A">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80"/>
                </a:lnSpc>
              </a:pPr>
            </a:p>
          </p:txBody>
        </p:sp>
      </p:grpSp>
      <p:sp>
        <p:nvSpPr>
          <p:cNvPr name="Freeform 9" id="9"/>
          <p:cNvSpPr/>
          <p:nvPr/>
        </p:nvSpPr>
        <p:spPr>
          <a:xfrm flipH="false" flipV="false" rot="0">
            <a:off x="15634861" y="8467498"/>
            <a:ext cx="2965389" cy="2857557"/>
          </a:xfrm>
          <a:custGeom>
            <a:avLst/>
            <a:gdLst/>
            <a:ahLst/>
            <a:cxnLst/>
            <a:rect r="r" b="b" t="t" l="l"/>
            <a:pathLst>
              <a:path h="2857557" w="2965389">
                <a:moveTo>
                  <a:pt x="0" y="0"/>
                </a:moveTo>
                <a:lnTo>
                  <a:pt x="2965389" y="0"/>
                </a:lnTo>
                <a:lnTo>
                  <a:pt x="2965389" y="2857557"/>
                </a:lnTo>
                <a:lnTo>
                  <a:pt x="0" y="285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89774" y="-1428778"/>
            <a:ext cx="2965389" cy="2857557"/>
          </a:xfrm>
          <a:custGeom>
            <a:avLst/>
            <a:gdLst/>
            <a:ahLst/>
            <a:cxnLst/>
            <a:rect r="r" b="b" t="t" l="l"/>
            <a:pathLst>
              <a:path h="2857557" w="2965389">
                <a:moveTo>
                  <a:pt x="0" y="0"/>
                </a:moveTo>
                <a:lnTo>
                  <a:pt x="2965389" y="0"/>
                </a:lnTo>
                <a:lnTo>
                  <a:pt x="2965389" y="2857556"/>
                </a:lnTo>
                <a:lnTo>
                  <a:pt x="0" y="2857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732399" y="3502774"/>
            <a:ext cx="18606799" cy="5755526"/>
          </a:xfrm>
          <a:prstGeom prst="rect">
            <a:avLst/>
          </a:prstGeom>
        </p:spPr>
        <p:txBody>
          <a:bodyPr anchor="t" rtlCol="false" tIns="0" lIns="0" bIns="0" rIns="0">
            <a:spAutoFit/>
          </a:bodyPr>
          <a:lstStyle/>
          <a:p>
            <a:pPr algn="ctr" marL="0" indent="0" lvl="1">
              <a:lnSpc>
                <a:spcPts val="22012"/>
              </a:lnSpc>
              <a:spcBef>
                <a:spcPct val="0"/>
              </a:spcBef>
            </a:pPr>
            <a:r>
              <a:rPr lang="en-US" sz="22929" spc="-1169" strike="noStrike" u="none">
                <a:solidFill>
                  <a:srgbClr val="FFFFFF"/>
                </a:solidFill>
                <a:latin typeface="Dancing Script"/>
                <a:ea typeface="Dancing Script"/>
                <a:cs typeface="Dancing Script"/>
                <a:sym typeface="Dancing Script"/>
              </a:rPr>
              <a:t>Thank You</a:t>
            </a:r>
          </a:p>
          <a:p>
            <a:pPr algn="ctr" marL="0" indent="0" lvl="1">
              <a:lnSpc>
                <a:spcPts val="22012"/>
              </a:lnSpc>
              <a:spcBef>
                <a:spcPct val="0"/>
              </a:spcBef>
            </a:pP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DAHAFXqYebE</dc:identifier>
  <dcterms:modified xsi:type="dcterms:W3CDTF">2011-08-01T06:04:30Z</dcterms:modified>
  <cp:revision>1</cp:revision>
  <dc:title>nam</dc:title>
</cp:coreProperties>
</file>